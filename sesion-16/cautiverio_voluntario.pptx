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mobile_terracotta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7863840" y="45720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6002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spc="100" kern="0" dirty="0">
                <a:solidFill>
                  <a:srgbClr val="EDEA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CAUTIVERIO VOLUNTARIO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40080" y="23317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C47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diseña la libertad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40080" y="29718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una intervención digital de fricción y consciencia para recuperar la decisión sobre el uso del smartphone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3886200"/>
            <a:ext cx="2011680" cy="0"/>
          </a:xfrm>
          <a:prstGeom prst="line">
            <a:avLst/>
          </a:prstGeom>
          <a:noFill/>
          <a:ln w="19050">
            <a:solidFill>
              <a:srgbClr val="7A9E8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41148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D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Santiago Gaete Fernández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D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Industrial, noveno semestre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D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Profesores guía: Simón Gallardo, Sergio Majluf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brain_s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5029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A9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PARTIDA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1463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A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no es una falta de voluntad individual.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228600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47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un diseño que vulnera activamente la capacidad de decisión consciente del usuario.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40080" y="3383280"/>
            <a:ext cx="7863840" cy="1143000"/>
          </a:xfrm>
          <a:prstGeom prst="roundRect">
            <a:avLst>
              <a:gd name="adj" fmla="val 6400"/>
            </a:avLst>
          </a:prstGeom>
          <a:solidFill>
            <a:srgbClr val="1C1F24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352044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estrategia de autorregulación probada —bloqueo, apps de límite, mascotas virtuales— funcionó de forma temporal. La intención de reducir el uso nunca disminuyó; los mecanismos del diseño fueron lo bastante efectivos como para doblegar la voluntad.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48234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Cautiverio Voluntario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321040" y="48234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A9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DINÁMICAS DE USO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EA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origen del contenido como proxy de intención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749040" cy="3108960"/>
          </a:xfrm>
          <a:prstGeom prst="roundRect">
            <a:avLst>
              <a:gd name="adj" fmla="val 2941"/>
            </a:avLst>
          </a:prstGeom>
          <a:solidFill>
            <a:srgbClr val="1C1F24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pic>
        <p:nvPicPr>
          <p:cNvPr id="5" name="Image 0" descr="/home/claude/deck/assets/bullseye_terracot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288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828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7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dirigido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24231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entra con un propósito consciente: responder un mensaje, publicar, buscar algo específico. Define el estímulo sin mediación algorítmica.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 interfaz lo deja pasar sin alterar el flujo.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754880" y="1600200"/>
            <a:ext cx="3749040" cy="3108960"/>
          </a:xfrm>
          <a:prstGeom prst="roundRect">
            <a:avLst>
              <a:gd name="adj" fmla="val 2941"/>
            </a:avLst>
          </a:prstGeom>
          <a:solidFill>
            <a:srgbClr val="1C1F24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pic>
        <p:nvPicPr>
          <p:cNvPr id="10" name="Image 1" descr="/home/claude/deck/assets/warning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23560" y="1828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130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de arrastre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5029200" y="24231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es capturado por estímulos automatizados y algoritmos de recomendación (feeds, reels, shorts), sin una decisión deliberada.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029200" y="39776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Ahí se activa la fricción de diseño.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457200" y="48234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Cautiverio Voluntario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8321040" y="48234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A9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EA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se explota, cómo, y por qué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496312" cy="3108960"/>
          </a:xfrm>
          <a:prstGeom prst="roundRect">
            <a:avLst>
              <a:gd name="adj" fmla="val 3663"/>
            </a:avLst>
          </a:prstGeom>
          <a:solidFill>
            <a:srgbClr val="1C1F24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pic>
        <p:nvPicPr>
          <p:cNvPr id="5" name="Image 0" descr="/home/claude/deck/assets/brain_s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288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423160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9E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Biología humana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3017520"/>
            <a:ext cx="21305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Dopamina, refuerzo variable y carga cognitiva: mecanismos de supervivencia que la interfaz acopla y explota.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19272" y="1600200"/>
            <a:ext cx="2496312" cy="3108960"/>
          </a:xfrm>
          <a:prstGeom prst="roundRect">
            <a:avLst>
              <a:gd name="adj" fmla="val 3663"/>
            </a:avLst>
          </a:prstGeom>
          <a:solidFill>
            <a:srgbClr val="1C1F24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pic>
        <p:nvPicPr>
          <p:cNvPr id="9" name="Image 1" descr="/home/claude/deck/assets/mobile_terracot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872" y="18288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02152" y="2423160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7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de interfaces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502152" y="3017520"/>
            <a:ext cx="21305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Eliminación sistemática de fricción y patrones engañosos que suprimen la reflexión crítica.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998464" y="1600200"/>
            <a:ext cx="2496312" cy="3108960"/>
          </a:xfrm>
          <a:prstGeom prst="roundRect">
            <a:avLst>
              <a:gd name="adj" fmla="val 3663"/>
            </a:avLst>
          </a:prstGeom>
          <a:solidFill>
            <a:srgbClr val="1C1F24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pic>
        <p:nvPicPr>
          <p:cNvPr id="13" name="Image 2" descr="/home/claude/deck/assets/chart_sl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18288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81344" y="2423160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7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Economía de la atención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181344" y="3017520"/>
            <a:ext cx="21305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atención como mercancía escasa; el capitalismo de vigilancia convierte la conducta en materia prima.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457200" y="48234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Cautiverio Voluntario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8321040" y="48234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13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ENGAÑOSOS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DEA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Deceptive patterns (Brignull, 2023)</a:t>
            </a:r>
            <a:endParaRPr lang="en-US" sz="2200" dirty="0"/>
          </a:p>
        </p:txBody>
      </p:sp>
      <p:pic>
        <p:nvPicPr>
          <p:cNvPr id="4" name="Image 0" descr="/home/claude/deck/assets/instagram_white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7772400" y="50292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320040" cy="320040"/>
          </a:xfrm>
          <a:prstGeom prst="ellipse">
            <a:avLst/>
          </a:prstGeom>
          <a:solidFill>
            <a:srgbClr val="E1306C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783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43000" y="1691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7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Trampa para cucarachas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023360" y="16916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sin fricción; cancelar la suscripción exige atravesar múltiples menús confusos.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2834640"/>
            <a:ext cx="320040" cy="320040"/>
          </a:xfrm>
          <a:prstGeom prst="ellipse">
            <a:avLst/>
          </a:prstGeom>
          <a:solidFill>
            <a:srgbClr val="E1306C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834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43000" y="2743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7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Redirección visual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023360" y="27432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opción que conviene a la empresa se destaca; la alternativa se relega a texto pequeño u oculto.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080" y="3886200"/>
            <a:ext cx="320040" cy="320040"/>
          </a:xfrm>
          <a:prstGeom prst="ellipse">
            <a:avLst/>
          </a:prstGeom>
          <a:solidFill>
            <a:srgbClr val="E1306C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886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143000" y="3794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7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Confirmshaming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023360" y="37947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Manipulación emocional directa: culpa o autodesvalorización para forzar el clic deseado.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industria que erradica la fricción para retener, la reintroduce aquí con otro propósito: devolver la decisión al usuario.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A9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ACTORES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DEA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mismas herramientas, distinto interés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863840" cy="960120"/>
          </a:xfrm>
          <a:prstGeom prst="roundRect">
            <a:avLst>
              <a:gd name="adj" fmla="val 9524"/>
            </a:avLst>
          </a:prstGeom>
          <a:solidFill>
            <a:srgbClr val="1C1F24"/>
          </a:solidFill>
          <a:ln/>
        </p:spPr>
      </p:sp>
      <p:pic>
        <p:nvPicPr>
          <p:cNvPr id="5" name="Image 0" descr="/home/claude/deck/assets/building_sl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57276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46304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7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Quienes capturan la atención 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D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Plataformas, fabricantes, equipos de diseño — interés económico: maximizar tiempo de pantalla.</a:t>
            </a:r>
            <a:endParaRPr lang="en-US" sz="1300" dirty="0"/>
          </a:p>
        </p:txBody>
      </p:sp>
      <p:pic>
        <p:nvPicPr>
          <p:cNvPr id="7" name="Image 1" descr="/home/claude/deck/assets/arrow_mut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434840" y="2395728"/>
            <a:ext cx="274320" cy="274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468880" y="2743200"/>
            <a:ext cx="4206240" cy="777240"/>
          </a:xfrm>
          <a:prstGeom prst="roundRect">
            <a:avLst>
              <a:gd name="adj" fmla="val 17647"/>
            </a:avLst>
          </a:prstGeom>
          <a:solidFill>
            <a:srgbClr val="5B7B8A"/>
          </a:solidFill>
          <a:ln/>
        </p:spPr>
      </p:sp>
      <p:sp>
        <p:nvSpPr>
          <p:cNvPr id="9" name="Text 5"/>
          <p:cNvSpPr/>
          <p:nvPr/>
        </p:nvSpPr>
        <p:spPr>
          <a:xfrm>
            <a:off x="2468880" y="274320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EA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USUARIO</a:t>
            </a:r>
            <a:endParaRPr lang="en-US" sz="1600" dirty="0"/>
          </a:p>
        </p:txBody>
      </p:sp>
      <p:pic>
        <p:nvPicPr>
          <p:cNvPr id="10" name="Image 2" descr="/home/claude/deck/assets/arrow_mut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434840" y="3584448"/>
            <a:ext cx="274320" cy="27432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3931920"/>
            <a:ext cx="7863840" cy="914400"/>
          </a:xfrm>
          <a:prstGeom prst="roundRect">
            <a:avLst>
              <a:gd name="adj" fmla="val 10000"/>
            </a:avLst>
          </a:prstGeom>
          <a:solidFill>
            <a:srgbClr val="1C1F24"/>
          </a:solidFill>
          <a:ln/>
        </p:spPr>
      </p:sp>
      <p:pic>
        <p:nvPicPr>
          <p:cNvPr id="12" name="Image 3" descr="/home/claude/deck/assets/shield_sa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114800"/>
            <a:ext cx="457200" cy="4572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554480" y="402336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9E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Quienes intervienen a favor del usuario 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D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proyecto, expertos aliados, comunidad y Estado — orientados a restituir la autonomía atencional.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A9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DEA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intervención que reintroduzca momentos de decisión consciente mediante fricción adaptativa —calibrada según el comportamiento del usuario— permite restituir la capacidad de decisión y reducir el uso no intencional de forma duradera.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606040"/>
            <a:ext cx="7863840" cy="0"/>
          </a:xfrm>
          <a:prstGeom prst="line">
            <a:avLst/>
          </a:prstGeom>
          <a:noFill/>
          <a:ln w="19050">
            <a:solidFill>
              <a:srgbClr val="1C1F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47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D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Contribuir a que adultos jóvenes con uso no intencional recurrente del smartphone recuperen la capacidad de decidir conscientemente sobre su comportamiento tecnológico, reduciendo el uso compulsivo en contextos de tiempo no estructurado.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57200" y="48234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Cautiverio Voluntario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321040" y="48234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A9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ABANICO DE POSIBILIDADES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DEA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palancas psicológicas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481328" cy="3200400"/>
          </a:xfrm>
          <a:prstGeom prst="roundRect">
            <a:avLst>
              <a:gd name="adj" fmla="val 4938"/>
            </a:avLst>
          </a:prstGeom>
          <a:solidFill>
            <a:srgbClr val="1C1F24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pic>
        <p:nvPicPr>
          <p:cNvPr id="5" name="Image 0" descr="/home/claude/deck/assets/gif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864" y="16459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210312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47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Refuerzo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31520" y="2606040"/>
            <a:ext cx="12984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D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 el uso a una consecuencia externa.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240280" y="1417320"/>
            <a:ext cx="1481328" cy="3200400"/>
          </a:xfrm>
          <a:prstGeom prst="roundRect">
            <a:avLst>
              <a:gd name="adj" fmla="val 4938"/>
            </a:avLst>
          </a:prstGeom>
          <a:solidFill>
            <a:srgbClr val="1C1F24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pic>
        <p:nvPicPr>
          <p:cNvPr id="9" name="Image 1" descr="/home/claude/deck/assets/han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064" y="164592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313432" y="210312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47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Fricción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2331720" y="2606040"/>
            <a:ext cx="12984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D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Añade obstáculos al flujo habitual.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840480" y="1417320"/>
            <a:ext cx="1481328" cy="3200400"/>
          </a:xfrm>
          <a:prstGeom prst="roundRect">
            <a:avLst>
              <a:gd name="adj" fmla="val 4938"/>
            </a:avLst>
          </a:prstGeom>
          <a:solidFill>
            <a:srgbClr val="1C1F24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pic>
        <p:nvPicPr>
          <p:cNvPr id="13" name="Image 2" descr="/home/claude/deck/assets/minu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264" y="164592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913632" y="210312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47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Sustracción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3931920" y="2606040"/>
            <a:ext cx="12984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D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el objeto que detona la distracción.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5440680" y="1417320"/>
            <a:ext cx="1481328" cy="3200400"/>
          </a:xfrm>
          <a:prstGeom prst="roundRect">
            <a:avLst>
              <a:gd name="adj" fmla="val 4938"/>
            </a:avLst>
          </a:prstGeom>
          <a:solidFill>
            <a:srgbClr val="1C1F24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pic>
        <p:nvPicPr>
          <p:cNvPr id="17" name="Image 3" descr="/home/claude/deck/assets/bulb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464" y="164592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13832" y="210312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47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Consciencia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5532120" y="2606040"/>
            <a:ext cx="12984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D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 el pensamiento deliberado (Sistema 2).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7040880" y="1417320"/>
            <a:ext cx="1481328" cy="3200400"/>
          </a:xfrm>
          <a:prstGeom prst="roundRect">
            <a:avLst>
              <a:gd name="adj" fmla="val 4938"/>
            </a:avLst>
          </a:prstGeom>
          <a:solidFill>
            <a:srgbClr val="1C1F24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pic>
        <p:nvPicPr>
          <p:cNvPr id="21" name="Image 4" descr="/home/claude/deck/assets/meh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8664" y="164592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114032" y="210312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47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Insatisfacción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7132320" y="2606040"/>
            <a:ext cx="12984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D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 el atractivo del estímulo (liking).</a:t>
            </a:r>
            <a:endParaRPr lang="en-US" sz="950" dirty="0"/>
          </a:p>
        </p:txBody>
      </p:sp>
      <p:sp>
        <p:nvSpPr>
          <p:cNvPr id="24" name="Text 17"/>
          <p:cNvSpPr/>
          <p:nvPr/>
        </p:nvSpPr>
        <p:spPr>
          <a:xfrm>
            <a:off x="457200" y="48234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Cautiverio Voluntario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8321040" y="48234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A9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EVALUACIÓN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DEA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Efectividad inmediata vs. agencia recuperada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4114800" cy="3063240"/>
          </a:xfrm>
          <a:prstGeom prst="rect">
            <a:avLst/>
          </a:prstGeom>
          <a:solidFill>
            <a:srgbClr val="1C1F24"/>
          </a:solidFill>
          <a:ln w="12700">
            <a:solidFill>
              <a:srgbClr val="2A2E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948940"/>
            <a:ext cx="4114800" cy="0"/>
          </a:xfrm>
          <a:prstGeom prst="line">
            <a:avLst/>
          </a:prstGeom>
          <a:noFill/>
          <a:ln w="12700">
            <a:solidFill>
              <a:srgbClr val="2A2E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97480" y="1417320"/>
            <a:ext cx="0" cy="3063240"/>
          </a:xfrm>
          <a:prstGeom prst="line">
            <a:avLst/>
          </a:prstGeom>
          <a:noFill/>
          <a:ln w="12700">
            <a:solidFill>
              <a:srgbClr val="2A2E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247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esfuerzo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45262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esfuerzo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-45720" y="28117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efectivo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00600" y="28117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efectivo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773936" y="1990649"/>
            <a:ext cx="201168" cy="201168"/>
          </a:xfrm>
          <a:prstGeom prst="ellipse">
            <a:avLst/>
          </a:prstGeom>
          <a:solidFill>
            <a:srgbClr val="5B7B8A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2219249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D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Sustracción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090672" y="2235708"/>
            <a:ext cx="201168" cy="201168"/>
          </a:xfrm>
          <a:prstGeom prst="ellipse">
            <a:avLst/>
          </a:prstGeom>
          <a:solidFill>
            <a:srgbClr val="C4785A"/>
          </a:solidFill>
          <a:ln/>
        </p:spPr>
      </p:sp>
      <p:sp>
        <p:nvSpPr>
          <p:cNvPr id="14" name="Text 12"/>
          <p:cNvSpPr/>
          <p:nvPr/>
        </p:nvSpPr>
        <p:spPr>
          <a:xfrm>
            <a:off x="2551176" y="24643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D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Fricción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337560" y="3399739"/>
            <a:ext cx="201168" cy="201168"/>
          </a:xfrm>
          <a:prstGeom prst="ellipse">
            <a:avLst/>
          </a:prstGeom>
          <a:solidFill>
            <a:srgbClr val="E1306C"/>
          </a:solidFill>
          <a:ln/>
        </p:spPr>
      </p:sp>
      <p:sp>
        <p:nvSpPr>
          <p:cNvPr id="16" name="Text 14"/>
          <p:cNvSpPr/>
          <p:nvPr/>
        </p:nvSpPr>
        <p:spPr>
          <a:xfrm>
            <a:off x="2798064" y="3628339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D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Refuerzo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773936" y="3522269"/>
            <a:ext cx="201168" cy="201168"/>
          </a:xfrm>
          <a:prstGeom prst="ellipse">
            <a:avLst/>
          </a:prstGeom>
          <a:solidFill>
            <a:srgbClr val="7A9E87"/>
          </a:solidFill>
          <a:ln/>
        </p:spPr>
      </p:sp>
      <p:sp>
        <p:nvSpPr>
          <p:cNvPr id="18" name="Text 16"/>
          <p:cNvSpPr/>
          <p:nvPr/>
        </p:nvSpPr>
        <p:spPr>
          <a:xfrm>
            <a:off x="1234440" y="3750869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D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Consciencia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0" y="1371600"/>
            <a:ext cx="3474720" cy="3200400"/>
          </a:xfrm>
          <a:prstGeom prst="roundRect">
            <a:avLst>
              <a:gd name="adj" fmla="val 2857"/>
            </a:avLst>
          </a:prstGeom>
          <a:solidFill>
            <a:srgbClr val="1C1F24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257800" y="15544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mecanismos de alta efectividad y bajo esfuerzo son los que menos perduran: el usuario depende de ellos sin internalizar el cambio.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257800" y="30632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9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dirección pertinente combina fricción y consciencia: equilibra efectividad con agencia recuperada.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48234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Cautiverio Voluntario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21040" y="48234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A9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INTERVENCIÓN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DEA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Fricción adaptativa: tres niveles de intensidad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496312" cy="3108960"/>
          </a:xfrm>
          <a:prstGeom prst="roundRect">
            <a:avLst>
              <a:gd name="adj" fmla="val 3663"/>
            </a:avLst>
          </a:prstGeom>
          <a:solidFill>
            <a:srgbClr val="1C1F24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373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130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EA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Alta restricción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21305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Interrumpe físicamente el hábito: cierra la app y reubica su acceso tras cada sesión de arrastre.</a:t>
            </a:r>
            <a:endParaRPr lang="en-US" sz="1150" dirty="0"/>
          </a:p>
        </p:txBody>
      </p:sp>
      <p:pic>
        <p:nvPicPr>
          <p:cNvPr id="8" name="Image 0" descr="/home/claude/deck/assets/arrow_mu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5536" y="3017520"/>
            <a:ext cx="164592" cy="16459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319272" y="1554480"/>
            <a:ext cx="2496312" cy="3108960"/>
          </a:xfrm>
          <a:prstGeom prst="roundRect">
            <a:avLst>
              <a:gd name="adj" fmla="val 3663"/>
            </a:avLst>
          </a:prstGeom>
          <a:solidFill>
            <a:srgbClr val="1C1F24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502152" y="17373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7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3502152" y="2423160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EA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Pausa contextual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502152" y="2971800"/>
            <a:ext cx="21305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Suaviza la barrera pero mantiene el control del sistema: introduce información antes de reingresar.</a:t>
            </a:r>
            <a:endParaRPr lang="en-US" sz="1150" dirty="0"/>
          </a:p>
        </p:txBody>
      </p:sp>
      <p:pic>
        <p:nvPicPr>
          <p:cNvPr id="13" name="Image 1" descr="/home/claude/deck/assets/arrow_mut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4728" y="3017520"/>
            <a:ext cx="164592" cy="16459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998464" y="1554480"/>
            <a:ext cx="2496312" cy="3108960"/>
          </a:xfrm>
          <a:prstGeom prst="roundRect">
            <a:avLst>
              <a:gd name="adj" fmla="val 3663"/>
            </a:avLst>
          </a:prstGeom>
          <a:solidFill>
            <a:srgbClr val="1C1F24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181344" y="17373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A9E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6181344" y="2423160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EA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Límites autoimpuestos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181344" y="2971800"/>
            <a:ext cx="21305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casi total del usuario, mediante límites propios y graduables.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640080" y="47091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recaída es esperada, no un fallo: el sistema recalibra automáticamente hacia mayor fricción.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A9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DE USO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EA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diseñador creativo abre Instagram en la mañana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65760" cy="365760"/>
          </a:xfrm>
          <a:prstGeom prst="ellipse">
            <a:avLst/>
          </a:prstGeom>
          <a:solidFill>
            <a:srgbClr val="7A9E8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4173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D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 su intención (responder mensajes) en un popup de entrada.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463040"/>
            <a:ext cx="365760" cy="365760"/>
          </a:xfrm>
          <a:prstGeom prst="ellipse">
            <a:avLst/>
          </a:prstGeom>
          <a:solidFill>
            <a:srgbClr val="7A9E87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257800" y="14173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D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sensado permanece activo de fondo, sin confiar ciegamente en lo declarado.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514600"/>
            <a:ext cx="365760" cy="365760"/>
          </a:xfrm>
          <a:prstGeom prst="ellipse">
            <a:avLst/>
          </a:prstGeom>
          <a:solidFill>
            <a:srgbClr val="7A9E8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24688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D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Mientras responde mensajes, la interfaz opera invisible.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514600"/>
            <a:ext cx="365760" cy="365760"/>
          </a:xfrm>
          <a:prstGeom prst="ellipse">
            <a:avLst/>
          </a:prstGeom>
          <a:solidFill>
            <a:srgbClr val="E1306C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57800" y="24688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D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virar hacia el scroll de reels, se activa una notificación en segunda persona.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566160"/>
            <a:ext cx="365760" cy="365760"/>
          </a:xfrm>
          <a:prstGeom prst="ellipse">
            <a:avLst/>
          </a:prstGeom>
          <a:solidFill>
            <a:srgbClr val="E1306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5204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D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continúa, la fricción se intercala entre cada scroll para evitar automatizarse.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566160"/>
            <a:ext cx="365760" cy="365760"/>
          </a:xfrm>
          <a:prstGeom prst="ellipse">
            <a:avLst/>
          </a:prstGeom>
          <a:solidFill>
            <a:srgbClr val="E1306C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57800" y="35204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D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siguiente sesión, visualiza su tiempo de arrastre acumulado.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8234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Cautiverio Voluntario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21040" y="48234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eye_slate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645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DEA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éxito no se mide en tiempo total de pantalla,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640080" y="22860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9E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sino en la reducción sostenida del uso de arrastre.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40080" y="32004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 último no es reducir el uso mientras la fricción está activa, sino restituir la agencia del usuario de forma duradera: un aprendizaje sostenido, no una dependencia del sistema.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40080" y="4297680"/>
            <a:ext cx="2011680" cy="0"/>
          </a:xfrm>
          <a:prstGeom prst="line">
            <a:avLst/>
          </a:prstGeom>
          <a:noFill/>
          <a:ln w="19050">
            <a:solidFill>
              <a:srgbClr val="C4785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4434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A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Cautiverio Voluntario: Cómo se diseña la libertad</dc:title>
  <dc:subject>PptxGenJS Presentation</dc:subject>
  <dc:creator>Santiago Gaete Fernández</dc:creator>
  <cp:lastModifiedBy>Santiago Gaete Fernández</cp:lastModifiedBy>
  <cp:revision>1</cp:revision>
  <dcterms:created xsi:type="dcterms:W3CDTF">2026-07-08T14:19:15Z</dcterms:created>
  <dcterms:modified xsi:type="dcterms:W3CDTF">2026-07-08T14:19:15Z</dcterms:modified>
</cp:coreProperties>
</file>