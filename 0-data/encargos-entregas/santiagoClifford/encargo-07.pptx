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DM Mono Medium"/>
      <p:regular r:id="rId19"/>
      <p: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MANUEL GALLARDO"/>
  <p:cmAuthor clrIdx="1" id="1" initials="" lastIdx="10" name="SANTIAGO IGNACIO GAETE FERNAND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Mono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DMMonoMedium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9T15:06:39.089">
    <p:pos x="420" y="623"/>
    <p:text>https://www.instagram.com/p/DXHLu7pt6Y-/
1 total reaction
Sergio Majluf reacted with 😍 at 2026-04-29 15:06 p. m.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4-29T15:32:53.383">
    <p:pos x="501" y="1020"/>
    <p:text>se entinede como movimiento espacial</p:text>
  </p:cm>
  <p:cm authorId="1" idx="2" dt="2026-04-29T15:33:34.424">
    <p:pos x="6000" y="0"/>
    <p:text>sergio: el disñeo de un modelo deinteraccion no visual disminuye el uso no intencional del celular.</p:text>
  </p:cm>
  <p:cm authorId="1" idx="3" dt="2026-04-29T15:42:19.279">
    <p:pos x="6000" y="100"/>
    <p:text>segio2: un telefono sin pantalla disminuye el uso no intencional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29T15:09:42.617">
    <p:pos x="1998" y="1975"/>
    <p:text>Muy operativos. debe ser un poco mas macro apra que aborden todo el proceso.</p:text>
  </p:cm>
  <p:cm authorId="1" idx="4" dt="2026-04-29T15:39:31.193">
    <p:pos x="6000" y="0"/>
    <p:text>el problema es el uso no intencional</p:text>
  </p:cm>
  <p:cm authorId="1" idx="5" dt="2026-04-29T16:49:32.576">
    <p:pos x="6000" y="100"/>
    <p:text>relfexiona: ¿qué va apasar cuando mi objetivo general se cumpla? ¿cómo voy a saber que se cumplió mi objetivo?</p:text>
  </p:cm>
  <p:cm authorId="1" idx="6" dt="2026-04-29T16:43:31.888">
    <p:pos x="6000" y="200"/>
    <p:text>pensar: cuál es la stuación preferida</p:text>
  </p:cm>
  <p:cm authorId="1" idx="7" dt="2026-04-29T16:44:15.612">
    <p:pos x="6000" y="300"/>
    <p:text>el objetivo general debería ayudarme a mantener un foco</p:text>
  </p:cm>
  <p:cm authorId="1" idx="8" dt="2026-04-29T17:00:54.590">
    <p:pos x="6000" y="400"/>
    <p:text>objetivo general: que quiero lograr
objetivos especificos: qué tengo que hacer yo para que se logre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9" dt="2026-04-29T14:44:50.886">
    <p:pos x="6000" y="0"/>
    <p:text>se deberian establecer criterios de seleccion de referentes, y luego seleccionarlos
luego hacer analisis comparativos y analisis del referente.</p:text>
  </p:cm>
  <p:cm authorId="0" idx="3" dt="2026-04-29T15:58:48.294">
    <p:pos x="3044" y="540"/>
    <p:text>https://www.instagram.com/p/DTtKNFGjRnI/</p:text>
  </p:cm>
  <p:cm authorId="0" idx="4" dt="2026-04-29T15:11:36.412">
    <p:pos x="3044" y="540"/>
    <p:text>https://www.instagram.com/p/DTtKNFGjRnI/</p:text>
  </p:cm>
  <p:cm authorId="0" idx="5" dt="2026-04-29T15:11:50.969">
    <p:pos x="3044" y="540"/>
    <p:text>https://www.instagram.com/p/DVtG7ZkDQb_/</p:text>
  </p:cm>
  <p:cm authorId="0" idx="6" dt="2026-04-29T15:58:48.294">
    <p:pos x="3044" y="540"/>
    <p:text>https://www.instagram.com/p/DXHvE6ikpQU/?img_index=1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0" dt="2026-04-29T15:32:02.079">
    <p:pos x="6000" y="0"/>
    <p:text>buscar referentes que apliquen este modo de entender  la mente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abf9d309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dabf9d309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bf9d309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bf9d309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abf9d309e_0_4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abf9d309e_0_4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bf9d309e_0_2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acd47e355_13_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bf9d309e_0_5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abf9d309e_0_60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acd47e355_0_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bf9d309e_0_7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bf9d309e_31_2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abf9d309e_0_30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abf9d309e_6_0)">
  <p:cSld name="Generated (g3dabf9d309e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9791cdfc37_8_0)">
  <p:cSld name="Generated (g39791cdfc37_8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://www.youtube.com/watch?v=3xWJ0FSgJVE" TargetMode="External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5.xml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OqV520WGT2jr3XLs9g3IHcVUoA_dGtkA/vie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mily Guy, Subway Surfers, TikTok and more! You'll never be understimmed with this video." id="56" name="Google Shape;56;p15" title="ULTIMATE Stim Station - 2 Hour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6"/>
          <p:cNvGrpSpPr/>
          <p:nvPr/>
        </p:nvGrpSpPr>
        <p:grpSpPr>
          <a:xfrm>
            <a:off x="-476250" y="-476250"/>
            <a:ext cx="10001250" cy="5810250"/>
            <a:chOff x="-476250" y="-476250"/>
            <a:chExt cx="10001250" cy="5810250"/>
          </a:xfrm>
        </p:grpSpPr>
        <p:sp>
          <p:nvSpPr>
            <p:cNvPr id="62" name="Google Shape;62;p16"/>
            <p:cNvSpPr/>
            <p:nvPr/>
          </p:nvSpPr>
          <p:spPr>
            <a:xfrm>
              <a:off x="0" y="428625"/>
              <a:ext cx="9144000" cy="142800"/>
            </a:xfrm>
            <a:prstGeom prst="rect">
              <a:avLst/>
            </a:prstGeom>
            <a:solidFill>
              <a:srgbClr val="FF00FF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0" y="4572000"/>
              <a:ext cx="9144000" cy="76200"/>
            </a:xfrm>
            <a:prstGeom prst="rect">
              <a:avLst/>
            </a:prstGeom>
            <a:solidFill>
              <a:srgbClr val="00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7620000" y="0"/>
              <a:ext cx="1905000" cy="5143500"/>
            </a:xfrm>
            <a:prstGeom prst="rect">
              <a:avLst/>
            </a:prstGeom>
            <a:solidFill>
              <a:srgbClr val="FFFF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6"/>
            <p:cNvSpPr/>
            <p:nvPr/>
          </p:nvSpPr>
          <p:spPr>
            <a:xfrm>
              <a:off x="-476250" y="-476250"/>
              <a:ext cx="2857500" cy="2857500"/>
            </a:xfrm>
            <a:prstGeom prst="ellipse">
              <a:avLst/>
            </a:prstGeom>
            <a:solidFill>
              <a:srgbClr val="FF00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6"/>
            <p:cNvSpPr/>
            <p:nvPr/>
          </p:nvSpPr>
          <p:spPr>
            <a:xfrm>
              <a:off x="7048500" y="3048000"/>
              <a:ext cx="2286000" cy="2286000"/>
            </a:xfrm>
            <a:prstGeom prst="ellipse">
              <a:avLst/>
            </a:prstGeom>
            <a:solidFill>
              <a:srgbClr val="00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" name="Google Shape;6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05000"/>
              <a:ext cx="9144000" cy="14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6"/>
          <p:cNvSpPr txBox="1"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FF"/>
                </a:solidFill>
                <a:highlight>
                  <a:srgbClr val="FF00FF"/>
                </a:highlight>
                <a:latin typeface="DM Mono"/>
                <a:ea typeface="DM Mono"/>
                <a:cs typeface="DM Mono"/>
                <a:sym typeface="DM Mono"/>
              </a:rPr>
              <a:t>// CRITICAL SYSTEM ACCESS // PROJECT: OVERLOAD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const </a:t>
            </a:r>
            <a:r>
              <a:rPr b="0" lang="es" sz="32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projectData</a:t>
            </a:r>
            <a:r>
              <a:rPr b="0" lang="es" sz="32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 = {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"encargo"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b="0" lang="es" sz="20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2000">
                <a:solidFill>
                  <a:srgbClr val="CE9178"/>
                </a:solidFill>
                <a:highlight>
                  <a:srgbClr val="330033"/>
                </a:highlight>
                <a:latin typeface="DM Mono"/>
                <a:ea typeface="DM Mono"/>
                <a:cs typeface="DM Mono"/>
                <a:sym typeface="DM Mono"/>
              </a:rPr>
              <a:t>"0</a:t>
            </a:r>
            <a:r>
              <a:rPr lang="es" sz="2000">
                <a:solidFill>
                  <a:srgbClr val="CE9178"/>
                </a:solidFill>
                <a:highlight>
                  <a:srgbClr val="330033"/>
                </a:highlight>
                <a:latin typeface="DM Mono"/>
                <a:ea typeface="DM Mono"/>
                <a:cs typeface="DM Mono"/>
                <a:sym typeface="DM Mono"/>
              </a:rPr>
              <a:t>7</a:t>
            </a:r>
            <a:r>
              <a:rPr b="0" lang="es" sz="2000">
                <a:solidFill>
                  <a:srgbClr val="CE9178"/>
                </a:solidFill>
                <a:highlight>
                  <a:srgbClr val="330033"/>
                </a:highlight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"titulo"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b="0" lang="es" sz="20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2000" u="sng">
                <a:solidFill>
                  <a:srgbClr val="CE9178"/>
                </a:solidFill>
                <a:highlight>
                  <a:srgbClr val="003333"/>
                </a:highlight>
                <a:latin typeface="DM Mono"/>
                <a:ea typeface="DM Mono"/>
                <a:cs typeface="DM Mono"/>
                <a:sym typeface="DM Mono"/>
              </a:rPr>
              <a:t>"formulacion de proyecto"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"autor"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b="0" lang="es" sz="20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1" lang="es" sz="2000">
                <a:solidFill>
                  <a:srgbClr val="FFFFFF"/>
                </a:solidFill>
                <a:highlight>
                  <a:srgbClr val="FF0000"/>
                </a:highlight>
                <a:latin typeface="DM Mono"/>
                <a:ea typeface="DM Mono"/>
                <a:cs typeface="DM Mono"/>
                <a:sym typeface="DM Mono"/>
              </a:rPr>
              <a:t>"santiago gaete fernández"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};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r">
              <a:spcBef>
                <a:spcPts val="3000"/>
              </a:spcBef>
              <a:spcAft>
                <a:spcPts val="0"/>
              </a:spcAft>
              <a:buNone/>
            </a:pPr>
            <a:r>
              <a:rPr b="0" lang="es" sz="1400">
                <a:solidFill>
                  <a:srgbClr val="FF0000"/>
                </a:solidFill>
                <a:latin typeface="DM Mono"/>
                <a:ea typeface="DM Mono"/>
                <a:cs typeface="DM Mono"/>
                <a:sym typeface="DM Mono"/>
              </a:rPr>
              <a:t>!!! SYSTEM OVERLOAD | STATUS: UNSTABLE | UTF-8 !!!</a:t>
            </a:r>
            <a:endParaRPr b="0" sz="1400">
              <a:solidFill>
                <a:srgbClr val="FF000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/>
        </p:nvSpPr>
        <p:spPr>
          <a:xfrm>
            <a:off x="381000" y="385850"/>
            <a:ext cx="237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POV_DEFINITION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381000" y="896100"/>
            <a:ext cx="8382000" cy="4009500"/>
          </a:xfrm>
          <a:prstGeom prst="roundRect">
            <a:avLst>
              <a:gd fmla="val 1176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 txBox="1"/>
          <p:nvPr/>
        </p:nvSpPr>
        <p:spPr>
          <a:xfrm>
            <a:off x="666750" y="990313"/>
            <a:ext cx="7810500" cy="3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9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/* </a:t>
            </a:r>
            <a:r>
              <a:rPr lang="es" sz="109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"usuario": "[Personas Chilenas con uso problemático del celular]",</a:t>
            </a:r>
            <a:endParaRPr sz="109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09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"necesidad": "[Poder navegar el celular, sin exponerse a posibles tácticas que intenten maximizar su tiempo de permanencia en club penguin]",</a:t>
            </a:r>
            <a:endParaRPr sz="109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09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"insight": "[Las personas son conscientes de las consecuencias de club penguin. Deciden permitirse usarlo]" */</a:t>
            </a:r>
            <a:endParaRPr sz="109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sz="99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function</a:t>
            </a:r>
            <a:r>
              <a:rPr lang="es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rPr>
              <a:t>defineProblem</a:t>
            </a:r>
            <a:r>
              <a:rPr lang="es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(</a:t>
            </a:r>
            <a:r>
              <a:rPr lang="es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pov</a:t>
            </a:r>
            <a:r>
              <a:rPr lang="es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) {</a:t>
            </a:r>
            <a:endParaRPr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print(</a:t>
            </a:r>
            <a:r>
              <a:rPr lang="es" sz="18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b="1" lang="es" sz="1800" u="sng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Las personas en Chile con uso problemático de dispositivos móviles táctiles</a:t>
            </a:r>
            <a:r>
              <a:rPr b="1" lang="es" sz="18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 que </a:t>
            </a:r>
            <a:r>
              <a:rPr b="1" lang="es" sz="1800" u="sng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buscan reducir su tiempo en pantalla</a:t>
            </a:r>
            <a:r>
              <a:rPr b="1" lang="es" sz="18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 necesitan </a:t>
            </a:r>
            <a:r>
              <a:rPr b="1" lang="es" sz="1800" u="sng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desarrollar autonomía y control en el uso de estos dispositivos</a:t>
            </a:r>
            <a:r>
              <a:rPr b="1" lang="es" sz="18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 porque lo usan como vía de escape al estrés, incertidumbre, aburrimiento, entre otros.</a:t>
            </a:r>
            <a:r>
              <a:rPr lang="es" sz="18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800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)</a:t>
            </a:r>
            <a:r>
              <a:rPr lang="es" sz="18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8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/>
        </p:nvSpPr>
        <p:spPr>
          <a:xfrm>
            <a:off x="6357229" y="4579725"/>
            <a:ext cx="2690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ARBOL_DE_PROBLEMAS</a:t>
            </a:r>
            <a:endParaRPr b="1" sz="16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79" name="Google Shape;79;p18"/>
          <p:cNvSpPr txBox="1"/>
          <p:nvPr/>
        </p:nvSpPr>
        <p:spPr>
          <a:xfrm>
            <a:off x="6314583" y="84980"/>
            <a:ext cx="43032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⠀⠀⠀⠀⠀⠀⠀⠀⠀⠀⠀⠀⠀⠀⠀⠀⠀⠀⠀⢠⣄⡀⠀⠀⠀⣶⣄⠀⠀⠀⠀⠀⠀⠀⠀⠀⠀⠀⠀⠀⠀⠀⠀⠀⠀⠀⠀⠀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⠀⠀⠀⠀⠀⠀⠀⠀⠀⠀⠀⠀⠀⠀⢀⣿⣆⠀⠀⢻⡍⢳⡄⠀⠀⣿⠸⣆⠀⠀⣠⣤⣾⢳⡄⠀⠀⠀⠀⠀⠀⠀⠀⠀⠀⠀⠀⠀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⠀⠀⠀⠀⠀⠀⢀⣀⠀⢀⠀⢀⣀⠀⢸⢁⣿⡄⠀⠈⢷⣈⣿⠀⣠⣼⣦⣿⣴⣋⣡⠞⢻⠀⣿⢀⣀⡀⠀⠀⠀⠀⠀⠀⠀⠀⠀⠀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⠀⠀⠀⠀⠀⠀⠘⢿⡻⣿⠳⣾⡍⠻⣿⣾⢿⡛⠶⣦⡄⠈⣿⣏⣡⠞⠋⣻⠉⠉⡀⠀⢸⡶⢟⣽⡯⠥⢤⣄⣀⡀⠀⠀⠀⠀⠀⠀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⠀⠀⠀⠀⠀⠀⢀⣈⣛⣿⠀⢹⡿⠶⣼⣿⠀⠙⠶⢬⣷⣿⢸⡏⠀⠀⠀⡟⠀⢸⠹⣦⣾⠞⠋⠉⠛⠛⢿⠋⣻⠷⢲⣶⠆⠀⠀⠀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⠀⠀⠀⢼⡿⣦⠸⣯⡉⠛⠷⣾⡃⠀⠀⢸⣇⠀⠀⠀⠈⣽⡇⢿⡄⠀⢀⡇⠀⢸⣠⡟⠀⠀⠀⠀⠀⠀⣸⣾⠥⠖⠋⠀⠀⠀⠀⠀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⠀⠀⢰⣾⣧⢻⡆⠈⠉⠉⠙⠙⠻⣦⣀⠀⢿⣄⠀⠀⠀⣿⡇⠈⢻⣆⢸⡇⠀⣸⣿⢦⡀⠀⠀⣀⣤⣾⠋⠀⣀⣤⣶⣞⣉⡿⠆⠀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⠀⠀⠘⣧⠈⢿⡃⠀⣀⣤⣤⣀⠀⠀⠙⠳⢶⣿⣦⡀⠀⣿⡇⠀⠀⢻⣿⣧⠞⢉⣿⣄⢻⡖⠛⠉⠉⠉⠉⠻⣿⣍⠛⣧⡀⠀⠀⠀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⠀⢸⡿⢿⡷⠴⢷⡾⠥⠴⠞⠁</a:t>
            </a:r>
            <a:r>
              <a:rPr lang="es" sz="900">
                <a:solidFill>
                  <a:srgbClr val="D4D4D4"/>
                </a:solidFill>
              </a:rPr>
              <a:t>⠀⠀⠀⠀⠀⠀⠉⠻⣦⣹⣇⠀⠀⠈⣿⡇⢀⡾⠉⣯⠛⠇⠀⠀⠀⠀⣀⣠⠞⠋⠓⠛⠟⠀⠀⠀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⠀⠈⢷⡈⣷⡀⠈⠻⣆⠀⠀⢀⣠⡤⢤⣤⠀⠀⠀⠀⠘⢿⣿⡄⠀⠀⣼⣷⠋⢹⡀⣿⣀⣤⡤⠶⠒⠋⠹⣍⠳⣄⠀⠀⠀⠀⠀⠀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⠀⠀⠀⠙⢿⣀⠀⠀⠙⠿⣦⡛⠛⠛⠛⠁⠀⠀⠀⠀⠀⠈⢿⣧⣴⠟⢻⡇⢀⣤⠿⣿⣉⡀⠀⠀⣀⡀⠀⠈⠛⠛⠃⠀⢀⣠⣤⠀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⠀⠀⠀⠀⠀⠉⠙⠛⠲⠶⠿⠿⣦⣄⣀⣀⣀⣀⣀⠀⠀⠀⢸⣿⠏⠀⢸⣷⠋⠁⠀⠀⠉⠉⠛⠛⣿⠙⢲⡄⠀⣀⣴⣾⡽⠾⠛⠀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⢰⢦⣄⠀⠀⢴⣚⣛⣶⣶⠀⠀⠀⠉⠛⠛⠻⠿⠿⠿⣷⣦⣼⣿⡄⠀⣿⡇⠀⠀⠀⠀⠀⣀⣀⣤⣬⡿⠶⠛⢩⣿⢯⣉⠛⢶⡄⠀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⠘⢦⣌⣷⡄⠀⠀⠀⠀⠙⢶⣤⣀⡀⠀⠀⣀⣀⣀⣀⠈⠛⣿⣿⠇⣰⣿⣧⣶⣾⣿⠿⠿⠛⠉⠘⣧⢻⡄⠀⣾⢹⡆⠈⠙⠛⠛⠀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⠀⠀⢈⡛⠷⠦⣤⣤⣤⡤⠴⠿⠿⠛⠛⠛⠋⠛⠛⠻⢿⣦⣼⣿⣠⣿⠋⠁⠀⠉⠙⠛⢳⣶⡞⠛⠻⣾⡏⠙⢿⡿⣧⣴⣶⠶⢤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⠀⠀⡟⢹⡄⠀⠀⠀⠀⡞⣷⡀⠀⠀⠀⠀⠀⠀⠀⠀⠀⠙⣿⣿⣿⡏⠀⠀⠀⠀⠀⠀⢸⣁⣿⠀⠀⠀⠀⠀⠀⠀⠙⢷⡈⠻⣞⠉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⠀⠀⢷⡾⠀⠀⠀⠀⠀⠻⣼⠇⠀⠀⠀⠀⠀⠀⠀⠀⠀⠀⣿⣿⣿⠃⠀⠀⠀⠀⠀⠀⠘⠿⠟⠀⠀⠀⠀⠀⠀⠀⠀⠀⠙⠛⠿⠀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⠀⠀⠀⠁⠀⠀⠀⠀⠀⠀⠀⠀⠀⠀⠀⠀⠀⠀⠀⠀⠀⠀⣼⣿⣿⠀⠀⠀⠀⠀⠀⠀⠀⠀⠀⠀⠀⠀⠀⠀⠀⠀⠀⠀⠀⠀⠀⠀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⠀⠀⠀⠀⠀⠀⠀⠀⠀⠀⠀⠀⠀⠀⠀⠀⠀⠀⠀⠀⠀⠀⣿⣿⣿⠀⠀⠀⠀⠀⠀⠀⠀⠀⠀⠀⠀⠀⠀⠀⠀⠀⠀⠀⠀⠀⠀⠀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⠀⠀⠀⠀⠀⠀⠀⠀⠀⠀⠀⠀⠀⠀⠀⠀⠀⠀⠀⠀⠀⠀⢸⣿⣿⡄⠀⠀⠀⠀⠀⠀⠀⠀⠀⠀⠀⠀⠀⠀⠀⠀⠀⠀⠀⠀⠀⠀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</a:t>
            </a:r>
            <a:r>
              <a:rPr lang="es" sz="900">
                <a:solidFill>
                  <a:srgbClr val="D4D4D4"/>
                </a:solidFill>
              </a:rPr>
              <a:t>⠘⣿⣿⣧⠀⠀⠀⠀⠀⠀⠀⠀⠀⠀⠀⠀⠀⠀⠀⠀⠀⠀⠀⠀⠀⠀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⠀⠀⠀⠀⠀⠀⠀⠀⠀⠀⠀⠀⠀⠀⠀⠀⠀⠀⠀⠀⠀⠀⠀⢿⣿⣿⠀⠀⠀⠀⠀⠀⠀⠀⠀⠀⠀⠀⠀⠀⠀⠀⠀⠀⠀⠀⠀⠀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⠀⠀⠀⠀⠀⠀⠀⠀⠀⠀⠀⠀⠀⠀⠀⠀⠀⠀⠀⠀⠀⠀⠀⢸⣿⣿⡇⠀⠀⠀⠀⠀⠀⠀⠀⠀⠀⠀⠀⠀⠀⠀⠀⠀⠀⠀⠀⠀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⠀⠀⠀⠀⠀⠀⠀⠀⠀⠀⠀⠀⠀⠀⠀⠀⠀⠀⠀⠀⠀⠀⠀⢸⣿⣿⡇⠀⠀⠀⠀⠀⠀⠀⠀⠀⠀⠀⠀⠀⠀⠀⠀⠀⠀⠀⠀⠀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⠀⠀⠀⠀⠀⠀⠀⠀⠀⠀⠀⠀⠀⠀⠀⠀⠀⠀⠀⠀⠀⠀⠀⢸⣿⣿⡇⠀⠀⠀⠀⠀⠀⠀⠀⠀⠀⠀⠀⠀⠀⠀⠀⠀⠀⠀⠀⠀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⠀⠀⠀⠀⠀⠀⠀⠀⠀⠀⠀⠀⠀⠀⠀⠀⠀⠀⠀⠀⠀⠀⠀⢸⣿⣿⡇⠀⠀⠀⠀⠀⠀⠀⠀⠀⠀⠀⠀⠀⠀⠀⠀⠀⠀⠀⠀⠀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⠀⠀⠀⠀⠀⠀⠀⠀⠀⠀⠀⠀⠀⠀⠀⠀⠀⠀⠀⠀⠀⠀⠀⢸⣿⣿⠃⠀⠀⠀⠀⠀⠀⠀⠀⠀⠀⠀⠀⠀⠀⠀⠀⠀⠀⠀⠀⠀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⠀⠀⠀⠀⠀⠀⠀⠀⠀⠀⠀⠀⠀⠀⠀⠀⠀⠀⠀⠀⠀⠀⠀⢸⣿⣿⠀⠀⠀⠀⠀⠀⠀⠀⠀⠀⠀⠀⠀⠀⠀⠀⠀⠀⠀⠀⠀⠀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⠀⠀⠀⠀⠀⠀⠀⠀⠀⠀⠀⠀⠀⠀⠀⠀⠀⠀⠀⠀⠀⠀⢀⣾⣿⣿⠀⠀⠀⠀⠀⠀⠀⠀⠀⠀⠀⠀⠀⠀⠀⠀⠀⠀⠀⠀⠀⠀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⠀⠀⠀⠀⠀⠀⠀⠀⠀⠀⠀⠀⠀⠀⠀⠀⠀⠀⠀⠀⠀⢀⣾⣿⣿⣿⣷⣄⡀⠀⠀⠀⠀⠀⠀⠀⠀⠀⠀⠀⠀⠀⠀⠀⠀⠀⠀⠀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⠀⠀⠀⠀⠀⠀⠀⠀⠀⠀⠀⠀⠀⠀⠀⠀⠀⠀⣀⣀⣤⣿⠟⠛⢻⣯⠙⠻⠿⠿⠷⣦⣄⠀⠀⠀⠀⠀⠀⠀⠀⠀⠀⠀⠀⠀⠀⠀</a:t>
            </a:r>
            <a:endParaRPr sz="900">
              <a:solidFill>
                <a:srgbClr val="D4D4D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4D4D4"/>
                </a:solidFill>
              </a:rPr>
              <a:t>⠀⠀⠀⠀⠀⠀⠀⠀⠀⠀⠀⠀⠀⠀⠀⠀⠀⠀⠈⠉⠉⠁⠀⠀⠘⠛⠀⠀⠀⠀⠀⠀⠉⠀⠀⠀⠀⠀⠀⠀⠀⠀⠀⠀⠀⠀⠀⠀</a:t>
            </a:r>
            <a:endParaRPr sz="900">
              <a:solidFill>
                <a:srgbClr val="D4D4D4"/>
              </a:solidFill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534125" y="3461625"/>
            <a:ext cx="56361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const </a:t>
            </a:r>
            <a:r>
              <a:rPr lang="es" sz="1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CAUSAS</a:t>
            </a: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= </a:t>
            </a:r>
            <a:r>
              <a:rPr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[</a:t>
            </a:r>
            <a:endParaRPr b="0" sz="1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atención finita</a:t>
            </a: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b="0" sz="1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publicidad dirigida</a:t>
            </a: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", </a:t>
            </a:r>
            <a:r>
              <a:rPr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"falta de fricción", "deceptive patterns", "capitalismo", "economía de la atención", "mecanismos biológicos", "usabilidad"</a:t>
            </a:r>
            <a:endParaRPr b="0" sz="1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]</a:t>
            </a: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b="0" sz="12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534125" y="379200"/>
            <a:ext cx="48885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const </a:t>
            </a:r>
            <a:r>
              <a:rPr lang="es" sz="1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CONSECUENCIAS</a:t>
            </a: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= [</a:t>
            </a:r>
            <a:endParaRPr b="0" sz="1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normalización deceptive patterns</a:t>
            </a: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b="0" sz="1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intolerancia al aburrimiento</a:t>
            </a:r>
            <a:r>
              <a:rPr b="0"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", </a:t>
            </a:r>
            <a:r>
              <a:rPr lang="es" sz="1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"uso inconsciente", "spam de atención reducido", "adicción a las rrss"</a:t>
            </a:r>
            <a:endParaRPr b="0" sz="1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];</a:t>
            </a:r>
            <a:endParaRPr b="0" sz="12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534125" y="1920425"/>
            <a:ext cx="56361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const </a:t>
            </a:r>
            <a:r>
              <a:rPr b="1" lang="es" sz="1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PROBLEMA</a:t>
            </a:r>
            <a:r>
              <a:rPr b="1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= [</a:t>
            </a:r>
            <a:endParaRPr b="1" sz="1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4287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b="1" lang="es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Personas en Chile con uso problemático de dispositivos móviles presentan dificultades para regular su tiempo en pantalla, afectando su bienestar y desempeño diario.</a:t>
            </a:r>
            <a:r>
              <a:rPr b="1" lang="es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endParaRPr b="1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];</a:t>
            </a:r>
            <a:endParaRPr b="1" sz="12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</a:t>
            </a: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HIPÓTESIS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87" name="Google Shape;87;p19"/>
          <p:cNvSpPr/>
          <p:nvPr/>
        </p:nvSpPr>
        <p:spPr>
          <a:xfrm>
            <a:off x="509700" y="1220525"/>
            <a:ext cx="8124600" cy="27009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"/>
          <p:cNvSpPr txBox="1"/>
          <p:nvPr/>
        </p:nvSpPr>
        <p:spPr>
          <a:xfrm>
            <a:off x="795450" y="1619250"/>
            <a:ext cx="7573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lang="es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HIPÓTESIS</a:t>
            </a:r>
            <a:r>
              <a:rPr lang="es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>
                <a:solidFill>
                  <a:schemeClr val="lt2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8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El diseño de un sistema de </a:t>
            </a:r>
            <a:r>
              <a:rPr lang="es" sz="18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navegación</a:t>
            </a:r>
            <a:r>
              <a:rPr lang="es" sz="18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 de dispositivos móviles táctiles, que permita la manipulación de estos dispositivos sin necesidad de mantener atención visual, permitirá a personas chilenas con uso problemático del celular disminuir el tiempo de uso no intencional</a:t>
            </a:r>
            <a:r>
              <a:rPr lang="es" sz="2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2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2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HIPOTESIS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509700" y="1220525"/>
            <a:ext cx="8124600" cy="27009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0"/>
          <p:cNvSpPr txBox="1"/>
          <p:nvPr/>
        </p:nvSpPr>
        <p:spPr>
          <a:xfrm>
            <a:off x="795450" y="1619250"/>
            <a:ext cx="7573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9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b="0" lang="es" sz="119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HIPÓTESIS </a:t>
            </a:r>
            <a:r>
              <a:rPr b="0" lang="es" sz="1190">
                <a:solidFill>
                  <a:srgbClr val="EEEEEE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b="0" sz="1190">
              <a:solidFill>
                <a:srgbClr val="569CD6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87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b="0" lang="es" sz="153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Si se diseña un sistema de navegación para dispositivos móviles táctiles que introduzca</a:t>
            </a:r>
            <a:r>
              <a:rPr b="0" lang="es" sz="153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 </a:t>
            </a:r>
            <a:r>
              <a:rPr b="1" lang="es" sz="1530" u="sng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fricción sensorial deliberada</a:t>
            </a:r>
            <a:r>
              <a:rPr b="0" lang="es" sz="153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, entonces las personas chilenas con uso problemático del celular recuperarán agencia sobre su comportamiento, disminuyendo significativamente el tiempo de uso no intencional</a:t>
            </a:r>
            <a:r>
              <a:rPr b="0" lang="es" sz="187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b="0" lang="es" sz="187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b="0" sz="1190">
              <a:solidFill>
                <a:srgbClr val="569CD6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OBJETIVO_GENERAL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381000" y="915725"/>
            <a:ext cx="8382000" cy="18084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1"/>
          <p:cNvSpPr/>
          <p:nvPr/>
        </p:nvSpPr>
        <p:spPr>
          <a:xfrm>
            <a:off x="381000" y="2929350"/>
            <a:ext cx="2483400" cy="18084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 txBox="1"/>
          <p:nvPr/>
        </p:nvSpPr>
        <p:spPr>
          <a:xfrm>
            <a:off x="468250" y="3166325"/>
            <a:ext cx="22806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</a:t>
            </a:r>
            <a:r>
              <a:rPr lang="es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0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OBJETIVO_ESPECIFICO_1</a:t>
            </a:r>
            <a:r>
              <a:rPr lang="es" sz="1000">
                <a:solidFill>
                  <a:schemeClr val="lt2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sz="1000"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0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Analizar la anatomía y capacidades motrices de la mano y muñeca para d</a:t>
            </a:r>
            <a:r>
              <a:rPr lang="es" sz="10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efinir un conjunto de gestos y combinaciones viables para la navegación en dispositivos móviles. </a:t>
            </a:r>
            <a:r>
              <a:rPr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0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3052025" y="2929350"/>
            <a:ext cx="3044700" cy="18084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/>
        </p:nvSpPr>
        <p:spPr>
          <a:xfrm>
            <a:off x="3172450" y="3136750"/>
            <a:ext cx="28206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lang="es" sz="10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OBJETIVO_ESPECIFICO_2</a:t>
            </a:r>
            <a:r>
              <a:rPr lang="es" sz="1000">
                <a:solidFill>
                  <a:schemeClr val="lt2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sz="1000"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0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Analizar los patrones lingüísticos y fonéticos del español en Chile para definir un sistema de entrada gestual basado en unidades fonéticas, que minimice la cantidad de gestos requeridos.</a:t>
            </a:r>
            <a:r>
              <a:rPr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0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6279600" y="2958950"/>
            <a:ext cx="2483400" cy="18084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/>
        </p:nvSpPr>
        <p:spPr>
          <a:xfrm>
            <a:off x="6366850" y="3166325"/>
            <a:ext cx="22806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lang="es" sz="10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OBJETIVO_ESPECIFICO_3</a:t>
            </a:r>
            <a:r>
              <a:rPr lang="es" sz="1000">
                <a:solidFill>
                  <a:schemeClr val="lt2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sz="1000"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0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Diseñar un sistema de retroalimentación auditiva u háptica que permita transmitir información de manera rápida y comprensible sin depender de la visión. </a:t>
            </a:r>
            <a:r>
              <a:rPr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0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637050" y="819150"/>
            <a:ext cx="7869900" cy="18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lang="es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OBJETIVO_GENERAL</a:t>
            </a:r>
            <a:r>
              <a:rPr lang="es">
                <a:solidFill>
                  <a:schemeClr val="lt2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600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Diseñar una interfaz de navegación para dispositivos móviles que permita su uso sin atención visual constante. Reduciendo la exposición a estímulos que fomentan el uso impulsivo, favoreciendo el uso autónomo. </a:t>
            </a:r>
            <a:r>
              <a:rPr lang="es" sz="16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16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6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/>
        </p:nvSpPr>
        <p:spPr>
          <a:xfrm>
            <a:off x="381000" y="285750"/>
            <a:ext cx="368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s" sz="165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REFERENTE: TAP STRAP 2</a:t>
            </a:r>
            <a:endParaRPr b="1" sz="165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381000" y="857250"/>
            <a:ext cx="4191000" cy="1428900"/>
          </a:xfrm>
          <a:prstGeom prst="roundRect">
            <a:avLst>
              <a:gd fmla="val 1904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/>
        </p:nvSpPr>
        <p:spPr>
          <a:xfrm>
            <a:off x="523875" y="1000125"/>
            <a:ext cx="36888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</a:t>
            </a:r>
            <a:r>
              <a:rPr b="0" lang="es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QUE_ES </a:t>
            </a:r>
            <a:r>
              <a:rPr b="0" lang="es">
                <a:solidFill>
                  <a:srgbClr val="EEEEEE"/>
                </a:solidFill>
                <a:latin typeface="DM Mono"/>
                <a:ea typeface="DM Mono"/>
                <a:cs typeface="DM Mono"/>
                <a:sym typeface="DM Mono"/>
              </a:rPr>
              <a:t>= </a:t>
            </a:r>
            <a:endParaRPr b="0">
              <a:solidFill>
                <a:srgbClr val="EEEEEE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Dispositivo wearable que convierte los dedos en un teclado/trackpad mediante gestos. </a:t>
            </a:r>
            <a:endParaRPr b="0"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381000" y="2476650"/>
            <a:ext cx="4191000" cy="2241600"/>
          </a:xfrm>
          <a:prstGeom prst="roundRect">
            <a:avLst>
              <a:gd fmla="val 1904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381075" y="2631525"/>
            <a:ext cx="4039200" cy="20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b="0" lang="es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MATERIALIDAD_Y_LOGICA</a:t>
            </a:r>
            <a:r>
              <a:rPr b="0" lang="es">
                <a:solidFill>
                  <a:srgbClr val="EEEEEE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b="0">
              <a:solidFill>
                <a:srgbClr val="569CD6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CE9178"/>
              </a:buClr>
              <a:buSzPts val="1400"/>
              <a:buFont typeface="DM Mono"/>
              <a:buChar char="●"/>
            </a:pPr>
            <a:r>
              <a:rPr b="0"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Módulos con sensores de movimiento y presión </a:t>
            </a: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en los dedos.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17500" lvl="0" marL="457200" rtl="0" algn="l">
              <a:spcBef>
                <a:spcPts val="150"/>
              </a:spcBef>
              <a:spcAft>
                <a:spcPts val="0"/>
              </a:spcAft>
              <a:buClr>
                <a:srgbClr val="CE9178"/>
              </a:buClr>
              <a:buSzPts val="1400"/>
              <a:buFont typeface="DM Mono"/>
              <a:buChar char="●"/>
            </a:pPr>
            <a:r>
              <a:rPr b="0"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F</a:t>
            </a:r>
            <a:r>
              <a:rPr b="0"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eedback háptico (vibración)</a:t>
            </a:r>
            <a:endParaRPr b="0"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17500" lvl="0" marL="457200" rtl="0" algn="l">
              <a:spcBef>
                <a:spcPts val="150"/>
              </a:spcBef>
              <a:spcAft>
                <a:spcPts val="0"/>
              </a:spcAft>
              <a:buClr>
                <a:srgbClr val="CE9178"/>
              </a:buClr>
              <a:buSzPts val="1400"/>
              <a:buFont typeface="DM Mono Medium"/>
              <a:buChar char="●"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Tamaño: 31x33x213mm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17500" lvl="0" marL="457200" rtl="0" algn="l">
              <a:spcBef>
                <a:spcPts val="150"/>
              </a:spcBef>
              <a:spcAft>
                <a:spcPts val="150"/>
              </a:spcAft>
              <a:buClr>
                <a:srgbClr val="CE9178"/>
              </a:buClr>
              <a:buSzPts val="1400"/>
              <a:buFont typeface="DM Mono Medium"/>
              <a:buChar char="●"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Peso: 50g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116" name="Google Shape;116;p22"/>
          <p:cNvSpPr/>
          <p:nvPr/>
        </p:nvSpPr>
        <p:spPr>
          <a:xfrm>
            <a:off x="4737150" y="2571750"/>
            <a:ext cx="4126500" cy="2146500"/>
          </a:xfrm>
          <a:prstGeom prst="roundRect">
            <a:avLst>
              <a:gd fmla="val 2222" name="adj"/>
            </a:avLst>
          </a:prstGeom>
          <a:solidFill>
            <a:srgbClr val="252526">
              <a:alpha val="9000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4956000" y="2838900"/>
            <a:ext cx="36888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lang="es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USO</a:t>
            </a:r>
            <a:r>
              <a:rPr b="0" lang="es">
                <a:solidFill>
                  <a:srgbClr val="EEEEEE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Se usa colocándolo en los dedos, reconoce gestos y toques, permitiendo escribir en dispositivos digitales mediante movimientos de la mano sin necesidad de pantalla o teclado.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 rotWithShape="1">
          <a:blip r:embed="rId4">
            <a:alphaModFix/>
          </a:blip>
          <a:srcRect b="0" l="0" r="0" t="56028"/>
          <a:stretch/>
        </p:blipFill>
        <p:spPr>
          <a:xfrm>
            <a:off x="4833850" y="857250"/>
            <a:ext cx="3933000" cy="1526400"/>
          </a:xfrm>
          <a:prstGeom prst="roundRect">
            <a:avLst>
              <a:gd fmla="val 376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381000" y="285750"/>
            <a:ext cx="493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REFERENTE: THINKING, FAST AND SLOW</a:t>
            </a:r>
            <a:endParaRPr b="1" sz="165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381000" y="857250"/>
            <a:ext cx="4191000" cy="1428900"/>
          </a:xfrm>
          <a:prstGeom prst="roundRect">
            <a:avLst>
              <a:gd fmla="val 2000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523875" y="1000125"/>
            <a:ext cx="390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b="0" lang="es" sz="14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QUE_ES</a:t>
            </a:r>
            <a:r>
              <a:rPr b="0" lang="es" sz="14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1400">
                <a:solidFill>
                  <a:srgbClr val="EEEEEE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b="0" sz="1400">
              <a:solidFill>
                <a:srgbClr val="569CD6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Libro que explica cómo las personas toman decisiones a través de dos sistemas: uno automático e inconsciente (Sistema 1) y otro deliberado y consciente (Sistema 2). </a:t>
            </a:r>
            <a:endParaRPr b="0" sz="1400"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381000" y="2476500"/>
            <a:ext cx="4191000" cy="2238300"/>
          </a:xfrm>
          <a:prstGeom prst="roundRect">
            <a:avLst>
              <a:gd fmla="val 1914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/>
        </p:nvSpPr>
        <p:spPr>
          <a:xfrm>
            <a:off x="523875" y="2619375"/>
            <a:ext cx="3905400" cy="19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b="0" lang="es" sz="14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MATERIALIDAD_Y_LOGICA</a:t>
            </a:r>
            <a:r>
              <a:rPr b="0" lang="es" sz="14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1400">
                <a:solidFill>
                  <a:srgbClr val="EEEEEE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b="0" sz="1400">
              <a:solidFill>
                <a:srgbClr val="569CD6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400"/>
              <a:buFont typeface="DM Mono"/>
              <a:buChar char="●"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Sistema 1: rápido, automático, sin esfuerzo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CE9178"/>
              </a:buClr>
              <a:buSzPts val="1400"/>
              <a:buFont typeface="DM Mono"/>
              <a:buChar char="●"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Sistema 2: lento, analítico, requiere atención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CE9178"/>
              </a:buClr>
              <a:buSzPts val="1400"/>
              <a:buFont typeface="DM Mono"/>
              <a:buChar char="●"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Predominio del Sistema 1 en la vida cotidiana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400"/>
              </a:spcAft>
              <a:buClr>
                <a:srgbClr val="CE9178"/>
              </a:buClr>
              <a:buSzPts val="1400"/>
              <a:buFont typeface="DM Mono"/>
              <a:buChar char="●"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Bajo esfuerzo cognitivo = mayor automatización</a:t>
            </a:r>
            <a:endParaRPr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4733925" y="2571750"/>
            <a:ext cx="4124400" cy="2143200"/>
          </a:xfrm>
          <a:prstGeom prst="roundRect">
            <a:avLst>
              <a:gd fmla="val 2222" name="adj"/>
            </a:avLst>
          </a:prstGeom>
          <a:solidFill>
            <a:srgbClr val="252526">
              <a:alpha val="9000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4953000" y="2838450"/>
            <a:ext cx="3686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b="0" lang="es" sz="14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USO</a:t>
            </a:r>
            <a:r>
              <a:rPr b="0" lang="es" sz="14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1400">
                <a:solidFill>
                  <a:srgbClr val="EEEEEE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b="0" sz="1400">
              <a:solidFill>
                <a:srgbClr val="569CD6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CE9178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Se aplica para entender cómo los usuarios interactúan con interfaces digitales de forma automática, sin reflexión consciente, permitiendo identificar puntos donde introducir fricción para activar el pensamiento deliberado. </a:t>
            </a:r>
            <a:endParaRPr b="0" sz="1400">
              <a:solidFill>
                <a:srgbClr val="CE9178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4">
            <a:alphaModFix/>
          </a:blip>
          <a:srcRect b="30430" l="0" r="0" t="11352"/>
          <a:stretch/>
        </p:blipFill>
        <p:spPr>
          <a:xfrm>
            <a:off x="4829175" y="857250"/>
            <a:ext cx="3933900" cy="1524000"/>
          </a:xfrm>
          <a:prstGeom prst="roundRect">
            <a:avLst>
              <a:gd fmla="val 5025" name="adj"/>
            </a:avLst>
          </a:prstGeom>
          <a:solidFill>
            <a:srgbClr val="1E1E1E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0" y="285750"/>
            <a:ext cx="368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s" sz="1665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REFERENTE: LIGHT PHONE 2</a:t>
            </a:r>
            <a:endParaRPr b="1" sz="1665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grpSp>
        <p:nvGrpSpPr>
          <p:cNvPr id="135" name="Google Shape;135;p24"/>
          <p:cNvGrpSpPr/>
          <p:nvPr/>
        </p:nvGrpSpPr>
        <p:grpSpPr>
          <a:xfrm>
            <a:off x="381000" y="857250"/>
            <a:ext cx="4191000" cy="1428900"/>
            <a:chOff x="381000" y="857250"/>
            <a:chExt cx="4191000" cy="1428900"/>
          </a:xfrm>
        </p:grpSpPr>
        <p:sp>
          <p:nvSpPr>
            <p:cNvPr id="136" name="Google Shape;136;p24"/>
            <p:cNvSpPr/>
            <p:nvPr/>
          </p:nvSpPr>
          <p:spPr>
            <a:xfrm>
              <a:off x="381000" y="857250"/>
              <a:ext cx="4191000" cy="1428900"/>
            </a:xfrm>
            <a:prstGeom prst="roundRect">
              <a:avLst>
                <a:gd fmla="val 2000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4"/>
            <p:cNvSpPr txBox="1"/>
            <p:nvPr/>
          </p:nvSpPr>
          <p:spPr>
            <a:xfrm>
              <a:off x="523875" y="1000125"/>
              <a:ext cx="3686100" cy="10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4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String </a:t>
              </a:r>
              <a:r>
                <a:rPr b="0" lang="es" sz="14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QUE_ES </a:t>
              </a:r>
              <a:r>
                <a:rPr b="0" lang="es" sz="1400">
                  <a:solidFill>
                    <a:srgbClr val="EEEEEE"/>
                  </a:solidFill>
                  <a:latin typeface="DM Mono"/>
                  <a:ea typeface="DM Mono"/>
                  <a:cs typeface="DM Mono"/>
                  <a:sym typeface="DM Mono"/>
                </a:rPr>
                <a:t>=</a:t>
              </a:r>
              <a:endParaRPr b="0" sz="1400"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s" sz="14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Teléfono premium, minimalista y de "tecnología calma" diseñado para ser usado lo menos posible.</a:t>
              </a:r>
              <a:endParaRPr b="0" sz="14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38" name="Google Shape;138;p24"/>
          <p:cNvGrpSpPr/>
          <p:nvPr/>
        </p:nvGrpSpPr>
        <p:grpSpPr>
          <a:xfrm>
            <a:off x="381000" y="2476500"/>
            <a:ext cx="4191000" cy="2238300"/>
            <a:chOff x="381000" y="2476500"/>
            <a:chExt cx="4191000" cy="2238300"/>
          </a:xfrm>
        </p:grpSpPr>
        <p:sp>
          <p:nvSpPr>
            <p:cNvPr id="139" name="Google Shape;139;p24"/>
            <p:cNvSpPr/>
            <p:nvPr/>
          </p:nvSpPr>
          <p:spPr>
            <a:xfrm>
              <a:off x="381000" y="2476500"/>
              <a:ext cx="4191000" cy="2238300"/>
            </a:xfrm>
            <a:prstGeom prst="roundRect">
              <a:avLst>
                <a:gd fmla="val 1702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4"/>
            <p:cNvSpPr txBox="1"/>
            <p:nvPr/>
          </p:nvSpPr>
          <p:spPr>
            <a:xfrm>
              <a:off x="523875" y="2628900"/>
              <a:ext cx="3686100" cy="20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4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String </a:t>
              </a:r>
              <a:r>
                <a:rPr b="0" lang="es" sz="14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MATERIALIDAD_Y_LOGICA</a:t>
              </a:r>
              <a:r>
                <a:rPr b="0" lang="es" sz="1400">
                  <a:solidFill>
                    <a:srgbClr val="EEEEEE"/>
                  </a:solidFill>
                  <a:latin typeface="DM Mono"/>
                  <a:ea typeface="DM Mono"/>
                  <a:cs typeface="DM Mono"/>
                  <a:sym typeface="DM Mono"/>
                </a:rPr>
                <a:t>=</a:t>
              </a:r>
              <a:endParaRPr b="0" sz="1400">
                <a:latin typeface="DM Mono"/>
                <a:ea typeface="DM Mono"/>
                <a:cs typeface="DM Mono"/>
                <a:sym typeface="DM Mono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E9178"/>
                </a:buClr>
                <a:buSzPts val="1400"/>
                <a:buFont typeface="DM Mono"/>
                <a:buChar char="●"/>
              </a:pPr>
              <a:r>
                <a:rPr b="0" lang="es" sz="14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Pantalla de tinta electrónica (E-ink) sin luz azul.</a:t>
              </a:r>
              <a:endParaRPr b="0" sz="14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3175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1400"/>
                <a:buFont typeface="DM Mono"/>
                <a:buChar char="●"/>
              </a:pPr>
              <a:r>
                <a:rPr b="0" lang="es" sz="14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Cuerpo de policarbonato mate.</a:t>
              </a:r>
              <a:endParaRPr b="0" sz="14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3175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1400"/>
                <a:buFont typeface="DM Mono"/>
                <a:buChar char="●"/>
              </a:pPr>
              <a:r>
                <a:rPr b="0" lang="es" sz="14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Batería de larga duración (días).</a:t>
              </a:r>
              <a:endParaRPr b="0" sz="14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31750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E9178"/>
                </a:buClr>
                <a:buSzPts val="1400"/>
                <a:buFont typeface="DM Mono"/>
                <a:buChar char="●"/>
              </a:pPr>
              <a:r>
                <a:rPr b="0" lang="es" sz="14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Conectividad 4G, WiFi y GPS.</a:t>
              </a:r>
              <a:endParaRPr b="0" sz="14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41" name="Google Shape;141;p24"/>
          <p:cNvGrpSpPr/>
          <p:nvPr/>
        </p:nvGrpSpPr>
        <p:grpSpPr>
          <a:xfrm>
            <a:off x="4733925" y="2571750"/>
            <a:ext cx="4124400" cy="2143200"/>
            <a:chOff x="4733925" y="2571750"/>
            <a:chExt cx="4124400" cy="2143200"/>
          </a:xfrm>
        </p:grpSpPr>
        <p:sp>
          <p:nvSpPr>
            <p:cNvPr id="142" name="Google Shape;142;p24"/>
            <p:cNvSpPr/>
            <p:nvPr/>
          </p:nvSpPr>
          <p:spPr>
            <a:xfrm>
              <a:off x="4733925" y="2571750"/>
              <a:ext cx="4124400" cy="2143200"/>
            </a:xfrm>
            <a:prstGeom prst="roundRect">
              <a:avLst>
                <a:gd fmla="val 2222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4"/>
            <p:cNvSpPr txBox="1"/>
            <p:nvPr/>
          </p:nvSpPr>
          <p:spPr>
            <a:xfrm>
              <a:off x="4953000" y="2838450"/>
              <a:ext cx="36861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4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String </a:t>
              </a:r>
              <a:r>
                <a:rPr b="0" lang="es" sz="14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USO</a:t>
              </a:r>
              <a:r>
                <a:rPr b="0" lang="es" sz="1400">
                  <a:solidFill>
                    <a:srgbClr val="EEEEEE"/>
                  </a:solidFill>
                  <a:latin typeface="DM Mono"/>
                  <a:ea typeface="DM Mono"/>
                  <a:cs typeface="DM Mono"/>
                  <a:sym typeface="DM Mono"/>
                </a:rPr>
                <a:t>=</a:t>
              </a:r>
              <a:endParaRPr b="0" sz="1400"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s" sz="14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Elimina redes sociales, noticias y navegadores. Solo incluye herramientas esenciales (llamadas, mensajes, música, mapas) para fomentar la presencia y reducir la fatiga digital.</a:t>
              </a:r>
              <a:endParaRPr b="0" sz="14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pic>
        <p:nvPicPr>
          <p:cNvPr id="144" name="Google Shape;144;p24"/>
          <p:cNvPicPr preferRelativeResize="0"/>
          <p:nvPr/>
        </p:nvPicPr>
        <p:blipFill rotWithShape="1">
          <a:blip r:embed="rId3">
            <a:alphaModFix/>
          </a:blip>
          <a:srcRect b="27264" l="0" r="0" t="15911"/>
          <a:stretch/>
        </p:blipFill>
        <p:spPr>
          <a:xfrm>
            <a:off x="4700625" y="857250"/>
            <a:ext cx="41910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PROJECT_PLANNING :: SYSTEM_ARCHITECTURE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81000" y="619125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/* Esquema específico de pasos y criterios de diseño */</a:t>
            </a:r>
            <a:endParaRPr b="0" sz="10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grpSp>
        <p:nvGrpSpPr>
          <p:cNvPr id="151" name="Google Shape;151;p25"/>
          <p:cNvGrpSpPr/>
          <p:nvPr/>
        </p:nvGrpSpPr>
        <p:grpSpPr>
          <a:xfrm>
            <a:off x="381000" y="1047750"/>
            <a:ext cx="1524000" cy="3238500"/>
            <a:chOff x="0" y="0"/>
            <a:chExt cx="1524000" cy="3238500"/>
          </a:xfrm>
        </p:grpSpPr>
        <p:sp>
          <p:nvSpPr>
            <p:cNvPr id="152" name="Google Shape;152;p25"/>
            <p:cNvSpPr/>
            <p:nvPr/>
          </p:nvSpPr>
          <p:spPr>
            <a:xfrm>
              <a:off x="0" y="0"/>
              <a:ext cx="1524000" cy="3238500"/>
            </a:xfrm>
            <a:prstGeom prst="roundRect">
              <a:avLst>
                <a:gd fmla="val 2500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5"/>
            <p:cNvSpPr txBox="1"/>
            <p:nvPr/>
          </p:nvSpPr>
          <p:spPr>
            <a:xfrm>
              <a:off x="95250" y="14287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AGOSTO</a:t>
              </a:r>
              <a:endParaRPr b="1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54" name="Google Shape;154;p25"/>
            <p:cNvSpPr txBox="1"/>
            <p:nvPr/>
          </p:nvSpPr>
          <p:spPr>
            <a:xfrm>
              <a:off x="95250" y="428625"/>
              <a:ext cx="1333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Investigación</a:t>
              </a:r>
              <a:endParaRPr b="1" sz="12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Análisis uso problemático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Estudio dopamina y diseño persuasivo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Definición de usuario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Revisión referentes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55" name="Google Shape;155;p25"/>
          <p:cNvGrpSpPr/>
          <p:nvPr/>
        </p:nvGrpSpPr>
        <p:grpSpPr>
          <a:xfrm>
            <a:off x="2095500" y="1047750"/>
            <a:ext cx="1524000" cy="3238500"/>
            <a:chOff x="0" y="0"/>
            <a:chExt cx="1524000" cy="3238500"/>
          </a:xfrm>
        </p:grpSpPr>
        <p:sp>
          <p:nvSpPr>
            <p:cNvPr id="156" name="Google Shape;156;p25"/>
            <p:cNvSpPr/>
            <p:nvPr/>
          </p:nvSpPr>
          <p:spPr>
            <a:xfrm>
              <a:off x="0" y="0"/>
              <a:ext cx="1524000" cy="3238500"/>
            </a:xfrm>
            <a:prstGeom prst="roundRect">
              <a:avLst>
                <a:gd fmla="val 2500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5"/>
            <p:cNvSpPr txBox="1"/>
            <p:nvPr/>
          </p:nvSpPr>
          <p:spPr>
            <a:xfrm>
              <a:off x="95250" y="14287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SEPTIEMBRE</a:t>
              </a:r>
              <a:endParaRPr b="1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58" name="Google Shape;158;p25"/>
            <p:cNvSpPr txBox="1"/>
            <p:nvPr/>
          </p:nvSpPr>
          <p:spPr>
            <a:xfrm>
              <a:off x="95250" y="428625"/>
              <a:ext cx="1333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Sistemas</a:t>
              </a:r>
              <a:endParaRPr b="1" sz="12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Variables críticas (adicción)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Fricción ética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Datos a representar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Diagramas interacción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59" name="Google Shape;159;p25"/>
          <p:cNvGrpSpPr/>
          <p:nvPr/>
        </p:nvGrpSpPr>
        <p:grpSpPr>
          <a:xfrm>
            <a:off x="3810000" y="1047750"/>
            <a:ext cx="1524000" cy="3238500"/>
            <a:chOff x="0" y="0"/>
            <a:chExt cx="1524000" cy="3238500"/>
          </a:xfrm>
        </p:grpSpPr>
        <p:sp>
          <p:nvSpPr>
            <p:cNvPr id="160" name="Google Shape;160;p25"/>
            <p:cNvSpPr/>
            <p:nvPr/>
          </p:nvSpPr>
          <p:spPr>
            <a:xfrm>
              <a:off x="0" y="0"/>
              <a:ext cx="1524000" cy="3238500"/>
            </a:xfrm>
            <a:prstGeom prst="roundRect">
              <a:avLst>
                <a:gd fmla="val 2500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5"/>
            <p:cNvSpPr txBox="1"/>
            <p:nvPr/>
          </p:nvSpPr>
          <p:spPr>
            <a:xfrm>
              <a:off x="95250" y="14287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OCTUBRE</a:t>
              </a:r>
              <a:endParaRPr b="1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62" name="Google Shape;162;p25"/>
            <p:cNvSpPr txBox="1"/>
            <p:nvPr/>
          </p:nvSpPr>
          <p:spPr>
            <a:xfrm>
              <a:off x="95250" y="428625"/>
              <a:ext cx="1333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Exploración</a:t>
              </a:r>
              <a:endParaRPr b="1" sz="12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Bocetos interfaz física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Pruebas materiales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Mecanismos de bloqueo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Prototipos baja-fi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63" name="Google Shape;163;p25"/>
          <p:cNvGrpSpPr/>
          <p:nvPr/>
        </p:nvGrpSpPr>
        <p:grpSpPr>
          <a:xfrm>
            <a:off x="5524500" y="1047750"/>
            <a:ext cx="1524000" cy="3238500"/>
            <a:chOff x="0" y="0"/>
            <a:chExt cx="1524000" cy="3238500"/>
          </a:xfrm>
        </p:grpSpPr>
        <p:sp>
          <p:nvSpPr>
            <p:cNvPr id="164" name="Google Shape;164;p25"/>
            <p:cNvSpPr/>
            <p:nvPr/>
          </p:nvSpPr>
          <p:spPr>
            <a:xfrm>
              <a:off x="0" y="0"/>
              <a:ext cx="1524000" cy="3238500"/>
            </a:xfrm>
            <a:prstGeom prst="roundRect">
              <a:avLst>
                <a:gd fmla="val 2500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5"/>
            <p:cNvSpPr txBox="1"/>
            <p:nvPr/>
          </p:nvSpPr>
          <p:spPr>
            <a:xfrm>
              <a:off x="95250" y="14287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NOVIEMBRE</a:t>
              </a:r>
              <a:endParaRPr b="1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66" name="Google Shape;166;p25"/>
            <p:cNvSpPr txBox="1"/>
            <p:nvPr/>
          </p:nvSpPr>
          <p:spPr>
            <a:xfrm>
              <a:off x="95250" y="428625"/>
              <a:ext cx="1333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Validación</a:t>
              </a:r>
              <a:endParaRPr b="1" sz="12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Prototipo funcional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Integración física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Testeo usuarios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Iteraciones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67" name="Google Shape;167;p25"/>
          <p:cNvGrpSpPr/>
          <p:nvPr/>
        </p:nvGrpSpPr>
        <p:grpSpPr>
          <a:xfrm>
            <a:off x="7239000" y="1047750"/>
            <a:ext cx="1524000" cy="3238500"/>
            <a:chOff x="0" y="0"/>
            <a:chExt cx="1524000" cy="3238500"/>
          </a:xfrm>
        </p:grpSpPr>
        <p:sp>
          <p:nvSpPr>
            <p:cNvPr id="168" name="Google Shape;168;p25"/>
            <p:cNvSpPr/>
            <p:nvPr/>
          </p:nvSpPr>
          <p:spPr>
            <a:xfrm>
              <a:off x="0" y="0"/>
              <a:ext cx="1524000" cy="3238500"/>
            </a:xfrm>
            <a:prstGeom prst="roundRect">
              <a:avLst>
                <a:gd fmla="val 2500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5"/>
            <p:cNvSpPr txBox="1"/>
            <p:nvPr/>
          </p:nvSpPr>
          <p:spPr>
            <a:xfrm>
              <a:off x="95250" y="14287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DICIEMBRE</a:t>
              </a:r>
              <a:endParaRPr b="1" sz="10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70" name="Google Shape;170;p25"/>
            <p:cNvSpPr txBox="1"/>
            <p:nvPr/>
          </p:nvSpPr>
          <p:spPr>
            <a:xfrm>
              <a:off x="95250" y="428625"/>
              <a:ext cx="1333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Cierre</a:t>
              </a:r>
              <a:endParaRPr b="1" sz="12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Ajustes finales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Evaluación impacto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Documentación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E9178"/>
                </a:buClr>
                <a:buSzPts val="850"/>
                <a:buFont typeface="DM Mono"/>
                <a:buChar char="●"/>
              </a:pPr>
              <a:r>
                <a:rPr b="0" lang="es" sz="85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Entrega final</a:t>
              </a:r>
              <a:endParaRPr b="0" sz="85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sp>
        <p:nvSpPr>
          <p:cNvPr id="171" name="Google Shape;171;p25"/>
          <p:cNvSpPr/>
          <p:nvPr/>
        </p:nvSpPr>
        <p:spPr>
          <a:xfrm>
            <a:off x="381000" y="4572000"/>
            <a:ext cx="2095500" cy="228600"/>
          </a:xfrm>
          <a:prstGeom prst="roundRect">
            <a:avLst>
              <a:gd fmla="val 50000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381000" y="45720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8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PLAN_STATUS: SEQUENTIAL_LOG</a:t>
            </a:r>
            <a:endParaRPr b="0" sz="800">
              <a:solidFill>
                <a:srgbClr val="00FF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2667000" y="4572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9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// DEBUG: roadmap_logic.sh | UTF-8 | SOURCE: SANTIAGO GAETE</a:t>
            </a:r>
            <a:endParaRPr b="0" sz="9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762000" y="381000"/>
            <a:ext cx="7620000" cy="3810000"/>
          </a:xfrm>
          <a:prstGeom prst="roundRect">
            <a:avLst>
              <a:gd fmla="val 2500" name="adj"/>
            </a:avLst>
          </a:prstGeom>
          <a:solidFill>
            <a:srgbClr val="252526">
              <a:alpha val="90000"/>
            </a:srgbClr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0" y="1714500"/>
            <a:ext cx="9144000" cy="1143000"/>
          </a:xfrm>
          <a:prstGeom prst="rect">
            <a:avLst/>
          </a:prstGeom>
          <a:solidFill>
            <a:srgbClr val="FF00FF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952500" y="7620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60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SYSTEM_SHUTDOWN</a:t>
            </a:r>
            <a:endParaRPr b="0" sz="6000">
              <a:solidFill>
                <a:srgbClr val="FF00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952500" y="1714500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400">
                <a:solidFill>
                  <a:srgbClr val="1E1E1E"/>
                </a:solidFill>
                <a:highlight>
                  <a:srgbClr val="FF00FF"/>
                </a:highlight>
                <a:latin typeface="DM Mono"/>
                <a:ea typeface="DM Mono"/>
                <a:cs typeface="DM Mono"/>
                <a:sym typeface="DM Mono"/>
              </a:rPr>
              <a:t>EOF: END_OF_INVESTIGATION</a:t>
            </a:r>
            <a:endParaRPr b="0" sz="2400">
              <a:solidFill>
                <a:srgbClr val="1E1E1E"/>
              </a:solidFill>
              <a:highlight>
                <a:srgbClr val="FF00FF"/>
              </a:highlight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1143000" y="2476500"/>
            <a:ext cx="685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/* PROCESSING FINAL ARTIFACTS... */</a:t>
            </a:r>
            <a:endParaRPr b="0" sz="10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&gt;&gt; status: 100% COMPLETE</a:t>
            </a:r>
            <a:endParaRPr b="0" sz="1000">
              <a:solidFill>
                <a:srgbClr val="CE9178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&gt;&gt; user_agency: RESTORED</a:t>
            </a:r>
            <a:endParaRPr b="0" sz="1000">
              <a:solidFill>
                <a:srgbClr val="9CDCFE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rPr>
              <a:t>&gt;&gt; interface_conflict: RESOLVED</a:t>
            </a:r>
            <a:endParaRPr b="0" sz="1000">
              <a:solidFill>
                <a:srgbClr val="DCDCAA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&gt;&gt; deployment: SUCCESSFUL</a:t>
            </a:r>
            <a:endParaRPr b="0" sz="1000">
              <a:solidFill>
                <a:srgbClr val="4EC9B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return new ThesisTransition(SantiagoGaete);</a:t>
            </a:r>
            <a:endParaRPr b="0" sz="1200">
              <a:solidFill>
                <a:srgbClr val="FF00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381000" y="4572000"/>
            <a:ext cx="2286000" cy="285900"/>
          </a:xfrm>
          <a:prstGeom prst="roundRect">
            <a:avLst>
              <a:gd fmla="val 50000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381000" y="45720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9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SESSION_TERMINATED: 0x00</a:t>
            </a:r>
            <a:endParaRPr b="0" sz="900">
              <a:solidFill>
                <a:srgbClr val="00FF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2857500" y="4572000"/>
            <a:ext cx="5905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| UTF-8 | TOTAL_SATURATION: MAX | SOURCE: SANTIAGO GAETE</a:t>
            </a:r>
            <a:endParaRPr b="0" sz="8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FF00FF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00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66988"/>
            <a:ext cx="90963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 title="outro-music-free-no-copyright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750" y="36131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