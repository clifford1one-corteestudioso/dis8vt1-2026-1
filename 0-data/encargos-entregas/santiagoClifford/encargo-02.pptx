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Iosevka Charon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osevkaCharon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osevkaCharonMono-italic.fntdata"/><Relationship Id="rId30" Type="http://schemas.openxmlformats.org/officeDocument/2006/relationships/font" Target="fonts/IosevkaCharon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IosevkaCharon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71ee8a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71ee8a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671ee8a1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671ee8a1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671ee8a1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671ee8a1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671ee8a1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671ee8a1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671ee8a1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671ee8a1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75e92b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675e92b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675e92b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675e92b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675e92b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675e92b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675e92b5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675e92b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675e92b5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675e92b5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675e92b5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675e92b5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675e92b5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675e92b5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675e92b5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675e92b5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675e92b5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675e92b5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675e92b5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675e92b5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675e92b5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675e92b5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675e92b58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675e92b58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675e92b58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675e92b58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675e92b58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675e92b58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675e92b58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675e92b58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675e92b58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675e92b5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675e92b58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675e92b5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2550" y="4181850"/>
            <a:ext cx="2885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encargo-02</a:t>
            </a:r>
            <a:endParaRPr sz="26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454725" y="311425"/>
            <a:ext cx="25533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santiago gaete fernández</a:t>
            </a:r>
            <a:endParaRPr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075" y="764425"/>
            <a:ext cx="3835648" cy="36146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82550" y="4181850"/>
            <a:ext cx="31998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el diseño ético de interfaces de dispositivos móviles</a:t>
            </a:r>
            <a:endParaRPr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12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869175" y="1553950"/>
            <a:ext cx="5219700" cy="1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3000"/>
              <a:buFont typeface="Iosevka Charon Mono"/>
              <a:buChar char="-"/>
            </a:pPr>
            <a:r>
              <a:rPr lang="es" sz="30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ÉTICA</a:t>
            </a:r>
            <a:endParaRPr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3000"/>
              <a:buFont typeface="Iosevka Charon Mono"/>
              <a:buChar char="-"/>
            </a:pPr>
            <a:r>
              <a:rPr lang="es" sz="30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DARK PATTERNS</a:t>
            </a:r>
            <a:endParaRPr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3000"/>
              <a:buFont typeface="Iosevka Charon Mono"/>
              <a:buChar char="-"/>
            </a:pPr>
            <a:r>
              <a:rPr lang="es" sz="30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NEUROCIENCIA/SICOLOGÍA</a:t>
            </a:r>
            <a:endParaRPr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869175" y="1553950"/>
            <a:ext cx="52197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1. </a:t>
            </a: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Defining, Classifying and Identifying Addictive Patterns in Digital Products</a:t>
            </a:r>
            <a:r>
              <a:rPr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 (Marta Beltrán)</a:t>
            </a:r>
            <a:endParaRPr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1869175" y="1553950"/>
            <a:ext cx="44328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2. The Gamer’s Brain (Celia Hodent)</a:t>
            </a:r>
            <a:endParaRPr i="1"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1869175" y="1553950"/>
            <a:ext cx="55782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3. Ethical Tensions in UX Design Practice (Sánchez Chamorro et al.)</a:t>
            </a:r>
            <a:endParaRPr i="1"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1869175" y="1567557"/>
            <a:ext cx="52197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WHO Guidelines on P</a:t>
            </a: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hysicial</a:t>
            </a: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 Activity, Sedentary  Behavior and Sleep.</a:t>
            </a:r>
            <a:endParaRPr i="1"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750" y="3847807"/>
            <a:ext cx="2322550" cy="5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1869175" y="1553950"/>
            <a:ext cx="52197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Ley de Servicios Digitales(DSA)</a:t>
            </a:r>
            <a:endParaRPr i="1"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884" y="3454747"/>
            <a:ext cx="1288275" cy="12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1869175" y="1553950"/>
            <a:ext cx="52197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Propuesta de Ley DETOUR - Mark R. Warner y Deb Fischer</a:t>
            </a:r>
            <a:endParaRPr i="1" sz="30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99" name="Google Shape;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4888" y="3456587"/>
            <a:ext cx="1288274" cy="1284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1869175" y="1553950"/>
            <a:ext cx="52197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entrevista semi-estructurada: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¿qué necesito saber?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/>
        </p:nvSpPr>
        <p:spPr>
          <a:xfrm>
            <a:off x="1869175" y="1553950"/>
            <a:ext cx="63162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i</a:t>
            </a: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dentificar componentes específicos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impactos en el comportamiento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impacto según edad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interfaces no adictivas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usabilidad vs </a:t>
            </a: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automatización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/>
        </p:nvSpPr>
        <p:spPr>
          <a:xfrm>
            <a:off x="1869175" y="1553950"/>
            <a:ext cx="53358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¿Por qué las recomendaciones de tiempo en pantalla de la OMS van aumentando a medida que el niñe crece?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/>
        </p:nvSpPr>
        <p:spPr>
          <a:xfrm>
            <a:off x="1869175" y="1553950"/>
            <a:ext cx="53358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¿Por qué, a pesar de las recomendaciones, muchos tutores siguen exponiendo a niñes a tiempos en pantalla excesivos?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/>
        </p:nvSpPr>
        <p:spPr>
          <a:xfrm>
            <a:off x="1869175" y="1553950"/>
            <a:ext cx="53358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Al diseñar</a:t>
            </a: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 interfaces dedicadas a la infancia,¿qué diferencias clave crees que estas deberían tener con las interfaces tradicionales?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/>
        </p:nvSpPr>
        <p:spPr>
          <a:xfrm>
            <a:off x="1869175" y="1553950"/>
            <a:ext cx="5996700" cy="21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2500"/>
              <a:buFont typeface="Iosevka Charon Mono"/>
              <a:buChar char="-"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¿qué diferencias puedes mencionar de las infancias del 2026, en comparación a infancia pre era digital?¿crees que la exposición a pantallas ha influido en ello?</a:t>
            </a:r>
            <a:endParaRPr i="1" sz="25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575" y="1551450"/>
            <a:ext cx="3484176" cy="204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4813" y="1551452"/>
            <a:ext cx="2040599" cy="204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 txBox="1"/>
          <p:nvPr/>
        </p:nvSpPr>
        <p:spPr>
          <a:xfrm>
            <a:off x="382550" y="4446200"/>
            <a:ext cx="2885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REFERENTES</a:t>
            </a:r>
            <a:endParaRPr sz="26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/>
        </p:nvSpPr>
        <p:spPr>
          <a:xfrm>
            <a:off x="382550" y="4446200"/>
            <a:ext cx="2885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REFERENTES</a:t>
            </a:r>
            <a:endParaRPr sz="26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4254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/>
        </p:nvSpPr>
        <p:spPr>
          <a:xfrm>
            <a:off x="382550" y="4446200"/>
            <a:ext cx="2885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REFERENTES</a:t>
            </a:r>
            <a:endParaRPr sz="26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148" name="Google Shape;1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112" y="1268550"/>
            <a:ext cx="4629774" cy="26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/>
        </p:nvSpPr>
        <p:spPr>
          <a:xfrm>
            <a:off x="382550" y="4446200"/>
            <a:ext cx="2885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REFERENTES</a:t>
            </a:r>
            <a:endParaRPr sz="26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154" name="Google Shape;1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7000" y="1120812"/>
            <a:ext cx="2969999" cy="290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/>
        </p:nvSpPr>
        <p:spPr>
          <a:xfrm>
            <a:off x="382550" y="4446200"/>
            <a:ext cx="2885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REFERENTES</a:t>
            </a:r>
            <a:endParaRPr sz="26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160" name="Google Shape;1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5450" y="918087"/>
            <a:ext cx="2593100" cy="330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/>
        </p:nvSpPr>
        <p:spPr>
          <a:xfrm>
            <a:off x="382550" y="4446200"/>
            <a:ext cx="28851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5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REFERENTES</a:t>
            </a:r>
            <a:endParaRPr sz="26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166" name="Google Shape;1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138" y="1601312"/>
            <a:ext cx="3711726" cy="19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34"/>
          <p:cNvCxnSpPr>
            <a:stCxn id="172" idx="2"/>
          </p:cNvCxnSpPr>
          <p:nvPr/>
        </p:nvCxnSpPr>
        <p:spPr>
          <a:xfrm>
            <a:off x="4572000" y="635075"/>
            <a:ext cx="0" cy="4055400"/>
          </a:xfrm>
          <a:prstGeom prst="straightConnector1">
            <a:avLst/>
          </a:prstGeom>
          <a:noFill/>
          <a:ln cap="flat" cmpd="sng" w="19050">
            <a:solidFill>
              <a:srgbClr val="FFE1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34"/>
          <p:cNvCxnSpPr/>
          <p:nvPr/>
        </p:nvCxnSpPr>
        <p:spPr>
          <a:xfrm>
            <a:off x="480300" y="2571750"/>
            <a:ext cx="8183400" cy="0"/>
          </a:xfrm>
          <a:prstGeom prst="straightConnector1">
            <a:avLst/>
          </a:prstGeom>
          <a:noFill/>
          <a:ln cap="flat" cmpd="sng" w="19050">
            <a:solidFill>
              <a:srgbClr val="FFE1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4"/>
          <p:cNvSpPr txBox="1"/>
          <p:nvPr/>
        </p:nvSpPr>
        <p:spPr>
          <a:xfrm>
            <a:off x="7216875" y="2571750"/>
            <a:ext cx="16641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1200"/>
              <a:buFont typeface="Iosevka Charon Mono"/>
              <a:buChar char="+"/>
            </a:pPr>
            <a:r>
              <a:rPr lang="es" sz="12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inmersividad</a:t>
            </a:r>
            <a:endParaRPr sz="12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sp>
        <p:nvSpPr>
          <p:cNvPr id="172" name="Google Shape;172;p34"/>
          <p:cNvSpPr txBox="1"/>
          <p:nvPr/>
        </p:nvSpPr>
        <p:spPr>
          <a:xfrm>
            <a:off x="3641250" y="153275"/>
            <a:ext cx="18615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ctr">
              <a:spcBef>
                <a:spcPts val="0"/>
              </a:spcBef>
              <a:spcAft>
                <a:spcPts val="0"/>
              </a:spcAft>
              <a:buClr>
                <a:srgbClr val="FFE1F1"/>
              </a:buClr>
              <a:buSzPts val="1200"/>
              <a:buFont typeface="Iosevka Charon Mono"/>
              <a:buChar char="+"/>
            </a:pPr>
            <a:r>
              <a:rPr lang="es" sz="12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suficiencia</a:t>
            </a:r>
            <a:endParaRPr sz="12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sp>
        <p:nvSpPr>
          <p:cNvPr id="175" name="Google Shape;175;p34"/>
          <p:cNvSpPr txBox="1"/>
          <p:nvPr/>
        </p:nvSpPr>
        <p:spPr>
          <a:xfrm>
            <a:off x="480300" y="4207275"/>
            <a:ext cx="7992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HuAI</a:t>
            </a:r>
            <a:endParaRPr sz="18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sp>
        <p:nvSpPr>
          <p:cNvPr id="176" name="Google Shape;176;p34"/>
          <p:cNvSpPr txBox="1"/>
          <p:nvPr/>
        </p:nvSpPr>
        <p:spPr>
          <a:xfrm>
            <a:off x="5410375" y="1502975"/>
            <a:ext cx="7992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DPh</a:t>
            </a:r>
            <a:endParaRPr sz="18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sp>
        <p:nvSpPr>
          <p:cNvPr id="177" name="Google Shape;177;p34"/>
          <p:cNvSpPr txBox="1"/>
          <p:nvPr/>
        </p:nvSpPr>
        <p:spPr>
          <a:xfrm>
            <a:off x="7642975" y="635075"/>
            <a:ext cx="7992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E1F1"/>
                </a:solidFill>
                <a:latin typeface="Iosevka Charon Mono"/>
                <a:ea typeface="Iosevka Charon Mono"/>
                <a:cs typeface="Iosevka Charon Mono"/>
                <a:sym typeface="Iosevka Charon Mono"/>
              </a:rPr>
              <a:t>MPh</a:t>
            </a:r>
            <a:endParaRPr sz="1800">
              <a:solidFill>
                <a:srgbClr val="FFE1F1"/>
              </a:solidFill>
              <a:latin typeface="Iosevka Charon Mono"/>
              <a:ea typeface="Iosevka Charon Mono"/>
              <a:cs typeface="Iosevka Charon Mono"/>
              <a:sym typeface="Iosevka Charon Mono"/>
            </a:endParaRPr>
          </a:p>
        </p:txBody>
      </p:sp>
      <p:pic>
        <p:nvPicPr>
          <p:cNvPr id="178" name="Google Shape;1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500" y="1347248"/>
            <a:ext cx="799201" cy="10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4"/>
          <p:cNvPicPr preferRelativeResize="0"/>
          <p:nvPr/>
        </p:nvPicPr>
        <p:blipFill rotWithShape="1">
          <a:blip r:embed="rId4">
            <a:alphaModFix/>
          </a:blip>
          <a:srcRect b="0" l="0" r="50000" t="0"/>
          <a:stretch/>
        </p:blipFill>
        <p:spPr>
          <a:xfrm>
            <a:off x="7642975" y="368025"/>
            <a:ext cx="626976" cy="122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300" y="4095688"/>
            <a:ext cx="704975" cy="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72651">
            <a:off x="2425899" y="1365172"/>
            <a:ext cx="1205100" cy="1464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