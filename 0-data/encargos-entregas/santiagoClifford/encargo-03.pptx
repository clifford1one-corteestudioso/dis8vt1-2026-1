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10F67C-97B9-4242-AFAD-646E94C9723E}">
  <a:tblStyle styleId="{9010F67C-97B9-4242-AFAD-646E94C9723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6d58981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6d58981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6c32771c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6c32771c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6c32771c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6c32771c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6c32771c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6c32771c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6c32771c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6c32771c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6d435687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6d435687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12325" y="3415400"/>
            <a:ext cx="28302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050902"/>
                </a:solidFill>
                <a:latin typeface="Montserrat"/>
                <a:ea typeface="Montserrat"/>
                <a:cs typeface="Montserrat"/>
                <a:sym typeface="Montserrat"/>
              </a:rPr>
              <a:t>encargo-03</a:t>
            </a:r>
            <a:endParaRPr b="1" sz="3000">
              <a:solidFill>
                <a:srgbClr val="05090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987225" y="274850"/>
            <a:ext cx="28302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50902"/>
                </a:solidFill>
                <a:latin typeface="Montserrat"/>
                <a:ea typeface="Montserrat"/>
                <a:cs typeface="Montserrat"/>
                <a:sym typeface="Montserrat"/>
              </a:rPr>
              <a:t>santiago gaete fernández</a:t>
            </a:r>
            <a:endParaRPr sz="1600">
              <a:solidFill>
                <a:srgbClr val="05090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675225" y="3853525"/>
            <a:ext cx="13491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50902"/>
                </a:solidFill>
                <a:latin typeface="Montserrat"/>
                <a:ea typeface="Montserrat"/>
                <a:cs typeface="Montserrat"/>
                <a:sym typeface="Montserrat"/>
              </a:rPr>
              <a:t>2026-04-01</a:t>
            </a:r>
            <a:endParaRPr sz="1600">
              <a:solidFill>
                <a:srgbClr val="05090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2080600" y="280543"/>
            <a:ext cx="3078300" cy="3078300"/>
          </a:xfrm>
          <a:prstGeom prst="ellipse">
            <a:avLst/>
          </a:prstGeom>
          <a:noFill/>
          <a:ln cap="flat" cmpd="sng" w="2857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EAD3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985075" y="280543"/>
            <a:ext cx="3078300" cy="3078300"/>
          </a:xfrm>
          <a:prstGeom prst="ellipse">
            <a:avLst/>
          </a:prstGeom>
          <a:noFill/>
          <a:ln cap="flat" cmpd="sng" w="2857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EAD3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3032838" y="1784662"/>
            <a:ext cx="3078300" cy="3078300"/>
          </a:xfrm>
          <a:prstGeom prst="ellipse">
            <a:avLst/>
          </a:prstGeom>
          <a:noFill/>
          <a:ln cap="flat" cmpd="sng" w="2857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EAD3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5080000" y="1228500"/>
            <a:ext cx="19050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diseño UX/UI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727725" y="3562000"/>
            <a:ext cx="19050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ética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2080600" y="1228500"/>
            <a:ext cx="21111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biología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2080600" y="280543"/>
            <a:ext cx="3078300" cy="3078300"/>
          </a:xfrm>
          <a:prstGeom prst="ellipse">
            <a:avLst/>
          </a:prstGeom>
          <a:noFill/>
          <a:ln cap="flat" cmpd="sng" w="2857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EAD3"/>
              </a:solidFill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3985075" y="280543"/>
            <a:ext cx="3078300" cy="3078300"/>
          </a:xfrm>
          <a:prstGeom prst="ellipse">
            <a:avLst/>
          </a:prstGeom>
          <a:noFill/>
          <a:ln cap="flat" cmpd="sng" w="2857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EAD3"/>
              </a:solidFill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3032838" y="1784662"/>
            <a:ext cx="3078300" cy="3078300"/>
          </a:xfrm>
          <a:prstGeom prst="ellipse">
            <a:avLst/>
          </a:prstGeom>
          <a:noFill/>
          <a:ln cap="flat" cmpd="sng" w="28575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EAD3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080000" y="1228500"/>
            <a:ext cx="19050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diseño UX/UI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727725" y="3562000"/>
            <a:ext cx="19050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ética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971750" y="1070100"/>
            <a:ext cx="2111100" cy="9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dopamina y manipulación conductual</a:t>
            </a:r>
            <a:endParaRPr b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2863100" y="1538524"/>
            <a:ext cx="2111700" cy="2111700"/>
          </a:xfrm>
          <a:prstGeom prst="ellipse">
            <a:avLst/>
          </a:prstGeom>
          <a:noFill/>
          <a:ln cap="flat" cmpd="sng" w="19600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700" lIns="62700" spcFirstLastPara="1" rIns="62700" wrap="square" tIns="6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">
              <a:solidFill>
                <a:srgbClr val="D9EAD3"/>
              </a:solidFill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169407" y="1538524"/>
            <a:ext cx="2111700" cy="2111700"/>
          </a:xfrm>
          <a:prstGeom prst="ellipse">
            <a:avLst/>
          </a:prstGeom>
          <a:noFill/>
          <a:ln cap="flat" cmpd="sng" w="19600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700" lIns="62700" spcFirstLastPara="1" rIns="62700" wrap="square" tIns="6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">
              <a:solidFill>
                <a:srgbClr val="D9EAD3"/>
              </a:solidFill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3516253" y="2570213"/>
            <a:ext cx="2111700" cy="2111700"/>
          </a:xfrm>
          <a:prstGeom prst="ellipse">
            <a:avLst/>
          </a:prstGeom>
          <a:noFill/>
          <a:ln cap="flat" cmpd="sng" w="19600">
            <a:solidFill>
              <a:srgbClr val="D9E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700" lIns="62700" spcFirstLastPara="1" rIns="62700" wrap="square" tIns="62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">
              <a:solidFill>
                <a:srgbClr val="D9EAD3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916175" y="2125775"/>
            <a:ext cx="11169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diseño UX/UI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4077026" y="3690646"/>
            <a:ext cx="1116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3600" lIns="53600" spcFirstLastPara="1" rIns="53600" wrap="square" tIns="53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ética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2829873" y="2016165"/>
            <a:ext cx="16605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biología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7" name="Google Shape;87;p16"/>
          <p:cNvCxnSpPr/>
          <p:nvPr/>
        </p:nvCxnSpPr>
        <p:spPr>
          <a:xfrm>
            <a:off x="5130775" y="3204950"/>
            <a:ext cx="1629300" cy="32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6"/>
          <p:cNvCxnSpPr/>
          <p:nvPr/>
        </p:nvCxnSpPr>
        <p:spPr>
          <a:xfrm flipH="1">
            <a:off x="2354725" y="3204950"/>
            <a:ext cx="1722300" cy="23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6"/>
          <p:cNvCxnSpPr/>
          <p:nvPr/>
        </p:nvCxnSpPr>
        <p:spPr>
          <a:xfrm rot="10800000">
            <a:off x="4610500" y="1104575"/>
            <a:ext cx="0" cy="11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6"/>
          <p:cNvSpPr txBox="1"/>
          <p:nvPr/>
        </p:nvSpPr>
        <p:spPr>
          <a:xfrm>
            <a:off x="2662750" y="529275"/>
            <a:ext cx="38955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la importancia de la usabilidad para la adopción tecnológica en nuestra sociedad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5772400" y="3763975"/>
            <a:ext cx="27186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el dilema moral de diseñar para la vulneración del consciente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545400" y="3714100"/>
            <a:ext cx="2366100" cy="12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los límites éticos de intervenir en los mecanismos neurocognitivos que sustentan hábitos y decisiones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526850" y="4123675"/>
            <a:ext cx="44676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050902"/>
                </a:solidFill>
                <a:latin typeface="Montserrat"/>
                <a:ea typeface="Montserrat"/>
                <a:cs typeface="Montserrat"/>
                <a:sym typeface="Montserrat"/>
              </a:rPr>
              <a:t>conceptos clave</a:t>
            </a:r>
            <a:endParaRPr sz="2000">
              <a:solidFill>
                <a:srgbClr val="05090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969600" y="780761"/>
            <a:ext cx="6797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50902"/>
              </a:buClr>
              <a:buSzPts val="1800"/>
              <a:buFont typeface="Montserrat"/>
              <a:buChar char="-"/>
            </a:pPr>
            <a:r>
              <a:rPr lang="es" sz="1800">
                <a:solidFill>
                  <a:srgbClr val="050902"/>
                </a:solidFill>
                <a:latin typeface="Montserrat"/>
                <a:ea typeface="Montserrat"/>
                <a:cs typeface="Montserrat"/>
                <a:sym typeface="Montserrat"/>
              </a:rPr>
              <a:t>La usabilidad como aporte a la adopción tecnológica</a:t>
            </a:r>
            <a:endParaRPr sz="1800">
              <a:solidFill>
                <a:srgbClr val="05090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5090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50902"/>
              </a:buClr>
              <a:buSzPts val="1800"/>
              <a:buFont typeface="Montserrat"/>
              <a:buChar char="-"/>
            </a:pPr>
            <a:r>
              <a:rPr lang="es" sz="1800">
                <a:solidFill>
                  <a:srgbClr val="050902"/>
                </a:solidFill>
                <a:latin typeface="Montserrat"/>
                <a:ea typeface="Montserrat"/>
                <a:cs typeface="Montserrat"/>
                <a:sym typeface="Montserrat"/>
              </a:rPr>
              <a:t>diseño enfocado en la vulnerabilidad biológica</a:t>
            </a:r>
            <a:endParaRPr sz="1800">
              <a:solidFill>
                <a:srgbClr val="05090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5090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50902"/>
              </a:buClr>
              <a:buSzPts val="1800"/>
              <a:buFont typeface="Montserrat"/>
              <a:buChar char="-"/>
            </a:pPr>
            <a:r>
              <a:rPr lang="es" sz="1800">
                <a:solidFill>
                  <a:srgbClr val="050902"/>
                </a:solidFill>
                <a:latin typeface="Montserrat"/>
                <a:ea typeface="Montserrat"/>
                <a:cs typeface="Montserrat"/>
                <a:sym typeface="Montserrat"/>
              </a:rPr>
              <a:t>los límites éticos de la intervención en los mecanismo neurocognitivos que sustentan hábitos y conductas</a:t>
            </a:r>
            <a:endParaRPr sz="1800">
              <a:solidFill>
                <a:srgbClr val="05090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Google Shape;103;p18"/>
          <p:cNvGraphicFramePr/>
          <p:nvPr/>
        </p:nvGraphicFramePr>
        <p:xfrm>
          <a:off x="0" y="38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22262B"/>
                </a:solidFill>
                <a:tableStyleId>{9010F67C-97B9-4242-AFAD-646E94C9723E}</a:tableStyleId>
              </a:tblPr>
              <a:tblGrid>
                <a:gridCol w="1209675"/>
                <a:gridCol w="2095500"/>
                <a:gridCol w="1895475"/>
                <a:gridCol w="2057400"/>
                <a:gridCol w="1885950"/>
              </a:tblGrid>
              <a:tr h="401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Referente</a:t>
                      </a:r>
                      <a:endParaRPr b="1"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Ética y Regulación</a:t>
                      </a:r>
                      <a:endParaRPr b="1"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Neurociencia y Psicología</a:t>
                      </a:r>
                      <a:endParaRPr b="1"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Diseño UX e Ingeniería</a:t>
                      </a:r>
                      <a:endParaRPr b="1"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Impacto en Salud y Sociedad</a:t>
                      </a:r>
                      <a:endParaRPr b="1"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Marta Beltrán (FoSIP)</a:t>
                      </a:r>
                      <a:endParaRPr b="1"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Define patrones adictivos como una subcategoría de los </a:t>
                      </a:r>
                      <a:r>
                        <a:rPr i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dark patterns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para protección de derechos.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Identifica cómo se explotan los sesgos cognitivos para generar dependencia.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Ofrece la taxonomía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FoSIP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(Acción forzada, Ing. Social, Interferencia y Persistencia) para auditar interfaces.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Advierte sobre la "esclavitud por diseño" y la pérdida de autonomía del usuario.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5E5E5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Celia Hodent (The Gamer's Brain)</a:t>
                      </a:r>
                      <a:endParaRPr b="1"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Promueve un diseño que respete la ética para lograr el "florecimiento humano".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Explica el funcionamiento de la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percepción, atención y memoria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del usuario (especialmente niños).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Define los dos pilares del juego: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Usabilidad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(facilidad) y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Engage-ability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(motivación/flujo).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Proporciona base científica sobre hitos del desarrollo (como computación numérica en </a:t>
                      </a:r>
                      <a:r>
                        <a:rPr i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toddlers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).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Sánchez Chamorro et al. (Ethical Tensions)</a:t>
                      </a:r>
                      <a:endParaRPr b="1"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Delimita la frontera técnica entre la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persuación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(transparente) y la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manipulación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(oculta).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Analiza cómo los diseñadores perciben su propia capacidad de manipular la psicología del usuario.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Expone las tensiones entre objetivos de negocio y principios de "usuario primero".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Recomienda "fricción ética" para devolver la agencia al usuario.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IEEE Std 2089-2021</a:t>
                      </a:r>
                      <a:endParaRPr b="1"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Basado en los principios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5Rights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; prioriza el "interés superior del niño" en el mundo digital.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Considera la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evolutiva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del niño según su edad y madurez cognitiva.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Establece procesos de ingeniería para el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Registro de Idoneidad por Edad (AAR)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Crea un estándar global para que los servicios digitales sean seguros y apropiados para menores.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OMS (WHO Guidelines)</a:t>
                      </a:r>
                      <a:endParaRPr b="1"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Establece el marco normativo global sobre qué es un uso "saludable" del tiempo.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Fundamenta la necesidad de sueño y actividad física para el desarrollo cognitivo.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Proporciona métricas externas de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 de pantalla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(ej. 0h para &lt;1 año, máx 1h para 2-4 años).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Advierte sobre riesgos físicos directos: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adipocidad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y retraso en el desarrollo motor.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R. Cáceres-Ramírez (Adopción Tec.)</a:t>
                      </a:r>
                      <a:endParaRPr b="1"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Analiza la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brecha digital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como generadora de desigualdades socioeconómicas.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 basa en las creencias de los usuarios: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utilidad percibida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y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facilidad de uso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Utiliza el Modelo de Aceptación Tecnológica (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TAM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) para predecir el éxito de una interfaz.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Explica cómo la tecnología transforma la productividad y la competitividad social.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0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Catalina Montero (Tesis UC)</a:t>
                      </a:r>
                      <a:endParaRPr b="1"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Distingue entre el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uso productivo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(metas) y el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uso distractivo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(evasión/hedónico).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Aplica la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Teoría del Flow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para medir la inmersión atencional en tiempo real.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Utiliza la metodología </a:t>
                      </a:r>
                      <a:r>
                        <a:rPr b="1"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EMA</a:t>
                      </a: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para registrar el comportamiento del usuario en su contexto natural.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850">
                          <a:solidFill>
                            <a:srgbClr val="C7C7C7"/>
                          </a:solidFill>
                          <a:highlight>
                            <a:srgbClr val="22262B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Estudia cómo el uso compulsivo de internet puede interferir con la regulación emocional y la atención.</a:t>
                      </a:r>
                      <a:endParaRPr sz="850">
                        <a:solidFill>
                          <a:srgbClr val="C7C7C7"/>
                        </a:solidFill>
                        <a:highlight>
                          <a:srgbClr val="22262B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738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3086450" y="1309675"/>
            <a:ext cx="1712700" cy="10134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4C2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latin typeface="Montserrat"/>
                <a:ea typeface="Montserrat"/>
                <a:cs typeface="Montserrat"/>
                <a:sym typeface="Montserrat"/>
              </a:rPr>
              <a:t>MI PROYECTO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2202500" y="3154625"/>
            <a:ext cx="1606500" cy="661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4C2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dispositivos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4787854" y="177525"/>
            <a:ext cx="1269900" cy="661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4C2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agentes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6886975" y="2420950"/>
            <a:ext cx="1488300" cy="661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4C2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elementos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164225" y="80725"/>
            <a:ext cx="1488300" cy="661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4C2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fabricantes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6443875" y="337725"/>
            <a:ext cx="2091900" cy="1427700"/>
          </a:xfrm>
          <a:prstGeom prst="rect">
            <a:avLst/>
          </a:prstGeom>
          <a:noFill/>
          <a:ln cap="flat" cmpd="sng" w="9525">
            <a:solidFill>
              <a:srgbClr val="4C2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ux researchers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motion designers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UX designers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visual designers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psychologists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neuro scientists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content creators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6621025" y="3488600"/>
            <a:ext cx="2091900" cy="1340400"/>
          </a:xfrm>
          <a:prstGeom prst="rect">
            <a:avLst/>
          </a:prstGeom>
          <a:noFill/>
          <a:ln cap="flat" cmpd="sng" w="9525">
            <a:solidFill>
              <a:srgbClr val="4C2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deceptive patterns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FOMO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infinite scroll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boreness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notifications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inmersión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4126075" y="3002175"/>
            <a:ext cx="1269900" cy="753000"/>
          </a:xfrm>
          <a:prstGeom prst="rect">
            <a:avLst/>
          </a:prstGeom>
          <a:noFill/>
          <a:ln cap="flat" cmpd="sng" w="9525">
            <a:solidFill>
              <a:srgbClr val="4C2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tablets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phones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iPods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2193650" y="4223025"/>
            <a:ext cx="1269900" cy="6612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4C2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contexts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3861900" y="4193425"/>
            <a:ext cx="1606500" cy="753000"/>
          </a:xfrm>
          <a:prstGeom prst="rect">
            <a:avLst/>
          </a:prstGeom>
          <a:noFill/>
          <a:ln cap="flat" cmpd="sng" w="9525">
            <a:solidFill>
              <a:srgbClr val="4C2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work phone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socialize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idle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8" name="Google Shape;118;p19"/>
          <p:cNvCxnSpPr>
            <a:stCxn id="109" idx="4"/>
            <a:endCxn id="116" idx="0"/>
          </p:cNvCxnSpPr>
          <p:nvPr/>
        </p:nvCxnSpPr>
        <p:spPr>
          <a:xfrm flipH="1">
            <a:off x="2828750" y="3815825"/>
            <a:ext cx="1770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9"/>
          <p:cNvCxnSpPr>
            <a:stCxn id="108" idx="3"/>
            <a:endCxn id="109" idx="0"/>
          </p:cNvCxnSpPr>
          <p:nvPr/>
        </p:nvCxnSpPr>
        <p:spPr>
          <a:xfrm flipH="1">
            <a:off x="3005769" y="2174666"/>
            <a:ext cx="331500" cy="98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9"/>
          <p:cNvCxnSpPr>
            <a:stCxn id="108" idx="5"/>
            <a:endCxn id="111" idx="1"/>
          </p:cNvCxnSpPr>
          <p:nvPr/>
        </p:nvCxnSpPr>
        <p:spPr>
          <a:xfrm>
            <a:off x="4548331" y="2174666"/>
            <a:ext cx="2556600" cy="34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9"/>
          <p:cNvCxnSpPr>
            <a:stCxn id="108" idx="7"/>
            <a:endCxn id="110" idx="3"/>
          </p:cNvCxnSpPr>
          <p:nvPr/>
        </p:nvCxnSpPr>
        <p:spPr>
          <a:xfrm flipH="1" rot="10800000">
            <a:off x="4548331" y="741984"/>
            <a:ext cx="425400" cy="71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9"/>
          <p:cNvCxnSpPr>
            <a:stCxn id="108" idx="1"/>
            <a:endCxn id="112" idx="5"/>
          </p:cNvCxnSpPr>
          <p:nvPr/>
        </p:nvCxnSpPr>
        <p:spPr>
          <a:xfrm rot="10800000">
            <a:off x="1434669" y="645084"/>
            <a:ext cx="1902600" cy="81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9"/>
          <p:cNvSpPr txBox="1"/>
          <p:nvPr/>
        </p:nvSpPr>
        <p:spPr>
          <a:xfrm>
            <a:off x="133300" y="1051575"/>
            <a:ext cx="1662000" cy="3974700"/>
          </a:xfrm>
          <a:prstGeom prst="rect">
            <a:avLst/>
          </a:prstGeom>
          <a:noFill/>
          <a:ln cap="flat" cmpd="sng" w="9525">
            <a:solidFill>
              <a:srgbClr val="4C2A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HARDWARE: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samsung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xiaomi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huawei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apple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google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SOFTWARE: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android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apple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SERVICES: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entel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claro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T-mobile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APPS: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tiktok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meta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google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-"/>
            </a:pPr>
            <a:r>
              <a:rPr lang="es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hasbro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4" name="Google Shape;124;p19"/>
          <p:cNvCxnSpPr>
            <a:stCxn id="115" idx="1"/>
            <a:endCxn id="109" idx="6"/>
          </p:cNvCxnSpPr>
          <p:nvPr/>
        </p:nvCxnSpPr>
        <p:spPr>
          <a:xfrm flipH="1">
            <a:off x="3808975" y="3378675"/>
            <a:ext cx="317100" cy="10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9"/>
          <p:cNvCxnSpPr>
            <a:stCxn id="117" idx="1"/>
            <a:endCxn id="116" idx="6"/>
          </p:cNvCxnSpPr>
          <p:nvPr/>
        </p:nvCxnSpPr>
        <p:spPr>
          <a:xfrm rot="10800000">
            <a:off x="3463500" y="4553725"/>
            <a:ext cx="398400" cy="1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9"/>
          <p:cNvCxnSpPr>
            <a:stCxn id="114" idx="0"/>
            <a:endCxn id="111" idx="4"/>
          </p:cNvCxnSpPr>
          <p:nvPr/>
        </p:nvCxnSpPr>
        <p:spPr>
          <a:xfrm rot="10800000">
            <a:off x="7631275" y="3082100"/>
            <a:ext cx="35700" cy="40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19"/>
          <p:cNvCxnSpPr>
            <a:stCxn id="113" idx="1"/>
            <a:endCxn id="110" idx="6"/>
          </p:cNvCxnSpPr>
          <p:nvPr/>
        </p:nvCxnSpPr>
        <p:spPr>
          <a:xfrm rot="10800000">
            <a:off x="6057775" y="508275"/>
            <a:ext cx="386100" cy="54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" name="Google Shape;128;p19"/>
          <p:cNvCxnSpPr>
            <a:endCxn id="123" idx="0"/>
          </p:cNvCxnSpPr>
          <p:nvPr/>
        </p:nvCxnSpPr>
        <p:spPr>
          <a:xfrm>
            <a:off x="924700" y="745875"/>
            <a:ext cx="39600" cy="30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