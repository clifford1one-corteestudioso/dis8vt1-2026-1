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DM Mono"/>
      <p:regular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ANTIAGO IGNACIO GAETE FERNAND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DMMono-italic.fntdata"/><Relationship Id="rId10" Type="http://schemas.openxmlformats.org/officeDocument/2006/relationships/slide" Target="slides/slide4.xml"/><Relationship Id="rId21" Type="http://schemas.openxmlformats.org/officeDocument/2006/relationships/font" Target="fonts/DMMon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2T16:41:03.749">
    <p:pos x="6000" y="0"/>
    <p:text>Si informamos en tiempo real a los usuarios sobre: 1. las tácticas que están siendo utilizadas 2. qué mecanismo biológico se esta explotando/vulnerando 3. cómo se beneficia la empresa con esto; reducirán el tiempo de doomscroll
objetivos: informar, ir dando periodicamente oportunidades de escape, mediante elemetnos que te saquen de la inmersión.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7938dac6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97938dac6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7938dac6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7938dac6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910013d5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910013d5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7910013d5_0_3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910013d5_0_5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7910013d5_0_7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910013d5_0_8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910013d5_0_10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7910013d5_0_11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7910013d5_0_12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938dac6a_0_2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910013d5_0_15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7938dac6a_0_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7938dac6a_0_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9791cdfc37_8_0)">
  <p:cSld name="Generated (g39791cdfc37_8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http://www.youtube.com/watch?v=3xWJ0FSgJVE" TargetMode="External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OqV520WGT2jr3XLs9g3IHcVUoA_dGtkA/view" TargetMode="External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mily Guy, Subway Surfers, TikTok and more! You'll never be understimmed with this video." id="55" name="Google Shape;55;p14" title="ULTIMATE Stim Station - 2 Hour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567150" y="762000"/>
            <a:ext cx="7234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Presentación de Proyecto</a:t>
            </a:r>
            <a:endParaRPr sz="22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{</a:t>
            </a:r>
            <a:endParaRPr sz="2200">
              <a:latin typeface="DM Mono"/>
              <a:ea typeface="DM Mono"/>
              <a:cs typeface="DM Mono"/>
              <a:sym typeface="DM Mono"/>
            </a:endParaRPr>
          </a:p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"encargo"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lang="es" sz="220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"06"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sz="2200">
              <a:latin typeface="DM Mono"/>
              <a:ea typeface="DM Mono"/>
              <a:cs typeface="DM Mono"/>
              <a:sym typeface="DM Mono"/>
            </a:endParaRPr>
          </a:p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"titulo"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lang="es" sz="220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"formulacion de proyecto"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sz="2200">
              <a:latin typeface="DM Mono"/>
              <a:ea typeface="DM Mono"/>
              <a:cs typeface="DM Mono"/>
              <a:sym typeface="DM Mono"/>
            </a:endParaRPr>
          </a:p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"autor"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lang="es" sz="220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"santiago gaete fernández"</a:t>
            </a:r>
            <a:endParaRPr sz="22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220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es" sz="145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Line 1, Column 1</a:t>
            </a:r>
            <a:endParaRPr sz="145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6"/>
          <p:cNvGrpSpPr/>
          <p:nvPr/>
        </p:nvGrpSpPr>
        <p:grpSpPr>
          <a:xfrm>
            <a:off x="-476250" y="-476250"/>
            <a:ext cx="10001250" cy="5810250"/>
            <a:chOff x="-476250" y="-476250"/>
            <a:chExt cx="10001250" cy="5810250"/>
          </a:xfrm>
        </p:grpSpPr>
        <p:sp>
          <p:nvSpPr>
            <p:cNvPr id="66" name="Google Shape;66;p16"/>
            <p:cNvSpPr/>
            <p:nvPr/>
          </p:nvSpPr>
          <p:spPr>
            <a:xfrm>
              <a:off x="0" y="428625"/>
              <a:ext cx="9144000" cy="142800"/>
            </a:xfrm>
            <a:prstGeom prst="rect">
              <a:avLst/>
            </a:prstGeom>
            <a:solidFill>
              <a:srgbClr val="FF00FF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0" y="4572000"/>
              <a:ext cx="9144000" cy="76200"/>
            </a:xfrm>
            <a:prstGeom prst="rect">
              <a:avLst/>
            </a:prstGeom>
            <a:solidFill>
              <a:srgbClr val="00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6"/>
            <p:cNvSpPr/>
            <p:nvPr/>
          </p:nvSpPr>
          <p:spPr>
            <a:xfrm>
              <a:off x="7620000" y="0"/>
              <a:ext cx="1905000" cy="5143500"/>
            </a:xfrm>
            <a:prstGeom prst="rect">
              <a:avLst/>
            </a:prstGeom>
            <a:solidFill>
              <a:srgbClr val="FFFF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6"/>
            <p:cNvSpPr/>
            <p:nvPr/>
          </p:nvSpPr>
          <p:spPr>
            <a:xfrm>
              <a:off x="-476250" y="-476250"/>
              <a:ext cx="2857500" cy="2857500"/>
            </a:xfrm>
            <a:prstGeom prst="ellipse">
              <a:avLst/>
            </a:prstGeom>
            <a:solidFill>
              <a:srgbClr val="FF00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7048500" y="3048000"/>
              <a:ext cx="2286000" cy="2286000"/>
            </a:xfrm>
            <a:prstGeom prst="ellipse">
              <a:avLst/>
            </a:prstGeom>
            <a:solidFill>
              <a:srgbClr val="00FFF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" name="Google Shape;7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905000"/>
              <a:ext cx="9144000" cy="14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6"/>
          <p:cNvSpPr txBox="1"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FF"/>
                </a:solidFill>
                <a:highlight>
                  <a:srgbClr val="FF00FF"/>
                </a:highlight>
                <a:latin typeface="DM Mono"/>
                <a:ea typeface="DM Mono"/>
                <a:cs typeface="DM Mono"/>
                <a:sym typeface="DM Mono"/>
              </a:rPr>
              <a:t>// CRITICAL SYSTEM ACCESS // PROJECT: OVERLOAD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const </a:t>
            </a:r>
            <a:r>
              <a:rPr b="0" lang="es" sz="32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projectData</a:t>
            </a:r>
            <a:r>
              <a:rPr b="0" lang="es" sz="32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 = {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"encargo"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b="0" lang="es" sz="20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2000">
                <a:solidFill>
                  <a:srgbClr val="CE9178"/>
                </a:solidFill>
                <a:highlight>
                  <a:srgbClr val="330033"/>
                </a:highlight>
                <a:latin typeface="DM Mono"/>
                <a:ea typeface="DM Mono"/>
                <a:cs typeface="DM Mono"/>
                <a:sym typeface="DM Mono"/>
              </a:rPr>
              <a:t>"06"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"titulo"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b="0" lang="es" sz="20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2000" u="sng">
                <a:solidFill>
                  <a:srgbClr val="CE9178"/>
                </a:solidFill>
                <a:highlight>
                  <a:srgbClr val="003333"/>
                </a:highlight>
                <a:latin typeface="DM Mono"/>
                <a:ea typeface="DM Mono"/>
                <a:cs typeface="DM Mono"/>
                <a:sym typeface="DM Mono"/>
              </a:rPr>
              <a:t>"formulacion de proyecto"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"autor"</a:t>
            </a:r>
            <a:r>
              <a:rPr b="0" lang="es" sz="2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b="0" lang="es" sz="20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1" lang="es" sz="2000">
                <a:solidFill>
                  <a:srgbClr val="FFFFFF"/>
                </a:solidFill>
                <a:highlight>
                  <a:srgbClr val="FF0000"/>
                </a:highlight>
                <a:latin typeface="DM Mono"/>
                <a:ea typeface="DM Mono"/>
                <a:cs typeface="DM Mono"/>
                <a:sym typeface="DM Mono"/>
              </a:rPr>
              <a:t>"santiago gaete fernández"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};</a:t>
            </a:r>
            <a:endParaRPr b="0" sz="20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r">
              <a:spcBef>
                <a:spcPts val="300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FF0000"/>
                </a:solidFill>
                <a:latin typeface="DM Mono"/>
                <a:ea typeface="DM Mono"/>
                <a:cs typeface="DM Mono"/>
                <a:sym typeface="DM Mono"/>
              </a:rPr>
              <a:t>!!! SYSTEM OVERLOAD | STATUS: UNSTABLE | UTF-8 !!!</a:t>
            </a:r>
            <a:endParaRPr b="0" sz="1400">
              <a:solidFill>
                <a:srgbClr val="FF000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Point of View (POV) Definition</a:t>
            </a:r>
            <a:endParaRPr sz="126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const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problemDefinition = {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"usuario"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"Personas con uso problemático de scroll infinito"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"necesidad"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"Mantener autonomía ante patrones de refuerzo"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"insight"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: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"Conflicto entre 'wanting' y 'liking' (patrones oscuros)"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};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function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solve(</a:t>
            </a: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user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) {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if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(</a:t>
            </a: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user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.</a:t>
            </a: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awareness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===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B5CEA8"/>
                </a:solidFill>
                <a:latin typeface="DM Mono"/>
                <a:ea typeface="DM Mono"/>
                <a:cs typeface="DM Mono"/>
                <a:sym typeface="DM Mono"/>
              </a:rPr>
              <a:t>100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) {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return</a:t>
            </a:r>
            <a:r>
              <a:rPr lang="es" sz="1260"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26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"Design for agency over impulse"</a:t>
            </a: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26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1260"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es" sz="84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Line 1, Column 1 | UTF-8 | JavaScript</a:t>
            </a:r>
            <a:endParaRPr sz="84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8"/>
          <p:cNvGrpSpPr/>
          <p:nvPr/>
        </p:nvGrpSpPr>
        <p:grpSpPr>
          <a:xfrm>
            <a:off x="0" y="-476250"/>
            <a:ext cx="9525000" cy="5238750"/>
            <a:chOff x="0" y="-476250"/>
            <a:chExt cx="9525000" cy="5238750"/>
          </a:xfrm>
        </p:grpSpPr>
        <p:sp>
          <p:nvSpPr>
            <p:cNvPr id="84" name="Google Shape;84;p18"/>
            <p:cNvSpPr/>
            <p:nvPr/>
          </p:nvSpPr>
          <p:spPr>
            <a:xfrm>
              <a:off x="0" y="476250"/>
              <a:ext cx="9144000" cy="19200"/>
            </a:xfrm>
            <a:prstGeom prst="rect">
              <a:avLst/>
            </a:prstGeom>
            <a:solidFill>
              <a:srgbClr val="FF00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0" y="4572000"/>
              <a:ext cx="9144000" cy="9600"/>
            </a:xfrm>
            <a:prstGeom prst="rect">
              <a:avLst/>
            </a:prstGeom>
            <a:solidFill>
              <a:srgbClr val="00FFFF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8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FF00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0" y="2857500"/>
              <a:ext cx="1905000" cy="1905000"/>
            </a:xfrm>
            <a:prstGeom prst="ellipse">
              <a:avLst/>
            </a:prstGeom>
            <a:solidFill>
              <a:srgbClr val="00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8"/>
          <p:cNvSpPr txBox="1"/>
          <p:nvPr/>
        </p:nvSpPr>
        <p:spPr>
          <a:xfrm>
            <a:off x="381000" y="319150"/>
            <a:ext cx="8382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600">
                <a:solidFill>
                  <a:srgbClr val="000000"/>
                </a:solidFill>
                <a:highlight>
                  <a:srgbClr val="FF00FF"/>
                </a:highlight>
                <a:latin typeface="DM Mono"/>
                <a:ea typeface="DM Mono"/>
                <a:cs typeface="DM Mono"/>
                <a:sym typeface="DM Mono"/>
              </a:rPr>
              <a:t>// ADDICTIVE LOOP DETECTED // POV DEFINITION</a:t>
            </a:r>
            <a:endParaRPr b="0" sz="1600">
              <a:solidFill>
                <a:srgbClr val="000000"/>
              </a:solidFill>
              <a:highlight>
                <a:srgbClr val="FF00FF"/>
              </a:highlight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const </a:t>
            </a:r>
            <a:r>
              <a:rPr b="1" lang="es" sz="28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problemDefinition</a:t>
            </a:r>
            <a:r>
              <a:rPr b="1" lang="es" sz="28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1" lang="es" sz="18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= {</a:t>
            </a:r>
            <a:endParaRPr b="1" sz="1800">
              <a:solidFill>
                <a:srgbClr val="00FF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"usuario":</a:t>
            </a:r>
            <a:r>
              <a:rPr lang="es" sz="16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600">
                <a:solidFill>
                  <a:srgbClr val="FFFFFF"/>
                </a:solidFill>
                <a:highlight>
                  <a:srgbClr val="FF00FF"/>
                </a:highlight>
                <a:latin typeface="DM Mono"/>
                <a:ea typeface="DM Mono"/>
                <a:cs typeface="DM Mono"/>
                <a:sym typeface="DM Mono"/>
              </a:rPr>
              <a:t>"Personas con uso problemático de scroll infinito"</a:t>
            </a:r>
            <a:endParaRPr sz="1600">
              <a:solidFill>
                <a:srgbClr val="FFFF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"necesidad":</a:t>
            </a:r>
            <a:r>
              <a:rPr lang="es" sz="16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600">
                <a:solidFill>
                  <a:srgbClr val="000000"/>
                </a:solidFill>
                <a:highlight>
                  <a:srgbClr val="00FFFF"/>
                </a:highlight>
                <a:latin typeface="DM Mono"/>
                <a:ea typeface="DM Mono"/>
                <a:cs typeface="DM Mono"/>
                <a:sym typeface="DM Mono"/>
              </a:rPr>
              <a:t>"Mantener autonomía ante patrones de refuerzo"</a:t>
            </a:r>
            <a:endParaRPr sz="1600">
              <a:solidFill>
                <a:srgbClr val="FFFF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00"/>
                </a:solidFill>
                <a:latin typeface="DM Mono"/>
                <a:ea typeface="DM Mono"/>
                <a:cs typeface="DM Mono"/>
                <a:sym typeface="DM Mono"/>
              </a:rPr>
              <a:t>"insight":</a:t>
            </a:r>
            <a:r>
              <a:rPr lang="es" sz="16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600" u="sng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"Los usuarios son conscientes de las tácticas oscuras empleadas en este tipo de interfaces. Deciden permitirse usarlas. Conflicto entre 'wanting' y 'liking'"</a:t>
            </a:r>
            <a:endParaRPr sz="1600">
              <a:solidFill>
                <a:srgbClr val="FFFF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};</a:t>
            </a:r>
            <a:endParaRPr b="1" sz="1800">
              <a:solidFill>
                <a:srgbClr val="00FF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function </a:t>
            </a:r>
            <a:r>
              <a:rPr b="1" lang="es" sz="16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solve</a:t>
            </a:r>
            <a:r>
              <a:rPr b="1" lang="es" sz="16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(user) {</a:t>
            </a:r>
            <a:endParaRPr b="1" sz="16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if</a:t>
            </a:r>
            <a:r>
              <a:rPr lang="es" sz="16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 (user.awareness === 100) {</a:t>
            </a:r>
            <a:endParaRPr sz="1600">
              <a:solidFill>
                <a:srgbClr val="FFFF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200">
                <a:solidFill>
                  <a:srgbClr val="00FF00"/>
                </a:solidFill>
                <a:latin typeface="DM Mono"/>
                <a:ea typeface="DM Mono"/>
                <a:cs typeface="DM Mono"/>
                <a:sym typeface="DM Mono"/>
              </a:rPr>
              <a:t>return "Design for agency over impulse";</a:t>
            </a:r>
            <a:endParaRPr b="0" sz="2200">
              <a:solidFill>
                <a:srgbClr val="00FF0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r>
              <a:rPr lang="es" sz="16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16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400">
                <a:solidFill>
                  <a:srgbClr val="FF0000"/>
                </a:solidFill>
                <a:latin typeface="DM Mono"/>
                <a:ea typeface="DM Mono"/>
                <a:cs typeface="DM Mono"/>
                <a:sym typeface="DM Mono"/>
              </a:rPr>
              <a:t>!!! SYSTEM OVERLOAD | UTF-8 | ADDICTION.js !!!</a:t>
            </a:r>
            <a:endParaRPr b="0" sz="1400">
              <a:solidFill>
                <a:srgbClr val="FF0000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381000" y="38100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5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RAÍCES DEL PROBLEMA: FACTORES ESTRUCTURALES Y BIOLÓGICOS</a:t>
            </a:r>
            <a:endParaRPr b="1" sz="1705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381000" y="8572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const causes = {</a:t>
            </a:r>
            <a:endParaRPr b="0" sz="11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grpSp>
        <p:nvGrpSpPr>
          <p:cNvPr id="95" name="Google Shape;95;p19"/>
          <p:cNvGrpSpPr/>
          <p:nvPr/>
        </p:nvGrpSpPr>
        <p:grpSpPr>
          <a:xfrm>
            <a:off x="571500" y="1238250"/>
            <a:ext cx="3810000" cy="1047900"/>
            <a:chOff x="0" y="0"/>
            <a:chExt cx="3810000" cy="1047900"/>
          </a:xfrm>
        </p:grpSpPr>
        <p:sp>
          <p:nvSpPr>
            <p:cNvPr id="96" name="Google Shape;96;p19"/>
            <p:cNvSpPr/>
            <p:nvPr/>
          </p:nvSpPr>
          <p:spPr>
            <a:xfrm>
              <a:off x="0" y="0"/>
              <a:ext cx="3810000" cy="1047900"/>
            </a:xfrm>
            <a:prstGeom prst="roundRect">
              <a:avLst>
                <a:gd fmla="val 3636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9"/>
            <p:cNvSpPr txBox="1"/>
            <p:nvPr/>
          </p:nvSpPr>
          <p:spPr>
            <a:xfrm>
              <a:off x="142875" y="142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8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"atencion"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00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"Recurso finito"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Capacidad serial y limitada; bien escaso para las empresas.</a:t>
              </a:r>
              <a:endParaRPr b="0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98" name="Google Shape;98;p19"/>
          <p:cNvGrpSpPr/>
          <p:nvPr/>
        </p:nvGrpSpPr>
        <p:grpSpPr>
          <a:xfrm>
            <a:off x="4762500" y="1238250"/>
            <a:ext cx="3810000" cy="1047900"/>
            <a:chOff x="0" y="0"/>
            <a:chExt cx="3810000" cy="1047900"/>
          </a:xfrm>
        </p:grpSpPr>
        <p:sp>
          <p:nvSpPr>
            <p:cNvPr id="99" name="Google Shape;99;p19"/>
            <p:cNvSpPr/>
            <p:nvPr/>
          </p:nvSpPr>
          <p:spPr>
            <a:xfrm>
              <a:off x="0" y="0"/>
              <a:ext cx="3810000" cy="1047900"/>
            </a:xfrm>
            <a:prstGeom prst="roundRect">
              <a:avLst>
                <a:gd fmla="val 3636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9"/>
            <p:cNvSpPr txBox="1"/>
            <p:nvPr/>
          </p:nvSpPr>
          <p:spPr>
            <a:xfrm>
              <a:off x="142875" y="142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8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"industria"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00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lang="es" sz="100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fricción</a:t>
              </a:r>
              <a:r>
                <a:rPr b="0" lang="es" sz="100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Uso de patrones que emulen sensaciones vividas en comercio física, en el comercio digital.</a:t>
              </a:r>
              <a:endParaRPr b="0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01" name="Google Shape;101;p19"/>
          <p:cNvGrpSpPr/>
          <p:nvPr/>
        </p:nvGrpSpPr>
        <p:grpSpPr>
          <a:xfrm>
            <a:off x="571500" y="2476500"/>
            <a:ext cx="3810000" cy="1047900"/>
            <a:chOff x="0" y="0"/>
            <a:chExt cx="3810000" cy="1047900"/>
          </a:xfrm>
        </p:grpSpPr>
        <p:sp>
          <p:nvSpPr>
            <p:cNvPr id="102" name="Google Shape;102;p19"/>
            <p:cNvSpPr/>
            <p:nvPr/>
          </p:nvSpPr>
          <p:spPr>
            <a:xfrm>
              <a:off x="0" y="0"/>
              <a:ext cx="3810000" cy="1047900"/>
            </a:xfrm>
            <a:prstGeom prst="roundRect">
              <a:avLst>
                <a:gd fmla="val 3636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9"/>
            <p:cNvSpPr txBox="1"/>
            <p:nvPr/>
          </p:nvSpPr>
          <p:spPr>
            <a:xfrm>
              <a:off x="142875" y="142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8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"negocio"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00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"Publicidad Dirigida"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Maximización de flujo de datos para venta de espacios precisos.</a:t>
              </a:r>
              <a:endParaRPr b="0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04" name="Google Shape;104;p19"/>
          <p:cNvGrpSpPr/>
          <p:nvPr/>
        </p:nvGrpSpPr>
        <p:grpSpPr>
          <a:xfrm>
            <a:off x="4762500" y="2476500"/>
            <a:ext cx="3810000" cy="1047900"/>
            <a:chOff x="0" y="0"/>
            <a:chExt cx="3810000" cy="1047900"/>
          </a:xfrm>
        </p:grpSpPr>
        <p:sp>
          <p:nvSpPr>
            <p:cNvPr id="105" name="Google Shape;105;p19"/>
            <p:cNvSpPr/>
            <p:nvPr/>
          </p:nvSpPr>
          <p:spPr>
            <a:xfrm>
              <a:off x="0" y="0"/>
              <a:ext cx="3810000" cy="1047900"/>
            </a:xfrm>
            <a:prstGeom prst="roundRect">
              <a:avLst>
                <a:gd fmla="val 3636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142875" y="142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8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"biologia"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00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"Refuerzo Dopamina"</a:t>
              </a:r>
              <a:r>
                <a:rPr b="0" lang="es" sz="1008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Vulnerabilidades neurocognitivas y señales de 'querer más'.</a:t>
              </a:r>
              <a:endParaRPr b="0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sp>
        <p:nvSpPr>
          <p:cNvPr id="107" name="Google Shape;107;p19"/>
          <p:cNvSpPr txBox="1"/>
          <p:nvPr/>
        </p:nvSpPr>
        <p:spPr>
          <a:xfrm>
            <a:off x="381000" y="3714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" sz="1008">
                <a:solidFill>
                  <a:srgbClr val="B5CEA8"/>
                </a:solidFill>
                <a:latin typeface="DM Mono"/>
                <a:ea typeface="DM Mono"/>
                <a:cs typeface="DM Mono"/>
                <a:sym typeface="DM Mono"/>
              </a:rPr>
              <a:t>};</a:t>
            </a:r>
            <a:endParaRPr b="0" sz="1008">
              <a:solidFill>
                <a:srgbClr val="B5CEA8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s" sz="1008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function</a:t>
            </a:r>
            <a:r>
              <a:rPr b="0" lang="es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1008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analyze</a:t>
            </a:r>
            <a:r>
              <a:rPr b="0" lang="es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(rootCause) { </a:t>
            </a:r>
            <a:r>
              <a:rPr b="0" lang="es" sz="1008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return</a:t>
            </a:r>
            <a:r>
              <a:rPr b="0" lang="es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b="0" lang="es" sz="1008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"Systemic Addiction"</a:t>
            </a:r>
            <a:r>
              <a:rPr b="0" lang="es" sz="1008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 }</a:t>
            </a:r>
            <a:endParaRPr b="0" sz="1008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81000" y="4714875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DEBUG: root_causes_v1.0.js | UTF-8 | SOURCE: INVESTIGACIÓN SANTIAGO GAETE</a:t>
            </a:r>
            <a:endParaRPr sz="9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0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CORE_PROBLEM_DEFINITION :: TRONCO</a:t>
            </a:r>
            <a:endParaRPr b="0" sz="20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381000" y="1104900"/>
            <a:ext cx="8382000" cy="3561300"/>
          </a:xfrm>
          <a:prstGeom prst="roundRect">
            <a:avLst>
              <a:gd fmla="val 1176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571500" y="1295400"/>
            <a:ext cx="8001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class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075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CentralProblem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{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constructor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() {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38100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this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.</a:t>
            </a:r>
            <a:r>
              <a:rPr lang="es" sz="1075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manifesto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= </a:t>
            </a:r>
            <a:r>
              <a:rPr lang="es" sz="1075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"El corazón de la investigación"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381000" marR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this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.</a:t>
            </a:r>
            <a:r>
              <a:rPr lang="es" sz="1075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criticality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= </a:t>
            </a:r>
            <a:r>
              <a:rPr lang="es" sz="1075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true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formulate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() {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3810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C586C0"/>
                </a:solidFill>
                <a:latin typeface="DM Mono"/>
                <a:ea typeface="DM Mono"/>
                <a:cs typeface="DM Mono"/>
                <a:sym typeface="DM Mono"/>
              </a:rPr>
              <a:t>return</a:t>
            </a: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`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s" sz="1525">
                <a:solidFill>
                  <a:srgbClr val="FFFFFF"/>
                </a:solidFill>
                <a:highlight>
                  <a:srgbClr val="1E1E1E"/>
                </a:highlight>
                <a:latin typeface="DM Mono"/>
                <a:ea typeface="DM Mono"/>
                <a:cs typeface="DM Mono"/>
                <a:sym typeface="DM Mono"/>
              </a:rPr>
              <a:t>"El placer producido por el consumo de contenido audiovisual en formato scroll infinito vertical a pantalla completa sobrepasa el deseo por evitar sus consecuencias negativas."</a:t>
            </a:r>
            <a:endParaRPr b="1" sz="1525">
              <a:solidFill>
                <a:srgbClr val="FFFFFF"/>
              </a:solidFill>
              <a:highlight>
                <a:srgbClr val="1E1E1E"/>
              </a:highlight>
              <a:latin typeface="DM Mono"/>
              <a:ea typeface="DM Mono"/>
              <a:cs typeface="DM Mono"/>
              <a:sym typeface="DM Mono"/>
            </a:endParaRPr>
          </a:p>
          <a:p>
            <a:pPr indent="0" lvl="0" marL="38100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`;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10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375"/>
              </a:spcAft>
              <a:buNone/>
            </a:pPr>
            <a:r>
              <a:rPr lang="es" sz="875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875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1"/>
          <p:cNvGrpSpPr/>
          <p:nvPr/>
        </p:nvGrpSpPr>
        <p:grpSpPr>
          <a:xfrm>
            <a:off x="381000" y="381000"/>
            <a:ext cx="8382000" cy="714525"/>
            <a:chOff x="381000" y="381000"/>
            <a:chExt cx="8382000" cy="714525"/>
          </a:xfrm>
        </p:grpSpPr>
        <p:sp>
          <p:nvSpPr>
            <p:cNvPr id="121" name="Google Shape;121;p21"/>
            <p:cNvSpPr txBox="1"/>
            <p:nvPr/>
          </p:nvSpPr>
          <p:spPr>
            <a:xfrm>
              <a:off x="381000" y="38100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6A9955"/>
                  </a:solidFill>
                  <a:latin typeface="DM Mono"/>
                  <a:ea typeface="DM Mono"/>
                  <a:cs typeface="DM Mono"/>
                  <a:sym typeface="DM Mono"/>
                </a:rPr>
                <a:t>// RAMAS DEL PROBLEMA: EFECTOS Y MANIFESTACIONES</a:t>
              </a:r>
              <a:endParaRPr b="1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22" name="Google Shape;122;p21"/>
            <p:cNvSpPr txBox="1"/>
            <p:nvPr/>
          </p:nvSpPr>
          <p:spPr>
            <a:xfrm>
              <a:off x="381000" y="809625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18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const impacts = [</a:t>
              </a:r>
              <a:endParaRPr b="0" sz="1018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23" name="Google Shape;123;p21"/>
          <p:cNvGrpSpPr/>
          <p:nvPr/>
        </p:nvGrpSpPr>
        <p:grpSpPr>
          <a:xfrm>
            <a:off x="571500" y="1238250"/>
            <a:ext cx="8001150" cy="2762175"/>
            <a:chOff x="571500" y="1238250"/>
            <a:chExt cx="8001150" cy="2762175"/>
          </a:xfrm>
        </p:grpSpPr>
        <p:sp>
          <p:nvSpPr>
            <p:cNvPr id="124" name="Google Shape;124;p21"/>
            <p:cNvSpPr/>
            <p:nvPr/>
          </p:nvSpPr>
          <p:spPr>
            <a:xfrm>
              <a:off x="571500" y="1238250"/>
              <a:ext cx="3905400" cy="1285800"/>
            </a:xfrm>
            <a:prstGeom prst="roundRect">
              <a:avLst>
                <a:gd fmla="val 2962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1"/>
            <p:cNvSpPr txBox="1"/>
            <p:nvPr/>
          </p:nvSpPr>
          <p:spPr>
            <a:xfrm>
              <a:off x="762000" y="138112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95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"competencia"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295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"Bucle de Patrones Oscuros"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295"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Las empresas escalan la agresividad de sus interfaces para retener la atención frente a sus competidores.</a:t>
              </a:r>
              <a:endParaRPr b="0" sz="925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4667250" y="1238250"/>
              <a:ext cx="3905400" cy="1285800"/>
            </a:xfrm>
            <a:prstGeom prst="roundRect">
              <a:avLst>
                <a:gd fmla="val 2962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1"/>
            <p:cNvSpPr txBox="1"/>
            <p:nvPr/>
          </p:nvSpPr>
          <p:spPr>
            <a:xfrm>
              <a:off x="4857750" y="138112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95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"psicologia"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295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"Intolerancia al Aburrimiento"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295"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El acceso inmediato genera un hábito donde cualquier vacío se llena con la aplicación, perdiendo la capacidad de tolerar la incomodidad.</a:t>
              </a:r>
              <a:endParaRPr b="0" sz="925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571500" y="2714625"/>
              <a:ext cx="3905400" cy="1285800"/>
            </a:xfrm>
            <a:prstGeom prst="roundRect">
              <a:avLst>
                <a:gd fmla="val 2962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762000" y="2857500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95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"fisiologia"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295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"Uso No Consciente"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295"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Movimientos automáticos y memoria muscular (gestos de desbloqueo) realizados sin una decisión racional previa.</a:t>
              </a:r>
              <a:endParaRPr b="0" sz="925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4667250" y="2714625"/>
              <a:ext cx="3905400" cy="1285800"/>
            </a:xfrm>
            <a:prstGeom prst="roundRect">
              <a:avLst>
                <a:gd fmla="val 2962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1"/>
            <p:cNvSpPr txBox="1"/>
            <p:nvPr/>
          </p:nvSpPr>
          <p:spPr>
            <a:xfrm>
              <a:off x="4857750" y="2857500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295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"cognicion"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: </a:t>
              </a:r>
              <a:r>
                <a:rPr b="0" lang="es" sz="1295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"Reducción del Attention Span"</a:t>
              </a:r>
              <a:r>
                <a:rPr b="0" lang="es" sz="1295"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295"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La facilidad de cambio acorta progresivamente el tiempo que el usuario puede permanecer atento a contenidos no dinámicos.</a:t>
              </a:r>
              <a:endParaRPr b="0" sz="925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32" name="Google Shape;132;p21"/>
          <p:cNvGrpSpPr/>
          <p:nvPr/>
        </p:nvGrpSpPr>
        <p:grpSpPr>
          <a:xfrm>
            <a:off x="381000" y="4191000"/>
            <a:ext cx="8382000" cy="762000"/>
            <a:chOff x="381000" y="4191000"/>
            <a:chExt cx="8382000" cy="762000"/>
          </a:xfrm>
        </p:grpSpPr>
        <p:sp>
          <p:nvSpPr>
            <p:cNvPr id="133" name="Google Shape;133;p21"/>
            <p:cNvSpPr txBox="1"/>
            <p:nvPr/>
          </p:nvSpPr>
          <p:spPr>
            <a:xfrm>
              <a:off x="381000" y="41910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18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];</a:t>
              </a:r>
              <a:endParaRPr b="0" sz="1018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1018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function</a:t>
              </a:r>
              <a:r>
                <a:rPr b="0" lang="es" sz="1018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s" sz="1018">
                  <a:solidFill>
                    <a:srgbClr val="DCDCAA"/>
                  </a:solidFill>
                  <a:latin typeface="DM Mono"/>
                  <a:ea typeface="DM Mono"/>
                  <a:cs typeface="DM Mono"/>
                  <a:sym typeface="DM Mono"/>
                </a:rPr>
                <a:t>monitorEffects</a:t>
              </a:r>
              <a:r>
                <a:rPr b="0" lang="es" sz="1018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(userState) { </a:t>
              </a:r>
              <a:r>
                <a:rPr b="0" lang="es" sz="1018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return</a:t>
              </a:r>
              <a:r>
                <a:rPr b="0" lang="es" sz="1018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s" sz="1018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"Agency Erosion"</a:t>
              </a:r>
              <a:r>
                <a:rPr b="0" lang="es" sz="1018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; }</a:t>
              </a:r>
              <a:endParaRPr b="0" sz="1018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381000" y="476250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6A9955"/>
                  </a:solidFill>
                  <a:latin typeface="DM Mono"/>
                  <a:ea typeface="DM Mono"/>
                  <a:cs typeface="DM Mono"/>
                  <a:sym typeface="DM Mono"/>
                </a:rPr>
                <a:t>// DEBUG: problem_manifestations.js | UTF-8 | SOURCE: INVESTIGACIÓN SANTIAGO GAETE</a:t>
              </a:r>
              <a:endParaRPr sz="9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VALIDACIÓN ESTRUCTURAL: EL TRONCO DEL PROBLEMA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81000" y="71437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18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/* ¿Por qué el foco está en el conflicto de voluntad y no en sus extremos? */</a:t>
            </a:r>
            <a:endParaRPr b="0" sz="1018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grpSp>
        <p:nvGrpSpPr>
          <p:cNvPr id="140" name="Google Shape;140;p22"/>
          <p:cNvGrpSpPr/>
          <p:nvPr/>
        </p:nvGrpSpPr>
        <p:grpSpPr>
          <a:xfrm>
            <a:off x="571500" y="1238250"/>
            <a:ext cx="2476500" cy="2286000"/>
            <a:chOff x="571500" y="1238250"/>
            <a:chExt cx="2476500" cy="2286000"/>
          </a:xfrm>
        </p:grpSpPr>
        <p:sp>
          <p:nvSpPr>
            <p:cNvPr id="141" name="Google Shape;141;p22"/>
            <p:cNvSpPr/>
            <p:nvPr/>
          </p:nvSpPr>
          <p:spPr>
            <a:xfrm>
              <a:off x="571500" y="1238250"/>
              <a:ext cx="2476500" cy="2286000"/>
            </a:xfrm>
            <a:prstGeom prst="roundRect">
              <a:avLst>
                <a:gd fmla="val 1666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714375" y="1381125"/>
              <a:ext cx="666900" cy="171600"/>
            </a:xfrm>
            <a:prstGeom prst="roundRect">
              <a:avLst>
                <a:gd fmla="val 50000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 txBox="1"/>
            <p:nvPr/>
          </p:nvSpPr>
          <p:spPr>
            <a:xfrm>
              <a:off x="714375" y="1381125"/>
              <a:ext cx="66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1E1E1E"/>
                  </a:solidFill>
                  <a:latin typeface="DM Mono"/>
                  <a:ea typeface="DM Mono"/>
                  <a:cs typeface="DM Mono"/>
                  <a:sym typeface="DM Mono"/>
                </a:rPr>
                <a:t>RAÍCES</a:t>
              </a:r>
              <a:endParaRPr b="1" sz="8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44" name="Google Shape;144;p22"/>
            <p:cNvSpPr txBox="1"/>
            <p:nvPr/>
          </p:nvSpPr>
          <p:spPr>
            <a:xfrm>
              <a:off x="714375" y="1666875"/>
              <a:ext cx="2190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6A9955"/>
                  </a:solidFill>
                  <a:latin typeface="DM Mono"/>
                  <a:ea typeface="DM Mono"/>
                  <a:cs typeface="DM Mono"/>
                  <a:sym typeface="DM Mono"/>
                </a:rPr>
                <a:t>// Causas (Insumos)</a:t>
              </a:r>
              <a:endParaRPr b="0" sz="10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const </a:t>
              </a:r>
              <a:r>
                <a:rPr b="0" lang="es" sz="1000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triggers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=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[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atención finita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publicidad dirigida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", 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"falta de fricción", "deceptive patterns", "capitalismo", "economía de la atención", "mecanismos biológicos", "usabilidad"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]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;</a:t>
              </a:r>
              <a:endParaRPr b="0" sz="9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45" name="Google Shape;145;p22"/>
          <p:cNvGrpSpPr/>
          <p:nvPr/>
        </p:nvGrpSpPr>
        <p:grpSpPr>
          <a:xfrm>
            <a:off x="3333750" y="1238260"/>
            <a:ext cx="2476500" cy="3127591"/>
            <a:chOff x="3333750" y="1238250"/>
            <a:chExt cx="2476500" cy="2667000"/>
          </a:xfrm>
        </p:grpSpPr>
        <p:sp>
          <p:nvSpPr>
            <p:cNvPr id="146" name="Google Shape;146;p22"/>
            <p:cNvSpPr/>
            <p:nvPr/>
          </p:nvSpPr>
          <p:spPr>
            <a:xfrm>
              <a:off x="3333750" y="1238250"/>
              <a:ext cx="2476500" cy="2667000"/>
            </a:xfrm>
            <a:prstGeom prst="roundRect">
              <a:avLst>
                <a:gd fmla="val 1538" name="adj"/>
              </a:avLst>
            </a:prstGeom>
            <a:solidFill>
              <a:srgbClr val="2D2D2D"/>
            </a:solidFill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3476625" y="1294101"/>
              <a:ext cx="666900" cy="171600"/>
            </a:xfrm>
            <a:prstGeom prst="roundRect">
              <a:avLst>
                <a:gd fmla="val 50000" name="adj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 txBox="1"/>
            <p:nvPr/>
          </p:nvSpPr>
          <p:spPr>
            <a:xfrm>
              <a:off x="3476625" y="1299902"/>
              <a:ext cx="66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1E1E1E"/>
                  </a:solidFill>
                  <a:latin typeface="DM Mono"/>
                  <a:ea typeface="DM Mono"/>
                  <a:cs typeface="DM Mono"/>
                  <a:sym typeface="DM Mono"/>
                </a:rPr>
                <a:t>TRONCO</a:t>
              </a:r>
              <a:endParaRPr b="1" sz="8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49" name="Google Shape;149;p22"/>
            <p:cNvSpPr txBox="1"/>
            <p:nvPr/>
          </p:nvSpPr>
          <p:spPr>
            <a:xfrm>
              <a:off x="3453850" y="1294095"/>
              <a:ext cx="2190900" cy="24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DCDCAA"/>
                  </a:solidFill>
                  <a:latin typeface="DM Mono"/>
                  <a:ea typeface="DM Mono"/>
                  <a:cs typeface="DM Mono"/>
                  <a:sym typeface="DM Mono"/>
                </a:rPr>
                <a:t># PROBLEMA_CENTRAL</a:t>
              </a:r>
              <a:endParaRPr b="1" sz="1000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class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s" sz="1000">
                  <a:solidFill>
                    <a:srgbClr val="4EC9B0"/>
                  </a:solidFill>
                  <a:latin typeface="DM Mono"/>
                  <a:ea typeface="DM Mono"/>
                  <a:cs typeface="DM Mono"/>
                  <a:sym typeface="DM Mono"/>
                </a:rPr>
                <a:t>DesignConflict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{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core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= 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"Voluntad vs Interfaz"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;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status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= 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crítico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;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}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just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highlight>
                    <a:srgbClr val="3E3E3E"/>
                  </a:highlight>
                  <a:latin typeface="DM Mono"/>
                  <a:ea typeface="DM Mono"/>
                  <a:cs typeface="DM Mono"/>
                  <a:sym typeface="DM Mono"/>
                </a:rPr>
                <a:t>L</a:t>
              </a:r>
              <a:r>
                <a:rPr b="0" lang="es">
                  <a:solidFill>
                    <a:srgbClr val="FFFFFF"/>
                  </a:solidFill>
                  <a:highlight>
                    <a:srgbClr val="3E3E3E"/>
                  </a:highlight>
                  <a:latin typeface="DM Mono"/>
                  <a:ea typeface="DM Mono"/>
                  <a:cs typeface="DM Mono"/>
                  <a:sym typeface="DM Mono"/>
                </a:rPr>
                <a:t>a interfaz invalida la decisión racional del usuario. </a:t>
              </a:r>
              <a:r>
                <a:rPr b="0" lang="es">
                  <a:solidFill>
                    <a:srgbClr val="FFFFFF"/>
                  </a:solidFill>
                  <a:highlight>
                    <a:srgbClr val="3E3E3E"/>
                  </a:highlight>
                  <a:latin typeface="DM Mono"/>
                  <a:ea typeface="DM Mono"/>
                  <a:cs typeface="DM Mono"/>
                  <a:sym typeface="DM Mono"/>
                </a:rPr>
                <a:t>El usuario lo permite</a:t>
              </a:r>
              <a:endParaRPr b="0">
                <a:solidFill>
                  <a:srgbClr val="FFFFFF"/>
                </a:solidFill>
                <a:highlight>
                  <a:srgbClr val="3E3E3E"/>
                </a:highlight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50" name="Google Shape;150;p22"/>
          <p:cNvGrpSpPr/>
          <p:nvPr/>
        </p:nvGrpSpPr>
        <p:grpSpPr>
          <a:xfrm>
            <a:off x="6096000" y="1238250"/>
            <a:ext cx="2476500" cy="2286000"/>
            <a:chOff x="6096000" y="1238250"/>
            <a:chExt cx="2476500" cy="2286000"/>
          </a:xfrm>
        </p:grpSpPr>
        <p:sp>
          <p:nvSpPr>
            <p:cNvPr id="151" name="Google Shape;151;p22"/>
            <p:cNvSpPr/>
            <p:nvPr/>
          </p:nvSpPr>
          <p:spPr>
            <a:xfrm>
              <a:off x="6096000" y="1238250"/>
              <a:ext cx="2476500" cy="2286000"/>
            </a:xfrm>
            <a:prstGeom prst="roundRect">
              <a:avLst>
                <a:gd fmla="val 1666" name="adj"/>
              </a:avLst>
            </a:prstGeom>
            <a:solidFill>
              <a:srgbClr val="252526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2"/>
            <p:cNvSpPr/>
            <p:nvPr/>
          </p:nvSpPr>
          <p:spPr>
            <a:xfrm>
              <a:off x="6238875" y="1381125"/>
              <a:ext cx="714300" cy="171600"/>
            </a:xfrm>
            <a:prstGeom prst="roundRect">
              <a:avLst>
                <a:gd fmla="val 50000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 txBox="1"/>
            <p:nvPr/>
          </p:nvSpPr>
          <p:spPr>
            <a:xfrm>
              <a:off x="6238875" y="1381125"/>
              <a:ext cx="714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1E1E1E"/>
                  </a:solidFill>
                  <a:latin typeface="DM Mono"/>
                  <a:ea typeface="DM Mono"/>
                  <a:cs typeface="DM Mono"/>
                  <a:sym typeface="DM Mono"/>
                </a:rPr>
                <a:t>RAMAS</a:t>
              </a:r>
              <a:endParaRPr b="1" sz="800">
                <a:solidFill>
                  <a:srgbClr val="1E1E1E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54" name="Google Shape;154;p22"/>
            <p:cNvSpPr txBox="1"/>
            <p:nvPr/>
          </p:nvSpPr>
          <p:spPr>
            <a:xfrm>
              <a:off x="6238875" y="1666875"/>
              <a:ext cx="2190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6A9955"/>
                  </a:solidFill>
                  <a:latin typeface="DM Mono"/>
                  <a:ea typeface="DM Mono"/>
                  <a:cs typeface="DM Mono"/>
                  <a:sym typeface="DM Mono"/>
                </a:rPr>
                <a:t>// Efectos (Output)</a:t>
              </a:r>
              <a:endParaRPr b="0" sz="10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export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s" sz="1000">
                  <a:solidFill>
                    <a:srgbClr val="569CD6"/>
                  </a:solidFill>
                  <a:latin typeface="DM Mono"/>
                  <a:ea typeface="DM Mono"/>
                  <a:cs typeface="DM Mono"/>
                  <a:sym typeface="DM Mono"/>
                </a:rPr>
                <a:t>const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</a:t>
              </a:r>
              <a:r>
                <a:rPr b="0" lang="es" sz="1000">
                  <a:solidFill>
                    <a:srgbClr val="9CDCFE"/>
                  </a:solidFill>
                  <a:latin typeface="DM Mono"/>
                  <a:ea typeface="DM Mono"/>
                  <a:cs typeface="DM Mono"/>
                  <a:sym typeface="DM Mono"/>
                </a:rPr>
                <a:t>symptoms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 = [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normalización deceptive patterns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,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intolerancia al aburrimiento</a:t>
              </a:r>
              <a:r>
                <a:rPr b="0"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", </a:t>
              </a:r>
              <a:r>
                <a:rPr lang="es" sz="1000">
                  <a:solidFill>
                    <a:srgbClr val="CE9178"/>
                  </a:solidFill>
                  <a:latin typeface="DM Mono"/>
                  <a:ea typeface="DM Mono"/>
                  <a:cs typeface="DM Mono"/>
                  <a:sym typeface="DM Mono"/>
                </a:rPr>
                <a:t>"uso inconsciente", "spam de atención reducido", "adicción a las rrss"</a:t>
              </a:r>
              <a:endParaRPr b="0" sz="10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000">
                  <a:solidFill>
                    <a:srgbClr val="D4D4D4"/>
                  </a:solidFill>
                  <a:latin typeface="DM Mono"/>
                  <a:ea typeface="DM Mono"/>
                  <a:cs typeface="DM Mono"/>
                  <a:sym typeface="DM Mono"/>
                </a:rPr>
                <a:t>];</a:t>
              </a:r>
              <a:endParaRPr b="0" sz="9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sp>
        <p:nvSpPr>
          <p:cNvPr id="155" name="Google Shape;155;p22"/>
          <p:cNvSpPr txBox="1"/>
          <p:nvPr/>
        </p:nvSpPr>
        <p:spPr>
          <a:xfrm>
            <a:off x="2381100" y="4582575"/>
            <a:ext cx="638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18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| UTF-8 | SOURCE: INVESTIGACIÓN SANTIAGO GAETE</a:t>
            </a:r>
            <a:endParaRPr b="0" sz="1018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DEFINICIÓN DE PROBLEMA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571500" y="1333500"/>
            <a:ext cx="8001000" cy="24765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857250" y="1619250"/>
            <a:ext cx="7429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String </a:t>
            </a:r>
            <a:r>
              <a:rPr lang="es" sz="22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problema </a:t>
            </a:r>
            <a:r>
              <a:rPr lang="es" sz="2200">
                <a:solidFill>
                  <a:schemeClr val="lt2"/>
                </a:solidFill>
                <a:latin typeface="DM Mono"/>
                <a:ea typeface="DM Mono"/>
                <a:cs typeface="DM Mono"/>
                <a:sym typeface="DM Mono"/>
              </a:rPr>
              <a:t>=</a:t>
            </a:r>
            <a:endParaRPr sz="2200">
              <a:solidFill>
                <a:schemeClr val="lt2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</a:t>
            </a:r>
            <a:r>
              <a:rPr lang="es" sz="22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La interfaz invalida la decisión racional del usuario. El usuario lo permite"</a:t>
            </a:r>
            <a:r>
              <a:rPr lang="es" sz="22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22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HIPÓTESIS DE TRABAJO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381000" y="71437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/* Definición del mecanismo de intervención propuesto */</a:t>
            </a:r>
            <a:endParaRPr sz="11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71500" y="1333500"/>
            <a:ext cx="8001000" cy="2913300"/>
          </a:xfrm>
          <a:prstGeom prst="roundRect">
            <a:avLst>
              <a:gd fmla="val 1538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857250" y="1619250"/>
            <a:ext cx="74295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function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100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validateHypothesis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() {</a:t>
            </a:r>
            <a:endParaRPr sz="11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const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1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goal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= </a:t>
            </a:r>
            <a:r>
              <a:rPr lang="es" sz="11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"Usuario debe priorizar consecuencias largo plazo"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1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const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1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weighting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= LongTerm &gt; ImmediateGratification;</a:t>
            </a:r>
            <a:endParaRPr sz="11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return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1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"Eficacia del Diseño"</a:t>
            </a: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;</a:t>
            </a:r>
            <a:endParaRPr sz="11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</a:t>
            </a:r>
            <a:endParaRPr sz="11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FFFFFF"/>
                </a:solidFill>
                <a:highlight>
                  <a:srgbClr val="3E3E3E"/>
                </a:highlight>
                <a:latin typeface="DM Mono"/>
                <a:ea typeface="DM Mono"/>
                <a:cs typeface="DM Mono"/>
                <a:sym typeface="DM Mono"/>
              </a:rPr>
              <a:t>"Para resolver el problema, debemos lograr que para el usuario, las consecuencias a largo plazo tengan mayor peso que la gratificación inmediata."</a:t>
            </a:r>
            <a:endParaRPr sz="1700">
              <a:solidFill>
                <a:srgbClr val="FFFFFF"/>
              </a:solidFill>
              <a:highlight>
                <a:srgbClr val="3E3E3E"/>
              </a:highlight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381250" y="4381500"/>
            <a:ext cx="638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| UTF-8 | SOURCE: SANTIAGO GAETE</a:t>
            </a:r>
            <a:endParaRPr sz="11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381000" y="2857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// PROJECT_ROADMAP :: GANTT_EXECUTION</a:t>
            </a:r>
            <a:endParaRPr b="1" sz="18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81000" y="619125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/* Cronograma detallado de fases y entregables asociados */</a:t>
            </a:r>
            <a:endParaRPr sz="10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381000" y="952500"/>
            <a:ext cx="8382000" cy="3333900"/>
          </a:xfrm>
          <a:prstGeom prst="roundRect">
            <a:avLst>
              <a:gd fmla="val 1142" name="adj"/>
            </a:avLst>
          </a:prstGeom>
          <a:solidFill>
            <a:srgbClr val="25252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25"/>
          <p:cNvGrpSpPr/>
          <p:nvPr/>
        </p:nvGrpSpPr>
        <p:grpSpPr>
          <a:xfrm>
            <a:off x="381000" y="952500"/>
            <a:ext cx="8382000" cy="3333900"/>
            <a:chOff x="381000" y="952500"/>
            <a:chExt cx="8382000" cy="3333900"/>
          </a:xfrm>
        </p:grpSpPr>
        <p:pic>
          <p:nvPicPr>
            <p:cNvPr id="178" name="Google Shape;17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62238" y="952500"/>
              <a:ext cx="5343600" cy="33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1328738"/>
              <a:ext cx="8382000" cy="267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25"/>
          <p:cNvGrpSpPr/>
          <p:nvPr/>
        </p:nvGrpSpPr>
        <p:grpSpPr>
          <a:xfrm>
            <a:off x="2667000" y="1066800"/>
            <a:ext cx="5715000" cy="2819400"/>
            <a:chOff x="2667000" y="1066800"/>
            <a:chExt cx="5715000" cy="2819400"/>
          </a:xfrm>
        </p:grpSpPr>
        <p:sp>
          <p:nvSpPr>
            <p:cNvPr id="181" name="Google Shape;181;p25"/>
            <p:cNvSpPr/>
            <p:nvPr/>
          </p:nvSpPr>
          <p:spPr>
            <a:xfrm>
              <a:off x="2667000" y="1066800"/>
              <a:ext cx="381000" cy="152400"/>
            </a:xfrm>
            <a:prstGeom prst="roundRect">
              <a:avLst>
                <a:gd fmla="val 12500" name="adj"/>
              </a:avLst>
            </a:prstGeom>
            <a:solidFill>
              <a:srgbClr val="6A99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3048000" y="1447800"/>
              <a:ext cx="571500" cy="152400"/>
            </a:xfrm>
            <a:prstGeom prst="roundRect">
              <a:avLst>
                <a:gd fmla="val 12500" name="adj"/>
              </a:avLst>
            </a:prstGeom>
            <a:solidFill>
              <a:srgbClr val="4EC9B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3619500" y="1828800"/>
              <a:ext cx="762000" cy="152400"/>
            </a:xfrm>
            <a:prstGeom prst="roundRect">
              <a:avLst>
                <a:gd fmla="val 12500" name="adj"/>
              </a:avLst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4381500" y="2209800"/>
              <a:ext cx="952500" cy="152400"/>
            </a:xfrm>
            <a:prstGeom prst="roundRect">
              <a:avLst>
                <a:gd fmla="val 12500" name="adj"/>
              </a:avLst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5334000" y="2590800"/>
              <a:ext cx="571500" cy="152400"/>
            </a:xfrm>
            <a:prstGeom prst="roundRect">
              <a:avLst>
                <a:gd fmla="val 12500" name="adj"/>
              </a:avLst>
            </a:prstGeom>
            <a:solidFill>
              <a:srgbClr val="DCDC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5905500" y="2971800"/>
              <a:ext cx="762000" cy="152400"/>
            </a:xfrm>
            <a:prstGeom prst="roundRect">
              <a:avLst>
                <a:gd fmla="val 12500" name="adj"/>
              </a:avLst>
            </a:prstGeom>
            <a:solidFill>
              <a:srgbClr val="9CDC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6477000" y="3352800"/>
              <a:ext cx="571500" cy="152400"/>
            </a:xfrm>
            <a:prstGeom prst="roundRect">
              <a:avLst>
                <a:gd fmla="val 12500" name="adj"/>
              </a:avLst>
            </a:prstGeom>
            <a:solidFill>
              <a:srgbClr val="C586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5"/>
            <p:cNvSpPr/>
            <p:nvPr/>
          </p:nvSpPr>
          <p:spPr>
            <a:xfrm>
              <a:off x="7048500" y="3733800"/>
              <a:ext cx="1333500" cy="152400"/>
            </a:xfrm>
            <a:prstGeom prst="roundRect">
              <a:avLst>
                <a:gd fmla="val 12500" name="adj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25"/>
          <p:cNvGrpSpPr/>
          <p:nvPr/>
        </p:nvGrpSpPr>
        <p:grpSpPr>
          <a:xfrm>
            <a:off x="476250" y="1047750"/>
            <a:ext cx="2095500" cy="2857500"/>
            <a:chOff x="476250" y="1047750"/>
            <a:chExt cx="2095500" cy="2857500"/>
          </a:xfrm>
        </p:grpSpPr>
        <p:sp>
          <p:nvSpPr>
            <p:cNvPr id="190" name="Google Shape;190;p25"/>
            <p:cNvSpPr txBox="1"/>
            <p:nvPr/>
          </p:nvSpPr>
          <p:spPr>
            <a:xfrm>
              <a:off x="476250" y="1047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Fase Definición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1" name="Google Shape;191;p25"/>
            <p:cNvSpPr txBox="1"/>
            <p:nvPr/>
          </p:nvSpPr>
          <p:spPr>
            <a:xfrm>
              <a:off x="476250" y="1428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Investigación Técnica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2" name="Google Shape;192;p25"/>
            <p:cNvSpPr txBox="1"/>
            <p:nvPr/>
          </p:nvSpPr>
          <p:spPr>
            <a:xfrm>
              <a:off x="476250" y="1809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Diseño Proyectual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3" name="Google Shape;193;p25"/>
            <p:cNvSpPr txBox="1"/>
            <p:nvPr/>
          </p:nvSpPr>
          <p:spPr>
            <a:xfrm>
              <a:off x="476250" y="2190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Prototipado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4" name="Google Shape;194;p25"/>
            <p:cNvSpPr txBox="1"/>
            <p:nvPr/>
          </p:nvSpPr>
          <p:spPr>
            <a:xfrm>
              <a:off x="476250" y="2571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Iteración y Testeo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5" name="Google Shape;195;p25"/>
            <p:cNvSpPr txBox="1"/>
            <p:nvPr/>
          </p:nvSpPr>
          <p:spPr>
            <a:xfrm>
              <a:off x="476250" y="2952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Validación Impacto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6" name="Google Shape;196;p25"/>
            <p:cNvSpPr txBox="1"/>
            <p:nvPr/>
          </p:nvSpPr>
          <p:spPr>
            <a:xfrm>
              <a:off x="476250" y="3333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Cierre Documentación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197" name="Google Shape;197;p25"/>
            <p:cNvSpPr txBox="1"/>
            <p:nvPr/>
          </p:nvSpPr>
          <p:spPr>
            <a:xfrm>
              <a:off x="476250" y="37147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Examen de Título</a:t>
              </a:r>
              <a:endParaRPr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grpSp>
        <p:nvGrpSpPr>
          <p:cNvPr id="198" name="Google Shape;198;p25"/>
          <p:cNvGrpSpPr/>
          <p:nvPr/>
        </p:nvGrpSpPr>
        <p:grpSpPr>
          <a:xfrm>
            <a:off x="2667000" y="4048125"/>
            <a:ext cx="6096000" cy="190500"/>
            <a:chOff x="2667000" y="4048125"/>
            <a:chExt cx="6096000" cy="190500"/>
          </a:xfrm>
        </p:grpSpPr>
        <p:sp>
          <p:nvSpPr>
            <p:cNvPr id="199" name="Google Shape;199;p25"/>
            <p:cNvSpPr txBox="1"/>
            <p:nvPr/>
          </p:nvSpPr>
          <p:spPr>
            <a:xfrm>
              <a:off x="2667000" y="404812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Agosto</a:t>
              </a:r>
              <a:endParaRPr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00" name="Google Shape;200;p25"/>
            <p:cNvSpPr txBox="1"/>
            <p:nvPr/>
          </p:nvSpPr>
          <p:spPr>
            <a:xfrm>
              <a:off x="4000500" y="404812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Septiembre</a:t>
              </a:r>
              <a:endParaRPr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01" name="Google Shape;201;p25"/>
            <p:cNvSpPr txBox="1"/>
            <p:nvPr/>
          </p:nvSpPr>
          <p:spPr>
            <a:xfrm>
              <a:off x="5334000" y="404812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Octubre</a:t>
              </a:r>
              <a:endParaRPr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02" name="Google Shape;202;p25"/>
            <p:cNvSpPr txBox="1"/>
            <p:nvPr/>
          </p:nvSpPr>
          <p:spPr>
            <a:xfrm>
              <a:off x="6667500" y="4048125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Noviembre</a:t>
              </a:r>
              <a:endParaRPr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  <p:sp>
          <p:nvSpPr>
            <p:cNvPr id="203" name="Google Shape;203;p25"/>
            <p:cNvSpPr txBox="1"/>
            <p:nvPr/>
          </p:nvSpPr>
          <p:spPr>
            <a:xfrm>
              <a:off x="8001000" y="40481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858585"/>
                  </a:solidFill>
                  <a:latin typeface="DM Mono"/>
                  <a:ea typeface="DM Mono"/>
                  <a:cs typeface="DM Mono"/>
                  <a:sym typeface="DM Mono"/>
                </a:rPr>
                <a:t>Diciembre</a:t>
              </a:r>
              <a:endParaRPr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endParaRPr>
            </a:p>
          </p:txBody>
        </p:sp>
      </p:grpSp>
      <p:sp>
        <p:nvSpPr>
          <p:cNvPr id="204" name="Google Shape;204;p25"/>
          <p:cNvSpPr/>
          <p:nvPr/>
        </p:nvSpPr>
        <p:spPr>
          <a:xfrm>
            <a:off x="381000" y="4476750"/>
            <a:ext cx="1905000" cy="228600"/>
          </a:xfrm>
          <a:prstGeom prst="roundRect">
            <a:avLst>
              <a:gd fmla="val 50000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381000" y="44767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GANTT_STATUS: ACTIVE</a:t>
            </a:r>
            <a:endParaRPr sz="800">
              <a:solidFill>
                <a:srgbClr val="00FF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2381250" y="4476750"/>
            <a:ext cx="638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// DEBUG: roadmap_v2.sh | UTF-8 | SOURCE: INVESTIGACIÓN SANTIAGO GAETE</a:t>
            </a:r>
            <a:endParaRPr sz="10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762000" y="381000"/>
            <a:ext cx="7620000" cy="3810000"/>
          </a:xfrm>
          <a:prstGeom prst="roundRect">
            <a:avLst>
              <a:gd fmla="val 2500" name="adj"/>
            </a:avLst>
          </a:prstGeom>
          <a:solidFill>
            <a:srgbClr val="252526">
              <a:alpha val="90000"/>
            </a:srgbClr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0" y="1714500"/>
            <a:ext cx="9144000" cy="1143000"/>
          </a:xfrm>
          <a:prstGeom prst="rect">
            <a:avLst/>
          </a:prstGeom>
          <a:solidFill>
            <a:srgbClr val="FF00FF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952500" y="7620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60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SYSTEM_SHUTDOWN</a:t>
            </a:r>
            <a:endParaRPr b="0" sz="60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952500" y="1714500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400">
                <a:solidFill>
                  <a:srgbClr val="1E1E1E"/>
                </a:solidFill>
                <a:highlight>
                  <a:srgbClr val="FF00FF"/>
                </a:highlight>
                <a:latin typeface="DM Mono"/>
                <a:ea typeface="DM Mono"/>
                <a:cs typeface="DM Mono"/>
                <a:sym typeface="DM Mono"/>
              </a:rPr>
              <a:t>EOF: END_OF_INVESTIGATION</a:t>
            </a:r>
            <a:endParaRPr b="0" sz="2400">
              <a:solidFill>
                <a:srgbClr val="1E1E1E"/>
              </a:solidFill>
              <a:highlight>
                <a:srgbClr val="FF00FF"/>
              </a:highlight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1143000" y="2476500"/>
            <a:ext cx="685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6A9955"/>
                </a:solidFill>
                <a:latin typeface="DM Mono"/>
                <a:ea typeface="DM Mono"/>
                <a:cs typeface="DM Mono"/>
                <a:sym typeface="DM Mono"/>
              </a:rPr>
              <a:t>/* PROCESSING FINAL ARTIFACTS... */</a:t>
            </a:r>
            <a:endParaRPr b="0" sz="1000">
              <a:solidFill>
                <a:srgbClr val="6A9955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&gt;&gt; status: 100% COMPLETE</a:t>
            </a:r>
            <a:endParaRPr b="0" sz="1000">
              <a:solidFill>
                <a:srgbClr val="CE9178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9CDCFE"/>
                </a:solidFill>
                <a:latin typeface="DM Mono"/>
                <a:ea typeface="DM Mono"/>
                <a:cs typeface="DM Mono"/>
                <a:sym typeface="DM Mono"/>
              </a:rPr>
              <a:t>&gt;&gt; user_agency: RESTORED</a:t>
            </a:r>
            <a:endParaRPr b="0" sz="1000">
              <a:solidFill>
                <a:srgbClr val="9CDCFE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DCDCAA"/>
                </a:solidFill>
                <a:latin typeface="DM Mono"/>
                <a:ea typeface="DM Mono"/>
                <a:cs typeface="DM Mono"/>
                <a:sym typeface="DM Mono"/>
              </a:rPr>
              <a:t>&gt;&gt; interface_conflict: RESOLVED</a:t>
            </a:r>
            <a:endParaRPr b="0" sz="1000">
              <a:solidFill>
                <a:srgbClr val="DCDCAA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4EC9B0"/>
                </a:solidFill>
                <a:latin typeface="DM Mono"/>
                <a:ea typeface="DM Mono"/>
                <a:cs typeface="DM Mono"/>
                <a:sym typeface="DM Mono"/>
              </a:rPr>
              <a:t>&gt;&gt; deployment: SUCCESSFUL</a:t>
            </a:r>
            <a:endParaRPr b="0" sz="1000">
              <a:solidFill>
                <a:srgbClr val="4EC9B0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FF00FF"/>
                </a:solidFill>
                <a:latin typeface="DM Mono"/>
                <a:ea typeface="DM Mono"/>
                <a:cs typeface="DM Mono"/>
                <a:sym typeface="DM Mono"/>
              </a:rPr>
              <a:t>return new ThesisTransition(SantiagoGaete);</a:t>
            </a:r>
            <a:endParaRPr b="0" sz="1200">
              <a:solidFill>
                <a:srgbClr val="FF00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381000" y="4572000"/>
            <a:ext cx="2286000" cy="285900"/>
          </a:xfrm>
          <a:prstGeom prst="roundRect">
            <a:avLst>
              <a:gd fmla="val 50000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 txBox="1"/>
          <p:nvPr/>
        </p:nvSpPr>
        <p:spPr>
          <a:xfrm>
            <a:off x="381000" y="45720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00">
                <a:solidFill>
                  <a:srgbClr val="00FFFF"/>
                </a:solidFill>
                <a:latin typeface="DM Mono"/>
                <a:ea typeface="DM Mono"/>
                <a:cs typeface="DM Mono"/>
                <a:sym typeface="DM Mono"/>
              </a:rPr>
              <a:t>SESSION_TERMINATED: 0x00</a:t>
            </a:r>
            <a:endParaRPr b="0" sz="900">
              <a:solidFill>
                <a:srgbClr val="00FFFF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2857500" y="4572000"/>
            <a:ext cx="590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800">
                <a:solidFill>
                  <a:srgbClr val="858585"/>
                </a:solidFill>
                <a:latin typeface="DM Mono"/>
                <a:ea typeface="DM Mono"/>
                <a:cs typeface="DM Mono"/>
                <a:sym typeface="DM Mono"/>
              </a:rPr>
              <a:t>| UTF-8 | TOTAL_SATURATION: MAX | SOURCE: SANTIAGO GAETE</a:t>
            </a:r>
            <a:endParaRPr b="0" sz="800">
              <a:solidFill>
                <a:srgbClr val="858585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-476250" y="-476250"/>
            <a:ext cx="1905000" cy="1905000"/>
          </a:xfrm>
          <a:prstGeom prst="ellipse">
            <a:avLst/>
          </a:prstGeom>
          <a:solidFill>
            <a:srgbClr val="FF00FF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7239000" y="3238500"/>
            <a:ext cx="2857500" cy="2857500"/>
          </a:xfrm>
          <a:prstGeom prst="ellipse">
            <a:avLst/>
          </a:prstGeom>
          <a:solidFill>
            <a:srgbClr val="00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66988"/>
            <a:ext cx="90963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 title="outro-music-free-no-copyright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750" y="36131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381000" y="8572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B5CEA8"/>
                </a:solidFill>
                <a:latin typeface="DM Mono"/>
                <a:ea typeface="DM Mono"/>
                <a:cs typeface="DM Mono"/>
                <a:sym typeface="DM Mono"/>
              </a:rPr>
              <a:t>EOF: END_OF_INVESTIGATION</a:t>
            </a:r>
            <a:endParaRPr b="1" sz="3200">
              <a:solidFill>
                <a:srgbClr val="B5CEA8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571500" y="1714500"/>
            <a:ext cx="8001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69CD6"/>
                </a:solidFill>
                <a:latin typeface="DM Mono"/>
                <a:ea typeface="DM Mono"/>
                <a:cs typeface="DM Mono"/>
                <a:sym typeface="DM Mono"/>
              </a:rPr>
              <a:t>const</a:t>
            </a: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</a:t>
            </a:r>
            <a:r>
              <a:rPr lang="es" sz="1800">
                <a:solidFill>
                  <a:srgbClr val="9CDCFB"/>
                </a:solidFill>
                <a:latin typeface="DM Mono"/>
                <a:ea typeface="DM Mono"/>
                <a:cs typeface="DM Mono"/>
                <a:sym typeface="DM Mono"/>
              </a:rPr>
              <a:t>report</a:t>
            </a: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 = {</a:t>
            </a:r>
            <a:endParaRPr sz="18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status: </a:t>
            </a:r>
            <a:r>
              <a:rPr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"100% COMPLETE"</a:t>
            </a: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,</a:t>
            </a:r>
            <a:endParaRPr sz="18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deployment: </a:t>
            </a:r>
            <a:r>
              <a:rPr lang="es" sz="1800">
                <a:solidFill>
                  <a:srgbClr val="CE9178"/>
                </a:solidFill>
                <a:latin typeface="DM Mono"/>
                <a:ea typeface="DM Mono"/>
                <a:cs typeface="DM Mono"/>
                <a:sym typeface="DM Mono"/>
              </a:rPr>
              <a:t>"SUCCESSFUL"</a:t>
            </a:r>
            <a:endParaRPr sz="18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D4D4D4"/>
                </a:solidFill>
                <a:latin typeface="DM Mono"/>
                <a:ea typeface="DM Mono"/>
                <a:cs typeface="DM Mono"/>
                <a:sym typeface="DM Mono"/>
              </a:rPr>
              <a:t>};</a:t>
            </a:r>
            <a:endParaRPr sz="18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4D4D4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44747"/>
                </a:solidFill>
                <a:latin typeface="DM Mono"/>
                <a:ea typeface="DM Mono"/>
                <a:cs typeface="DM Mono"/>
                <a:sym typeface="DM Mono"/>
              </a:rPr>
              <a:t>SESSION_TERMINATED: 0x</a:t>
            </a:r>
            <a:r>
              <a:rPr lang="es" sz="1600">
                <a:solidFill>
                  <a:srgbClr val="F44747"/>
                </a:solidFill>
                <a:latin typeface="DM Mono"/>
                <a:ea typeface="DM Mono"/>
                <a:cs typeface="DM Mono"/>
                <a:sym typeface="DM Mono"/>
              </a:rPr>
              <a:t>0</a:t>
            </a:r>
            <a:r>
              <a:rPr lang="es" sz="1200">
                <a:solidFill>
                  <a:srgbClr val="F44747"/>
                </a:solidFill>
                <a:latin typeface="DM Mono"/>
                <a:ea typeface="DM Mono"/>
                <a:cs typeface="DM Mono"/>
                <a:sym typeface="DM Mono"/>
              </a:rPr>
              <a:t>0</a:t>
            </a:r>
            <a:endParaRPr sz="1200">
              <a:solidFill>
                <a:srgbClr val="F44747"/>
              </a:solidFill>
              <a:latin typeface="DM Mono"/>
              <a:ea typeface="DM Mono"/>
              <a:cs typeface="DM Mono"/>
              <a:sym typeface="DM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