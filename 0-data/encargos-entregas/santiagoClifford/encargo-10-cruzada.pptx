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Lexend SemiBold"/>
      <p:regular r:id="rId24"/>
      <p:bold r:id="rId25"/>
    </p:embeddedFont>
    <p:embeddedFont>
      <p:font typeface="Lexend Light"/>
      <p:regular r:id="rId26"/>
      <p:bold r:id="rId27"/>
    </p:embeddedFont>
    <p:embeddedFont>
      <p:font typeface="Lexend Medium"/>
      <p:regular r:id="rId28"/>
      <p:bold r:id="rId29"/>
    </p:embeddedFont>
    <p:embeddedFont>
      <p:font typeface="Lexend"/>
      <p:bold r:id="rId30"/>
    </p:embeddedFont>
    <p:embeddedFont>
      <p:font typeface="Lexend ExtraLight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LexendSemiBold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exendLight-regular.fntdata"/><Relationship Id="rId25" Type="http://schemas.openxmlformats.org/officeDocument/2006/relationships/font" Target="fonts/LexendSemiBold-bold.fntdata"/><Relationship Id="rId28" Type="http://schemas.openxmlformats.org/officeDocument/2006/relationships/font" Target="fonts/LexendMedium-regular.fntdata"/><Relationship Id="rId27" Type="http://schemas.openxmlformats.org/officeDocument/2006/relationships/font" Target="fonts/Lexend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exend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exendExtraLight-regular.fntdata"/><Relationship Id="rId30" Type="http://schemas.openxmlformats.org/officeDocument/2006/relationships/font" Target="fonts/Lexen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LexendExtraLigh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a8c9016622_29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a8c9016622_29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4ca5984c8_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4ca5984c8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8c9016622_29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8c9016622_29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8c9016622_29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8c9016622_29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4ca5984c8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4ca5984c8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4ca5984c8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4ca5984c8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4ca5984c8_3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4ca5984c8_3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8c9016622_4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8c9016622_4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4ca5984c8_3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4ca5984c8_3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8c9016622_29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8c9016622_29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4ca5984c8_2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e4ca5984c8_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8c18c8e6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a8c18c8e6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8c18c8e6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a8c18c8e6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8c18c8e6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a8c18c8e6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8c18c8e6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a8c18c8e6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8c18c8e6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a8c18c8e6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4ca5984c8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e4ca5984c8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4ca5984c8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e4ca5984c8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a8c9016622_11_0)">
  <p:cSld name="Generated (g3a8c9016622_11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9E87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4000500" y="-476250"/>
            <a:ext cx="5715000" cy="2857500"/>
          </a:xfrm>
          <a:prstGeom prst="roundRect">
            <a:avLst>
              <a:gd fmla="val 20000" name="adj"/>
            </a:avLst>
          </a:prstGeom>
          <a:solidFill>
            <a:srgbClr val="5B7B8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/>
        </p:nvSpPr>
        <p:spPr>
          <a:xfrm>
            <a:off x="4286250" y="571500"/>
            <a:ext cx="4381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2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INTENTION</a:t>
            </a:r>
            <a:br>
              <a:rPr b="1" lang="es" sz="372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1" lang="es" sz="372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DEVICES</a:t>
            </a:r>
            <a:endParaRPr b="1" sz="3720">
              <a:solidFill>
                <a:srgbClr val="F9EBE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4286250" y="1971174"/>
            <a:ext cx="4476900" cy="1047900"/>
          </a:xfrm>
          <a:prstGeom prst="roundRect">
            <a:avLst>
              <a:gd fmla="val 13636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F9EB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 txBox="1"/>
          <p:nvPr/>
        </p:nvSpPr>
        <p:spPr>
          <a:xfrm>
            <a:off x="4476750" y="2114049"/>
            <a:ext cx="4095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665">
                <a:solidFill>
                  <a:srgbClr val="F9EBE0"/>
                </a:solidFill>
                <a:latin typeface="Lexend ExtraLight"/>
                <a:ea typeface="Lexend ExtraLight"/>
                <a:cs typeface="Lexend ExtraLight"/>
                <a:sym typeface="Lexend ExtraLight"/>
              </a:rPr>
              <a:t>Diseño de un ecosistema de dispositivos orientados hacia una relación más consciente con la tecnología.</a:t>
            </a:r>
            <a:endParaRPr b="0" sz="1665">
              <a:solidFill>
                <a:srgbClr val="F9EBE0"/>
              </a:solidFill>
              <a:latin typeface="Lexend ExtraLight"/>
              <a:ea typeface="Lexend ExtraLight"/>
              <a:cs typeface="Lexend ExtraLight"/>
              <a:sym typeface="Lexend ExtraLight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5524500" y="4000500"/>
            <a:ext cx="3238500" cy="571500"/>
          </a:xfrm>
          <a:prstGeom prst="roundRect">
            <a:avLst>
              <a:gd fmla="val 50000" name="adj"/>
            </a:avLst>
          </a:prstGeom>
          <a:solidFill>
            <a:srgbClr val="C478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5524500" y="4000500"/>
            <a:ext cx="3238500" cy="571500"/>
          </a:xfrm>
          <a:prstGeom prst="roundRect">
            <a:avLst>
              <a:gd fmla="val 50000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F9EB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5524500" y="4000500"/>
            <a:ext cx="3238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4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SANTIAGO GAETE FERNÁNDEZ</a:t>
            </a:r>
            <a:endParaRPr b="0" sz="1400">
              <a:solidFill>
                <a:srgbClr val="F9EBE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476750" y="4191000"/>
            <a:ext cx="190500" cy="190500"/>
          </a:xfrm>
          <a:prstGeom prst="ellipse">
            <a:avLst/>
          </a:prstGeom>
          <a:solidFill>
            <a:srgbClr val="F9EBE0">
              <a:alpha val="5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4762500" y="4191000"/>
            <a:ext cx="190500" cy="190500"/>
          </a:xfrm>
          <a:prstGeom prst="ellipse">
            <a:avLst/>
          </a:prstGeom>
          <a:solidFill>
            <a:srgbClr val="1B1B1E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5048250" y="4191000"/>
            <a:ext cx="190500" cy="190500"/>
          </a:xfrm>
          <a:prstGeom prst="ellipse">
            <a:avLst/>
          </a:prstGeom>
          <a:solidFill>
            <a:srgbClr val="C4785A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0" y="0"/>
            <a:ext cx="2124300" cy="5143500"/>
          </a:xfrm>
          <a:prstGeom prst="rect">
            <a:avLst/>
          </a:prstGeom>
          <a:solidFill>
            <a:srgbClr val="F9EBE0">
              <a:alpha val="8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1E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 title="ipad-kid-playing-minecraft-and-watching-youtube-shorts-ipad-kid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1363" y="1027857"/>
            <a:ext cx="2461275" cy="30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EBE0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1428750" y="4525150"/>
            <a:ext cx="62865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C4785A"/>
                </a:solidFill>
                <a:latin typeface="Lexend"/>
                <a:ea typeface="Lexend"/>
                <a:cs typeface="Lexend"/>
                <a:sym typeface="Lexend"/>
              </a:rPr>
              <a:t>Problemática </a:t>
            </a:r>
            <a:r>
              <a:rPr lang="es" sz="2400">
                <a:solidFill>
                  <a:srgbClr val="C4785A"/>
                </a:solidFill>
                <a:latin typeface="Lexend"/>
                <a:ea typeface="Lexend"/>
                <a:cs typeface="Lexend"/>
                <a:sym typeface="Lexend"/>
              </a:rPr>
              <a:t>+ 3 Aristas</a:t>
            </a:r>
            <a:endParaRPr sz="2400">
              <a:solidFill>
                <a:srgbClr val="C4785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3280187" y="2745929"/>
            <a:ext cx="2583600" cy="1419300"/>
          </a:xfrm>
          <a:prstGeom prst="roundRect">
            <a:avLst>
              <a:gd fmla="val 16667" name="adj"/>
            </a:avLst>
          </a:prstGeom>
          <a:solidFill>
            <a:srgbClr val="C478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389050" y="2745929"/>
            <a:ext cx="2583600" cy="1419300"/>
          </a:xfrm>
          <a:prstGeom prst="roundRect">
            <a:avLst>
              <a:gd fmla="val 16667" name="adj"/>
            </a:avLst>
          </a:prstGeom>
          <a:solidFill>
            <a:srgbClr val="7A9E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6171350" y="2727001"/>
            <a:ext cx="2583600" cy="1419300"/>
          </a:xfrm>
          <a:prstGeom prst="roundRect">
            <a:avLst>
              <a:gd fmla="val 16667" name="adj"/>
            </a:avLst>
          </a:prstGeom>
          <a:solidFill>
            <a:srgbClr val="5B7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638050" y="2387468"/>
            <a:ext cx="20856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7A9E87"/>
                </a:solidFill>
                <a:latin typeface="Lexend"/>
                <a:ea typeface="Lexend"/>
                <a:cs typeface="Lexend"/>
                <a:sym typeface="Lexend"/>
              </a:rPr>
              <a:t>ARISTA I</a:t>
            </a:r>
            <a:endParaRPr b="1" sz="2400">
              <a:solidFill>
                <a:srgbClr val="7A9E8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3529197" y="2386088"/>
            <a:ext cx="20856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C4785A"/>
                </a:solidFill>
                <a:latin typeface="Lexend"/>
                <a:ea typeface="Lexend"/>
                <a:cs typeface="Lexend"/>
                <a:sym typeface="Lexend"/>
              </a:rPr>
              <a:t>ARISTA II</a:t>
            </a:r>
            <a:endParaRPr b="1" sz="2400">
              <a:solidFill>
                <a:srgbClr val="C4785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6173102" y="2365758"/>
            <a:ext cx="25836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5B7B8A"/>
                </a:solidFill>
                <a:latin typeface="Lexend"/>
                <a:ea typeface="Lexend"/>
                <a:cs typeface="Lexend"/>
                <a:sym typeface="Lexend"/>
              </a:rPr>
              <a:t>ARISTA III</a:t>
            </a:r>
            <a:endParaRPr b="1" sz="2400">
              <a:solidFill>
                <a:srgbClr val="5B7B8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535150" y="2921002"/>
            <a:ext cx="2291400" cy="10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F9EBE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Asimetría de fricción</a:t>
            </a:r>
            <a:endParaRPr>
              <a:solidFill>
                <a:srgbClr val="F9EBE0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9EBE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Entrar es instantáneo, salir requiere decisión consciente.</a:t>
            </a:r>
            <a:endParaRPr>
              <a:solidFill>
                <a:srgbClr val="F9EBE0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3375550" y="2931175"/>
            <a:ext cx="2370600" cy="10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F9EBE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Multifuncionalidad como trampa</a:t>
            </a:r>
            <a:endParaRPr>
              <a:solidFill>
                <a:srgbClr val="F9EBE0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9EBE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Trabajo y ocio, mismo </a:t>
            </a:r>
            <a:r>
              <a:rPr lang="es">
                <a:solidFill>
                  <a:srgbClr val="F9EBE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dispositivo</a:t>
            </a:r>
            <a:r>
              <a:rPr lang="es">
                <a:solidFill>
                  <a:srgbClr val="F9EBE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.</a:t>
            </a:r>
            <a:endParaRPr>
              <a:solidFill>
                <a:srgbClr val="F9EBE0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6236050" y="2931800"/>
            <a:ext cx="2446200" cy="10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9EBE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El modelo de negocio: La adicción no es un efecto colateral, es el producto.</a:t>
            </a:r>
            <a:endParaRPr>
              <a:solidFill>
                <a:srgbClr val="F9EBE0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237900" y="880400"/>
            <a:ext cx="86682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ctr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" sz="1500">
                <a:solidFill>
                  <a:srgbClr val="1B1B1E"/>
                </a:solidFill>
                <a:latin typeface="Lexend Light"/>
                <a:ea typeface="Lexend Light"/>
                <a:cs typeface="Lexend Light"/>
                <a:sym typeface="Lexend Light"/>
              </a:rPr>
              <a:t>“El diseño de interfaces digitales explota </a:t>
            </a:r>
            <a:r>
              <a:rPr b="1" lang="es" sz="150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rPr>
              <a:t>deliberadamente </a:t>
            </a:r>
            <a:r>
              <a:rPr lang="es" sz="1500">
                <a:solidFill>
                  <a:srgbClr val="1B1B1E"/>
                </a:solidFill>
                <a:latin typeface="Lexend Light"/>
                <a:ea typeface="Lexend Light"/>
                <a:cs typeface="Lexend Light"/>
                <a:sym typeface="Lexend Light"/>
              </a:rPr>
              <a:t>los </a:t>
            </a:r>
            <a:r>
              <a:rPr b="1" lang="es" sz="150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rPr>
              <a:t>mecanismos neurobiológicos </a:t>
            </a:r>
            <a:r>
              <a:rPr lang="es" sz="1500">
                <a:solidFill>
                  <a:srgbClr val="1B1B1E"/>
                </a:solidFill>
                <a:latin typeface="Lexend Light"/>
                <a:ea typeface="Lexend Light"/>
                <a:cs typeface="Lexend Light"/>
                <a:sym typeface="Lexend Light"/>
              </a:rPr>
              <a:t>del usuario para </a:t>
            </a:r>
            <a:r>
              <a:rPr b="1" lang="es" sz="150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rPr>
              <a:t>maximizar el tiempo de pantalla</a:t>
            </a:r>
            <a:r>
              <a:rPr lang="es" sz="1500">
                <a:solidFill>
                  <a:srgbClr val="1B1B1E"/>
                </a:solidFill>
                <a:latin typeface="Lexend Light"/>
                <a:ea typeface="Lexend Light"/>
                <a:cs typeface="Lexend Light"/>
                <a:sym typeface="Lexend Light"/>
              </a:rPr>
              <a:t>, erosionando progresivamente su </a:t>
            </a:r>
            <a:r>
              <a:rPr b="1" lang="es" sz="150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rPr>
              <a:t>autonomía </a:t>
            </a:r>
            <a:r>
              <a:rPr lang="es" sz="1500">
                <a:solidFill>
                  <a:srgbClr val="1B1B1E"/>
                </a:solidFill>
                <a:latin typeface="Lexend Light"/>
                <a:ea typeface="Lexend Light"/>
                <a:cs typeface="Lexend Light"/>
                <a:sym typeface="Lexend Light"/>
              </a:rPr>
              <a:t>atencional y capacidad de </a:t>
            </a:r>
            <a:r>
              <a:rPr b="1" lang="es" sz="150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rPr>
              <a:t>decisión consciente</a:t>
            </a:r>
            <a:r>
              <a:rPr lang="es" sz="1500">
                <a:solidFill>
                  <a:srgbClr val="1B1B1E"/>
                </a:solidFill>
                <a:latin typeface="Lexend Light"/>
                <a:ea typeface="Lexend Light"/>
                <a:cs typeface="Lexend Light"/>
                <a:sym typeface="Lexend Light"/>
              </a:rPr>
              <a:t>.”</a:t>
            </a:r>
            <a:endParaRPr sz="1500">
              <a:solidFill>
                <a:srgbClr val="1B1B1E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EBE0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/>
        </p:nvSpPr>
        <p:spPr>
          <a:xfrm>
            <a:off x="337150" y="235750"/>
            <a:ext cx="318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C4785A"/>
                </a:solidFill>
                <a:latin typeface="Lexend ExtraLight"/>
                <a:ea typeface="Lexend ExtraLight"/>
                <a:cs typeface="Lexend ExtraLight"/>
                <a:sym typeface="Lexend ExtraLight"/>
              </a:rPr>
              <a:t>Marco Teórico</a:t>
            </a:r>
            <a:endParaRPr sz="3300">
              <a:solidFill>
                <a:srgbClr val="C4785A"/>
              </a:solidFill>
              <a:latin typeface="Lexend ExtraLight"/>
              <a:ea typeface="Lexend ExtraLight"/>
              <a:cs typeface="Lexend ExtraLight"/>
              <a:sym typeface="Lexend ExtraLight"/>
            </a:endParaRPr>
          </a:p>
        </p:txBody>
      </p:sp>
      <p:grpSp>
        <p:nvGrpSpPr>
          <p:cNvPr id="91" name="Google Shape;91;p17"/>
          <p:cNvGrpSpPr/>
          <p:nvPr/>
        </p:nvGrpSpPr>
        <p:grpSpPr>
          <a:xfrm>
            <a:off x="3924300" y="361950"/>
            <a:ext cx="4953000" cy="4476750"/>
            <a:chOff x="2095500" y="666750"/>
            <a:chExt cx="4953000" cy="4476750"/>
          </a:xfrm>
        </p:grpSpPr>
        <p:sp>
          <p:nvSpPr>
            <p:cNvPr id="92" name="Google Shape;92;p17"/>
            <p:cNvSpPr/>
            <p:nvPr/>
          </p:nvSpPr>
          <p:spPr>
            <a:xfrm>
              <a:off x="3048000" y="666750"/>
              <a:ext cx="3048000" cy="3048000"/>
            </a:xfrm>
            <a:prstGeom prst="ellipse">
              <a:avLst/>
            </a:prstGeom>
            <a:solidFill>
              <a:srgbClr val="C4785A">
                <a:alpha val="50000"/>
              </a:srgbClr>
            </a:solidFill>
            <a:ln cap="flat" cmpd="sng" w="19050">
              <a:solidFill>
                <a:srgbClr val="C478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7"/>
            <p:cNvSpPr/>
            <p:nvPr/>
          </p:nvSpPr>
          <p:spPr>
            <a:xfrm>
              <a:off x="4000500" y="2095500"/>
              <a:ext cx="3048000" cy="3048000"/>
            </a:xfrm>
            <a:prstGeom prst="ellipse">
              <a:avLst/>
            </a:prstGeom>
            <a:solidFill>
              <a:srgbClr val="5B7B8A">
                <a:alpha val="50000"/>
              </a:srgbClr>
            </a:solidFill>
            <a:ln cap="flat" cmpd="sng" w="19050">
              <a:solidFill>
                <a:srgbClr val="5B7B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2095500" y="2095500"/>
              <a:ext cx="3048000" cy="3048000"/>
            </a:xfrm>
            <a:prstGeom prst="ellipse">
              <a:avLst/>
            </a:prstGeom>
            <a:solidFill>
              <a:srgbClr val="7A9E87">
                <a:alpha val="50000"/>
              </a:srgbClr>
            </a:solidFill>
            <a:ln cap="flat" cmpd="sng" w="19050">
              <a:solidFill>
                <a:srgbClr val="7A9E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" name="Google Shape;95;p17"/>
          <p:cNvGrpSpPr/>
          <p:nvPr/>
        </p:nvGrpSpPr>
        <p:grpSpPr>
          <a:xfrm>
            <a:off x="3924300" y="985075"/>
            <a:ext cx="5025300" cy="2979175"/>
            <a:chOff x="2095500" y="1289875"/>
            <a:chExt cx="5025300" cy="2979175"/>
          </a:xfrm>
        </p:grpSpPr>
        <p:sp>
          <p:nvSpPr>
            <p:cNvPr id="96" name="Google Shape;96;p17"/>
            <p:cNvSpPr txBox="1"/>
            <p:nvPr/>
          </p:nvSpPr>
          <p:spPr>
            <a:xfrm>
              <a:off x="3655650" y="1289875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800">
                  <a:solidFill>
                    <a:srgbClr val="C4785A"/>
                  </a:solidFill>
                  <a:latin typeface="Lexend"/>
                  <a:ea typeface="Lexend"/>
                  <a:cs typeface="Lexend"/>
                  <a:sym typeface="Lexend"/>
                </a:rPr>
                <a:t>UX/UI</a:t>
              </a:r>
              <a:endParaRPr b="1" sz="1800">
                <a:solidFill>
                  <a:srgbClr val="C4785A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" name="Google Shape;97;p17"/>
            <p:cNvSpPr txBox="1"/>
            <p:nvPr/>
          </p:nvSpPr>
          <p:spPr>
            <a:xfrm>
              <a:off x="5215800" y="361950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800">
                  <a:solidFill>
                    <a:srgbClr val="5B7B8A"/>
                  </a:solidFill>
                  <a:latin typeface="Lexend"/>
                  <a:ea typeface="Lexend"/>
                  <a:cs typeface="Lexend"/>
                  <a:sym typeface="Lexend"/>
                </a:rPr>
                <a:t>Economía Digital</a:t>
              </a:r>
              <a:endParaRPr b="1" sz="1800">
                <a:solidFill>
                  <a:srgbClr val="5B7B8A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" name="Google Shape;98;p17"/>
            <p:cNvSpPr txBox="1"/>
            <p:nvPr/>
          </p:nvSpPr>
          <p:spPr>
            <a:xfrm>
              <a:off x="2095500" y="369755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800">
                  <a:solidFill>
                    <a:srgbClr val="7A9E87"/>
                  </a:solidFill>
                  <a:latin typeface="Lexend"/>
                  <a:ea typeface="Lexend"/>
                  <a:cs typeface="Lexend"/>
                  <a:sym typeface="Lexend"/>
                </a:rPr>
                <a:t>Biología Humana</a:t>
              </a:r>
              <a:endParaRPr b="1" sz="1800">
                <a:solidFill>
                  <a:srgbClr val="7A9E87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" name="Google Shape;99;p17"/>
          <p:cNvGrpSpPr/>
          <p:nvPr/>
        </p:nvGrpSpPr>
        <p:grpSpPr>
          <a:xfrm>
            <a:off x="5058314" y="2213035"/>
            <a:ext cx="2684947" cy="1772009"/>
            <a:chOff x="3229514" y="2517835"/>
            <a:chExt cx="2684947" cy="1772009"/>
          </a:xfrm>
        </p:grpSpPr>
        <p:sp>
          <p:nvSpPr>
            <p:cNvPr id="100" name="Google Shape;100;p17"/>
            <p:cNvSpPr txBox="1"/>
            <p:nvPr/>
          </p:nvSpPr>
          <p:spPr>
            <a:xfrm>
              <a:off x="3229514" y="2517835"/>
              <a:ext cx="95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00">
                  <a:solidFill>
                    <a:srgbClr val="1B1B1E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t>Diseño Persuasivo</a:t>
              </a:r>
              <a:endParaRPr sz="1000">
                <a:solidFill>
                  <a:srgbClr val="1B1B1E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sp>
          <p:nvSpPr>
            <p:cNvPr id="101" name="Google Shape;101;p17"/>
            <p:cNvSpPr txBox="1"/>
            <p:nvPr/>
          </p:nvSpPr>
          <p:spPr>
            <a:xfrm>
              <a:off x="4901661" y="2517835"/>
              <a:ext cx="1012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00">
                  <a:solidFill>
                    <a:srgbClr val="1B1B1E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t>Monetización del Tiempo de Pantalla</a:t>
              </a:r>
              <a:endParaRPr sz="1000">
                <a:solidFill>
                  <a:srgbClr val="1B1B1E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4000500" y="3718344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00">
                  <a:solidFill>
                    <a:srgbClr val="1B1B1E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t>Capitalismo de la Vulnerabilidad Cognitiva</a:t>
              </a:r>
              <a:endParaRPr sz="1000">
                <a:solidFill>
                  <a:srgbClr val="1B1B1E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sp>
          <p:nvSpPr>
            <p:cNvPr id="103" name="Google Shape;103;p17"/>
            <p:cNvSpPr txBox="1"/>
            <p:nvPr/>
          </p:nvSpPr>
          <p:spPr>
            <a:xfrm>
              <a:off x="4095750" y="3095625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1B1B1E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t>Fricción Intencional</a:t>
              </a:r>
              <a:endParaRPr sz="1100">
                <a:solidFill>
                  <a:srgbClr val="1B1B1E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</p:grpSp>
      <p:sp>
        <p:nvSpPr>
          <p:cNvPr id="104" name="Google Shape;104;p17"/>
          <p:cNvSpPr/>
          <p:nvPr/>
        </p:nvSpPr>
        <p:spPr>
          <a:xfrm>
            <a:off x="647150" y="1220725"/>
            <a:ext cx="2658900" cy="852300"/>
          </a:xfrm>
          <a:prstGeom prst="roundRect">
            <a:avLst>
              <a:gd fmla="val 16667" name="adj"/>
            </a:avLst>
          </a:prstGeom>
          <a:solidFill>
            <a:srgbClr val="7A9E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BIOLOGÍA</a:t>
            </a:r>
            <a:endParaRPr sz="1800">
              <a:solidFill>
                <a:srgbClr val="F9EBE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647150" y="2413850"/>
            <a:ext cx="2658900" cy="852300"/>
          </a:xfrm>
          <a:prstGeom prst="roundRect">
            <a:avLst>
              <a:gd fmla="val 16667" name="adj"/>
            </a:avLst>
          </a:prstGeom>
          <a:solidFill>
            <a:srgbClr val="C478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DISEÑO UX</a:t>
            </a:r>
            <a:endParaRPr sz="1800">
              <a:solidFill>
                <a:srgbClr val="F9EBE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647150" y="3606975"/>
            <a:ext cx="2658900" cy="852300"/>
          </a:xfrm>
          <a:prstGeom prst="roundRect">
            <a:avLst>
              <a:gd fmla="val 16667" name="adj"/>
            </a:avLst>
          </a:prstGeom>
          <a:solidFill>
            <a:srgbClr val="5B7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CONTEXTO SOCIO-ECONÓMICO</a:t>
            </a:r>
            <a:endParaRPr sz="1800">
              <a:solidFill>
                <a:srgbClr val="F9EBE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EBE0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/>
        </p:nvSpPr>
        <p:spPr>
          <a:xfrm>
            <a:off x="4306575" y="324100"/>
            <a:ext cx="43182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300">
                <a:solidFill>
                  <a:srgbClr val="C4785A"/>
                </a:solidFill>
                <a:latin typeface="Lexend"/>
                <a:ea typeface="Lexend"/>
                <a:cs typeface="Lexend"/>
                <a:sym typeface="Lexend"/>
              </a:rPr>
              <a:t>Usuario y Contexto</a:t>
            </a:r>
            <a:endParaRPr b="1" sz="3300">
              <a:solidFill>
                <a:srgbClr val="C4785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4171900" y="1689600"/>
            <a:ext cx="45156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"Adulto joven que reconoce su uso del smartphone como problemático y </a:t>
            </a:r>
            <a:r>
              <a:rPr b="1" lang="e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quiere reducirlo</a:t>
            </a:r>
            <a:r>
              <a:rPr lang="e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pero no puede evitarlo </a:t>
            </a:r>
            <a:r>
              <a:rPr b="1" lang="e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porque </a:t>
            </a:r>
            <a:r>
              <a:rPr b="1" lang="e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 necesita </a:t>
            </a:r>
            <a:r>
              <a:rPr lang="e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para cumplir con sus obligaciones" </a:t>
            </a:r>
            <a:endParaRPr sz="1600">
              <a:solidFill>
                <a:srgbClr val="C4785A"/>
              </a:solidFill>
              <a:latin typeface="Lexend ExtraLight"/>
              <a:ea typeface="Lexend ExtraLight"/>
              <a:cs typeface="Lexend ExtraLight"/>
              <a:sym typeface="Lexend ExtraLight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-566300" y="1209550"/>
            <a:ext cx="4164600" cy="3592800"/>
          </a:xfrm>
          <a:prstGeom prst="roundRect">
            <a:avLst>
              <a:gd fmla="val 11811" name="adj"/>
            </a:avLst>
          </a:prstGeom>
          <a:solidFill>
            <a:srgbClr val="C478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654675" y="167899"/>
            <a:ext cx="1390800" cy="1390800"/>
          </a:xfrm>
          <a:prstGeom prst="ellipse">
            <a:avLst/>
          </a:prstGeom>
          <a:solidFill>
            <a:srgbClr val="C4785A"/>
          </a:solidFill>
          <a:ln cap="flat" cmpd="sng" w="38100">
            <a:solidFill>
              <a:srgbClr val="F9EB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69725" y="1609620"/>
            <a:ext cx="3273900" cy="25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EBE0"/>
              </a:buClr>
              <a:buSzPts val="1300"/>
              <a:buFont typeface="Lexend"/>
              <a:buChar char="-"/>
            </a:pPr>
            <a:r>
              <a:rPr lang="es" sz="13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Antecedentes: Ha intentado reducir su screentime previamente</a:t>
            </a:r>
            <a:endParaRPr sz="1300">
              <a:solidFill>
                <a:srgbClr val="F9EBE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9EBE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EBE0"/>
              </a:buClr>
              <a:buSzPts val="1300"/>
              <a:buFont typeface="Lexend"/>
              <a:buChar char="-"/>
            </a:pPr>
            <a:r>
              <a:rPr lang="es" sz="13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Relación: Reconoce su relación con el scroll como “adictiva”/problemática</a:t>
            </a:r>
            <a:endParaRPr sz="1300">
              <a:solidFill>
                <a:srgbClr val="F9EBE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9EBE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EBE0"/>
              </a:buClr>
              <a:buSzPts val="1300"/>
              <a:buFont typeface="Lexend"/>
              <a:buChar char="-"/>
            </a:pPr>
            <a:r>
              <a:rPr lang="es" sz="13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Uso: Trabajo, Conexiones, estudio</a:t>
            </a:r>
            <a:endParaRPr sz="1300">
              <a:solidFill>
                <a:srgbClr val="F9EBE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9EBE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EBE0"/>
              </a:buClr>
              <a:buSzPts val="1300"/>
              <a:buFont typeface="Lexend"/>
              <a:buChar char="-"/>
            </a:pPr>
            <a:r>
              <a:rPr lang="es" sz="13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Trigger: Momentos de espera</a:t>
            </a:r>
            <a:endParaRPr sz="1300">
              <a:solidFill>
                <a:srgbClr val="F9EBE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-123950" y="4260656"/>
            <a:ext cx="343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22 años, e</a:t>
            </a:r>
            <a:r>
              <a:rPr b="1" lang="es" sz="16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studiante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381850" y="3331700"/>
            <a:ext cx="603900" cy="148500"/>
          </a:xfrm>
          <a:prstGeom prst="rect">
            <a:avLst/>
          </a:prstGeom>
          <a:solidFill>
            <a:srgbClr val="5B7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4985735" y="3331700"/>
            <a:ext cx="603900" cy="148500"/>
          </a:xfrm>
          <a:prstGeom prst="rect">
            <a:avLst/>
          </a:prstGeom>
          <a:solidFill>
            <a:srgbClr val="5B7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5589619" y="3331700"/>
            <a:ext cx="603900" cy="148500"/>
          </a:xfrm>
          <a:prstGeom prst="rect">
            <a:avLst/>
          </a:prstGeom>
          <a:solidFill>
            <a:srgbClr val="5B7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6193504" y="3331700"/>
            <a:ext cx="603900" cy="148500"/>
          </a:xfrm>
          <a:prstGeom prst="rect">
            <a:avLst/>
          </a:prstGeom>
          <a:solidFill>
            <a:srgbClr val="C478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6797389" y="3331700"/>
            <a:ext cx="603900" cy="148500"/>
          </a:xfrm>
          <a:prstGeom prst="rect">
            <a:avLst/>
          </a:prstGeom>
          <a:solidFill>
            <a:srgbClr val="C478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8005159" y="3331700"/>
            <a:ext cx="603900" cy="1485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7401274" y="3331700"/>
            <a:ext cx="603900" cy="148500"/>
          </a:xfrm>
          <a:prstGeom prst="rect">
            <a:avLst/>
          </a:prstGeom>
          <a:solidFill>
            <a:srgbClr val="7A9E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" name="Google Shape;124;p18"/>
          <p:cNvCxnSpPr/>
          <p:nvPr/>
        </p:nvCxnSpPr>
        <p:spPr>
          <a:xfrm flipH="1" rot="10800000">
            <a:off x="4395241" y="3743700"/>
            <a:ext cx="1771200" cy="1500"/>
          </a:xfrm>
          <a:prstGeom prst="straightConnector1">
            <a:avLst/>
          </a:prstGeom>
          <a:noFill/>
          <a:ln cap="flat" cmpd="sng" w="19050">
            <a:solidFill>
              <a:srgbClr val="1B1B1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8"/>
          <p:cNvCxnSpPr/>
          <p:nvPr/>
        </p:nvCxnSpPr>
        <p:spPr>
          <a:xfrm>
            <a:off x="6224132" y="3743575"/>
            <a:ext cx="1157400" cy="0"/>
          </a:xfrm>
          <a:prstGeom prst="straightConnector1">
            <a:avLst/>
          </a:prstGeom>
          <a:noFill/>
          <a:ln cap="flat" cmpd="sng" w="19050">
            <a:solidFill>
              <a:srgbClr val="1B1B1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8"/>
          <p:cNvCxnSpPr/>
          <p:nvPr/>
        </p:nvCxnSpPr>
        <p:spPr>
          <a:xfrm>
            <a:off x="7437673" y="3743575"/>
            <a:ext cx="555300" cy="0"/>
          </a:xfrm>
          <a:prstGeom prst="straightConnector1">
            <a:avLst/>
          </a:prstGeom>
          <a:noFill/>
          <a:ln cap="flat" cmpd="sng" w="19050">
            <a:solidFill>
              <a:srgbClr val="1B1B1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18"/>
          <p:cNvCxnSpPr/>
          <p:nvPr/>
        </p:nvCxnSpPr>
        <p:spPr>
          <a:xfrm>
            <a:off x="8044419" y="3743575"/>
            <a:ext cx="567900" cy="0"/>
          </a:xfrm>
          <a:prstGeom prst="straightConnector1">
            <a:avLst/>
          </a:prstGeom>
          <a:noFill/>
          <a:ln cap="flat" cmpd="sng" w="19050">
            <a:solidFill>
              <a:srgbClr val="1B1B1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8"/>
          <p:cNvCxnSpPr/>
          <p:nvPr/>
        </p:nvCxnSpPr>
        <p:spPr>
          <a:xfrm>
            <a:off x="4381850" y="3678750"/>
            <a:ext cx="0" cy="149400"/>
          </a:xfrm>
          <a:prstGeom prst="straightConnector1">
            <a:avLst/>
          </a:prstGeom>
          <a:noFill/>
          <a:ln cap="flat" cmpd="sng" w="19050">
            <a:solidFill>
              <a:srgbClr val="1B1B1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8"/>
          <p:cNvCxnSpPr/>
          <p:nvPr/>
        </p:nvCxnSpPr>
        <p:spPr>
          <a:xfrm>
            <a:off x="6175091" y="3678750"/>
            <a:ext cx="0" cy="149400"/>
          </a:xfrm>
          <a:prstGeom prst="straightConnector1">
            <a:avLst/>
          </a:prstGeom>
          <a:noFill/>
          <a:ln cap="flat" cmpd="sng" w="19050">
            <a:solidFill>
              <a:srgbClr val="1B1B1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8"/>
          <p:cNvCxnSpPr/>
          <p:nvPr/>
        </p:nvCxnSpPr>
        <p:spPr>
          <a:xfrm>
            <a:off x="6224132" y="3678750"/>
            <a:ext cx="0" cy="149400"/>
          </a:xfrm>
          <a:prstGeom prst="straightConnector1">
            <a:avLst/>
          </a:prstGeom>
          <a:noFill/>
          <a:ln cap="flat" cmpd="sng" w="19050">
            <a:solidFill>
              <a:srgbClr val="1B1B1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8"/>
          <p:cNvCxnSpPr/>
          <p:nvPr/>
        </p:nvCxnSpPr>
        <p:spPr>
          <a:xfrm>
            <a:off x="7378758" y="3668875"/>
            <a:ext cx="0" cy="149400"/>
          </a:xfrm>
          <a:prstGeom prst="straightConnector1">
            <a:avLst/>
          </a:prstGeom>
          <a:noFill/>
          <a:ln cap="flat" cmpd="sng" w="19050">
            <a:solidFill>
              <a:srgbClr val="1B1B1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8"/>
          <p:cNvCxnSpPr/>
          <p:nvPr/>
        </p:nvCxnSpPr>
        <p:spPr>
          <a:xfrm>
            <a:off x="7435135" y="3669750"/>
            <a:ext cx="0" cy="149400"/>
          </a:xfrm>
          <a:prstGeom prst="straightConnector1">
            <a:avLst/>
          </a:prstGeom>
          <a:noFill/>
          <a:ln cap="flat" cmpd="sng" w="19050">
            <a:solidFill>
              <a:srgbClr val="1B1B1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18"/>
          <p:cNvCxnSpPr/>
          <p:nvPr/>
        </p:nvCxnSpPr>
        <p:spPr>
          <a:xfrm>
            <a:off x="7992966" y="3668875"/>
            <a:ext cx="0" cy="149400"/>
          </a:xfrm>
          <a:prstGeom prst="straightConnector1">
            <a:avLst/>
          </a:prstGeom>
          <a:noFill/>
          <a:ln cap="flat" cmpd="sng" w="19050">
            <a:solidFill>
              <a:srgbClr val="1B1B1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18"/>
          <p:cNvCxnSpPr/>
          <p:nvPr/>
        </p:nvCxnSpPr>
        <p:spPr>
          <a:xfrm>
            <a:off x="8044419" y="3668875"/>
            <a:ext cx="0" cy="149400"/>
          </a:xfrm>
          <a:prstGeom prst="straightConnector1">
            <a:avLst/>
          </a:prstGeom>
          <a:noFill/>
          <a:ln cap="flat" cmpd="sng" w="19050">
            <a:solidFill>
              <a:srgbClr val="1B1B1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18"/>
          <p:cNvCxnSpPr/>
          <p:nvPr/>
        </p:nvCxnSpPr>
        <p:spPr>
          <a:xfrm>
            <a:off x="8608951" y="3658950"/>
            <a:ext cx="0" cy="149400"/>
          </a:xfrm>
          <a:prstGeom prst="straightConnector1">
            <a:avLst/>
          </a:prstGeom>
          <a:noFill/>
          <a:ln cap="flat" cmpd="sng" w="19050">
            <a:solidFill>
              <a:srgbClr val="1B1B1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" name="Google Shape;136;p18"/>
          <p:cNvSpPr txBox="1"/>
          <p:nvPr/>
        </p:nvSpPr>
        <p:spPr>
          <a:xfrm>
            <a:off x="4757075" y="3794200"/>
            <a:ext cx="1042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rPr>
              <a:t>Instagram</a:t>
            </a:r>
            <a:endParaRPr b="1" sz="800">
              <a:solidFill>
                <a:srgbClr val="1B1B1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6280038" y="3794201"/>
            <a:ext cx="1042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rPr>
              <a:t>Tiktok</a:t>
            </a:r>
            <a:endParaRPr b="1" sz="800">
              <a:solidFill>
                <a:srgbClr val="1B1B1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7195225" y="3788282"/>
            <a:ext cx="1042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rPr>
              <a:t>Whatsapp</a:t>
            </a:r>
            <a:endParaRPr b="1" sz="800">
              <a:solidFill>
                <a:srgbClr val="1B1B1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7811200" y="3788860"/>
            <a:ext cx="1042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rPr>
              <a:t>Otros</a:t>
            </a:r>
            <a:endParaRPr b="1" sz="800">
              <a:solidFill>
                <a:srgbClr val="1B1B1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4039628" y="4474500"/>
            <a:ext cx="47826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4785A"/>
                </a:solidFill>
                <a:latin typeface="Lexend"/>
                <a:ea typeface="Lexend"/>
                <a:cs typeface="Lexend"/>
                <a:sym typeface="Lexend"/>
              </a:rPr>
              <a:t>"Saco el celular para buscar algo en google, termino viendo reels durante media hora” </a:t>
            </a:r>
            <a:endParaRPr sz="800">
              <a:solidFill>
                <a:srgbClr val="C4785A"/>
              </a:solidFill>
              <a:latin typeface="Lexend ExtraLight"/>
              <a:ea typeface="Lexend ExtraLight"/>
              <a:cs typeface="Lexend ExtraLight"/>
              <a:sym typeface="Lexend Extra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EBE0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/>
          <p:nvPr/>
        </p:nvSpPr>
        <p:spPr>
          <a:xfrm>
            <a:off x="-484225" y="2624425"/>
            <a:ext cx="5672700" cy="3045000"/>
          </a:xfrm>
          <a:prstGeom prst="roundRect">
            <a:avLst>
              <a:gd fmla="val 12247" name="adj"/>
            </a:avLst>
          </a:prstGeom>
          <a:solidFill>
            <a:srgbClr val="C478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5701890" y="3425825"/>
            <a:ext cx="3012600" cy="1414200"/>
          </a:xfrm>
          <a:prstGeom prst="roundRect">
            <a:avLst>
              <a:gd fmla="val 16667" name="adj"/>
            </a:avLst>
          </a:prstGeom>
          <a:solidFill>
            <a:srgbClr val="5B7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5701900" y="337025"/>
            <a:ext cx="3012600" cy="1369800"/>
          </a:xfrm>
          <a:prstGeom prst="roundRect">
            <a:avLst>
              <a:gd fmla="val 16667" name="adj"/>
            </a:avLst>
          </a:prstGeom>
          <a:solidFill>
            <a:srgbClr val="C478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5701900" y="1859225"/>
            <a:ext cx="3012600" cy="1414200"/>
          </a:xfrm>
          <a:prstGeom prst="roundRect">
            <a:avLst>
              <a:gd fmla="val 16667" name="adj"/>
            </a:avLst>
          </a:prstGeom>
          <a:solidFill>
            <a:srgbClr val="7A9E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6243125" y="416975"/>
            <a:ext cx="23850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9EBE0"/>
                </a:solidFill>
                <a:latin typeface="Lexend Medium"/>
                <a:ea typeface="Lexend Medium"/>
                <a:cs typeface="Lexend Medium"/>
                <a:sym typeface="Lexend Medium"/>
              </a:rPr>
              <a:t>Identificar contextos de uso cotidiano en que el smartphone opera como sustituto de herramientas especializadas, para determinar la arquitectura de cada dispositivo.</a:t>
            </a:r>
            <a:endParaRPr sz="1000">
              <a:solidFill>
                <a:srgbClr val="F9EBE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6243125" y="1988075"/>
            <a:ext cx="2388900" cy="115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9EBE0"/>
                </a:solidFill>
                <a:latin typeface="Lexend Medium"/>
                <a:ea typeface="Lexend Medium"/>
                <a:cs typeface="Lexend Medium"/>
                <a:sym typeface="Lexend Medium"/>
              </a:rPr>
              <a:t>Definir los criterios morfológicos, ergonómicos y de segmentación funcional de cada dispositivo del ecosistema, en función de los contextos identificados. </a:t>
            </a:r>
            <a:endParaRPr sz="1000">
              <a:solidFill>
                <a:srgbClr val="F9EBE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6191025" y="3425825"/>
            <a:ext cx="24576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9EBE0"/>
                </a:solidFill>
                <a:latin typeface="Lexend Medium"/>
                <a:ea typeface="Lexend Medium"/>
                <a:cs typeface="Lexend Medium"/>
                <a:sym typeface="Lexend Medium"/>
              </a:rPr>
              <a:t>Evaluar si el ecosistema reduce el uso no deliberado del smartphone en los contextos definidos, mediante pruebas con usuarios y métricas de screen time observado.</a:t>
            </a:r>
            <a:endParaRPr sz="1000">
              <a:solidFill>
                <a:srgbClr val="F9EBE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-20643" y="3431125"/>
            <a:ext cx="51690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81000" marR="38100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" sz="13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El diseño un </a:t>
            </a:r>
            <a:r>
              <a:rPr b="1" lang="es" sz="13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ecosistema</a:t>
            </a:r>
            <a:r>
              <a:rPr lang="es" sz="13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 de dispositivos </a:t>
            </a:r>
            <a:r>
              <a:rPr b="1" lang="es" sz="13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phygital </a:t>
            </a:r>
            <a:r>
              <a:rPr lang="es" sz="13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que </a:t>
            </a:r>
            <a:r>
              <a:rPr b="1" lang="es" sz="13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suplan las necesidades actualmente concentradas en el smartphone,</a:t>
            </a:r>
            <a:r>
              <a:rPr lang="es" sz="13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 permitirá a los usuarios disociar su dependencia del dispositivo móvil, recuperando </a:t>
            </a:r>
            <a:r>
              <a:rPr b="1" lang="es" sz="13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agencia sobre su comportamiento</a:t>
            </a:r>
            <a:r>
              <a:rPr lang="es" sz="13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 y reduciendo el </a:t>
            </a:r>
            <a:r>
              <a:rPr b="1" lang="es" sz="13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uso no intencional.</a:t>
            </a:r>
            <a:endParaRPr b="1" sz="1300">
              <a:solidFill>
                <a:srgbClr val="F9EBE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381917" y="2781642"/>
            <a:ext cx="3837000" cy="6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3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Hipótesis</a:t>
            </a:r>
            <a:endParaRPr b="1" sz="3300">
              <a:solidFill>
                <a:srgbClr val="F9EBE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-3750" y="991150"/>
            <a:ext cx="5192100" cy="1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" sz="130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rPr>
              <a:t>Diseñar un </a:t>
            </a:r>
            <a:r>
              <a:rPr b="1" lang="es" sz="130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rPr>
              <a:t>ecosistema </a:t>
            </a:r>
            <a:r>
              <a:rPr lang="es" sz="130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rPr>
              <a:t>de dispositivos de </a:t>
            </a:r>
            <a:r>
              <a:rPr b="1" lang="es" sz="130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rPr>
              <a:t>función delimitada</a:t>
            </a:r>
            <a:r>
              <a:rPr lang="es" sz="130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rPr>
              <a:t> que </a:t>
            </a:r>
            <a:r>
              <a:rPr b="1" lang="es" sz="130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rPr>
              <a:t>reduzca la dependencia del smartphone</a:t>
            </a:r>
            <a:r>
              <a:rPr lang="es" sz="130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rPr>
              <a:t> como interfaz única, favoreciendo prácticas de uso tecnológico </a:t>
            </a:r>
            <a:r>
              <a:rPr b="1" lang="es" sz="130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rPr>
              <a:t>consciente e intencionado</a:t>
            </a:r>
            <a:r>
              <a:rPr lang="es" sz="130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rPr>
              <a:t> en usuarios adultos jóvenes</a:t>
            </a:r>
            <a:endParaRPr sz="1300">
              <a:solidFill>
                <a:srgbClr val="1B1B1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323450" y="227175"/>
            <a:ext cx="3680100" cy="6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C4785A"/>
                </a:solidFill>
                <a:latin typeface="Lexend ExtraLight"/>
                <a:ea typeface="Lexend ExtraLight"/>
                <a:cs typeface="Lexend ExtraLight"/>
                <a:sym typeface="Lexend ExtraLight"/>
              </a:rPr>
              <a:t>Objetivo General</a:t>
            </a:r>
            <a:endParaRPr sz="3500">
              <a:solidFill>
                <a:srgbClr val="C4785A"/>
              </a:solidFill>
              <a:latin typeface="Lexend ExtraLight"/>
              <a:ea typeface="Lexend ExtraLight"/>
              <a:cs typeface="Lexend ExtraLight"/>
              <a:sym typeface="Lexend ExtraLight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 rot="5400000">
            <a:off x="5159510" y="728247"/>
            <a:ext cx="13005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OEI</a:t>
            </a:r>
            <a:endParaRPr b="1" sz="3000">
              <a:solidFill>
                <a:srgbClr val="F9EBE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 rot="5400000">
            <a:off x="5155725" y="2235172"/>
            <a:ext cx="1389300" cy="68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OEP</a:t>
            </a:r>
            <a:endParaRPr b="1" sz="3000">
              <a:solidFill>
                <a:srgbClr val="F9EBE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 rot="5400000">
            <a:off x="5224040" y="3788975"/>
            <a:ext cx="1258200" cy="68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OEV</a:t>
            </a:r>
            <a:endParaRPr b="1" sz="3000">
              <a:solidFill>
                <a:srgbClr val="F9EBE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EBE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/>
          <p:nvPr/>
        </p:nvSpPr>
        <p:spPr>
          <a:xfrm>
            <a:off x="5922300" y="125"/>
            <a:ext cx="4341600" cy="5143500"/>
          </a:xfrm>
          <a:prstGeom prst="roundRect">
            <a:avLst>
              <a:gd fmla="val 12578" name="adj"/>
            </a:avLst>
          </a:prstGeom>
          <a:solidFill>
            <a:srgbClr val="5B7B8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176100" y="2719550"/>
            <a:ext cx="5302800" cy="631500"/>
          </a:xfrm>
          <a:prstGeom prst="roundRect">
            <a:avLst>
              <a:gd fmla="val 47901" name="adj"/>
            </a:avLst>
          </a:prstGeom>
          <a:solidFill>
            <a:srgbClr val="5B7B8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338600" y="1430463"/>
            <a:ext cx="5140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s">
                <a:latin typeface="Lexend"/>
                <a:ea typeface="Lexend"/>
                <a:cs typeface="Lexend"/>
                <a:sym typeface="Lexend"/>
              </a:rPr>
              <a:t>amilia de dispositivos de función delimitada que permiten hacer lo que necesitas sin exponer al usuario a los estímulos que generan uso no deliberado.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346350" y="497900"/>
            <a:ext cx="4557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5B7B8A"/>
                </a:solidFill>
                <a:latin typeface="Lexend"/>
                <a:ea typeface="Lexend"/>
                <a:cs typeface="Lexend"/>
                <a:sym typeface="Lexend"/>
              </a:rPr>
              <a:t>Intention Devices:</a:t>
            </a:r>
            <a:endParaRPr sz="3300">
              <a:solidFill>
                <a:srgbClr val="5B7B8A"/>
              </a:solidFill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6142108" y="2673525"/>
            <a:ext cx="27537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“Intention: WorkOut”</a:t>
            </a:r>
            <a:endParaRPr b="1" sz="1700">
              <a:solidFill>
                <a:srgbClr val="F9EBE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B1E"/>
              </a:buClr>
              <a:buSzPts val="1400"/>
              <a:buFont typeface="Lexend"/>
              <a:buChar char="-"/>
            </a:pPr>
            <a:r>
              <a:rPr lang="es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rPr>
              <a:t>Spreadsheet</a:t>
            </a:r>
            <a:endParaRPr>
              <a:solidFill>
                <a:srgbClr val="1B1B1E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B1E"/>
              </a:buClr>
              <a:buSzPts val="1400"/>
              <a:buFont typeface="Lexend"/>
              <a:buChar char="-"/>
            </a:pPr>
            <a:r>
              <a:rPr lang="es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rPr>
              <a:t>Cronómetro</a:t>
            </a:r>
            <a:endParaRPr>
              <a:solidFill>
                <a:srgbClr val="1B1B1E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B1E"/>
              </a:buClr>
              <a:buSzPts val="1400"/>
              <a:buFont typeface="Lexend"/>
              <a:buChar char="-"/>
            </a:pPr>
            <a:r>
              <a:rPr lang="es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rPr>
              <a:t>Servicio de streaming(Spotify, Apple Music, etc)</a:t>
            </a:r>
            <a:endParaRPr>
              <a:solidFill>
                <a:srgbClr val="1B1B1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" name="Google Shape;168;p20" title="image-removebg-preview.png"/>
          <p:cNvPicPr preferRelativeResize="0"/>
          <p:nvPr/>
        </p:nvPicPr>
        <p:blipFill rotWithShape="1">
          <a:blip r:embed="rId3">
            <a:alphaModFix/>
          </a:blip>
          <a:srcRect b="0" l="22457" r="26037" t="0"/>
          <a:stretch/>
        </p:blipFill>
        <p:spPr>
          <a:xfrm>
            <a:off x="6261851" y="197900"/>
            <a:ext cx="2275424" cy="241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 title="image-removebg-preview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900" y="1815850"/>
            <a:ext cx="5140199" cy="2314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342514" y="3906963"/>
            <a:ext cx="5140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B7B8A"/>
              </a:buClr>
              <a:buSzPts val="1400"/>
              <a:buFont typeface="Lexend Light"/>
              <a:buChar char="-"/>
            </a:pPr>
            <a:r>
              <a:rPr lang="es">
                <a:solidFill>
                  <a:srgbClr val="5B7B8A"/>
                </a:solidFill>
                <a:latin typeface="Lexend Light"/>
                <a:ea typeface="Lexend Light"/>
                <a:cs typeface="Lexend Light"/>
                <a:sym typeface="Lexend Light"/>
              </a:rPr>
              <a:t>Flujo más eficiente</a:t>
            </a:r>
            <a:endParaRPr>
              <a:solidFill>
                <a:srgbClr val="5B7B8A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B7B8A"/>
              </a:buClr>
              <a:buSzPts val="1400"/>
              <a:buFont typeface="Lexend Light"/>
              <a:buChar char="-"/>
            </a:pPr>
            <a:r>
              <a:rPr lang="es">
                <a:solidFill>
                  <a:srgbClr val="5B7B8A"/>
                </a:solidFill>
                <a:latin typeface="Lexend Light"/>
                <a:ea typeface="Lexend Light"/>
                <a:cs typeface="Lexend Light"/>
                <a:sym typeface="Lexend Light"/>
              </a:rPr>
              <a:t>Minimiza el uso no intencional</a:t>
            </a:r>
            <a:endParaRPr>
              <a:solidFill>
                <a:srgbClr val="5B7B8A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B7B8A"/>
              </a:buClr>
              <a:buSzPts val="1400"/>
              <a:buFont typeface="Lexend Light"/>
              <a:buChar char="-"/>
            </a:pPr>
            <a:r>
              <a:rPr lang="es">
                <a:solidFill>
                  <a:srgbClr val="5B7B8A"/>
                </a:solidFill>
                <a:latin typeface="Lexend Light"/>
                <a:ea typeface="Lexend Light"/>
                <a:cs typeface="Lexend Light"/>
                <a:sym typeface="Lexend Light"/>
              </a:rPr>
              <a:t>Separación física de contextos</a:t>
            </a:r>
            <a:endParaRPr>
              <a:solidFill>
                <a:srgbClr val="5B7B8A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9E87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/>
          <p:nvPr/>
        </p:nvSpPr>
        <p:spPr>
          <a:xfrm>
            <a:off x="0" y="0"/>
            <a:ext cx="4953000" cy="1143000"/>
          </a:xfrm>
          <a:prstGeom prst="rect">
            <a:avLst/>
          </a:prstGeom>
          <a:solidFill>
            <a:srgbClr val="F9EBE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333375" y="285750"/>
            <a:ext cx="4286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515">
                <a:solidFill>
                  <a:srgbClr val="C4785A"/>
                </a:solidFill>
                <a:latin typeface="Lexend ExtraLight"/>
                <a:ea typeface="Lexend ExtraLight"/>
                <a:cs typeface="Lexend ExtraLight"/>
                <a:sym typeface="Lexend ExtraLight"/>
              </a:rPr>
              <a:t>PLANIFICACIÓN</a:t>
            </a:r>
            <a:endParaRPr b="0" sz="3515">
              <a:solidFill>
                <a:srgbClr val="C4785A"/>
              </a:solidFill>
              <a:latin typeface="Lexend ExtraLight"/>
              <a:ea typeface="Lexend ExtraLight"/>
              <a:cs typeface="Lexend ExtraLight"/>
              <a:sym typeface="Lexend ExtraLight"/>
            </a:endParaRPr>
          </a:p>
        </p:txBody>
      </p:sp>
      <p:grpSp>
        <p:nvGrpSpPr>
          <p:cNvPr id="177" name="Google Shape;177;p21"/>
          <p:cNvGrpSpPr/>
          <p:nvPr/>
        </p:nvGrpSpPr>
        <p:grpSpPr>
          <a:xfrm>
            <a:off x="333375" y="1428750"/>
            <a:ext cx="2000100" cy="3238500"/>
            <a:chOff x="333375" y="1428750"/>
            <a:chExt cx="2000100" cy="3238500"/>
          </a:xfrm>
        </p:grpSpPr>
        <p:sp>
          <p:nvSpPr>
            <p:cNvPr id="178" name="Google Shape;178;p21"/>
            <p:cNvSpPr/>
            <p:nvPr/>
          </p:nvSpPr>
          <p:spPr>
            <a:xfrm>
              <a:off x="333375" y="1428750"/>
              <a:ext cx="2000100" cy="3238500"/>
            </a:xfrm>
            <a:prstGeom prst="roundRect">
              <a:avLst>
                <a:gd fmla="val 11904" name="adj"/>
              </a:avLst>
            </a:prstGeom>
            <a:solidFill>
              <a:srgbClr val="C4785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1"/>
            <p:cNvSpPr txBox="1"/>
            <p:nvPr/>
          </p:nvSpPr>
          <p:spPr>
            <a:xfrm>
              <a:off x="523875" y="1571625"/>
              <a:ext cx="16191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800">
                  <a:solidFill>
                    <a:srgbClr val="F9EBE0"/>
                  </a:solidFill>
                  <a:latin typeface="Lexend"/>
                  <a:ea typeface="Lexend"/>
                  <a:cs typeface="Lexend"/>
                  <a:sym typeface="Lexend"/>
                </a:rPr>
                <a:t>01</a:t>
              </a:r>
              <a:endParaRPr b="1" sz="28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21"/>
            <p:cNvSpPr txBox="1"/>
            <p:nvPr/>
          </p:nvSpPr>
          <p:spPr>
            <a:xfrm>
              <a:off x="523875" y="1952625"/>
              <a:ext cx="1619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200">
                  <a:solidFill>
                    <a:srgbClr val="F9EBE0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Investigación y Diagnóstico</a:t>
              </a:r>
              <a:endParaRPr b="0" sz="1200">
                <a:solidFill>
                  <a:srgbClr val="F9EBE0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</p:txBody>
        </p:sp>
        <p:sp>
          <p:nvSpPr>
            <p:cNvPr id="181" name="Google Shape;181;p21"/>
            <p:cNvSpPr txBox="1"/>
            <p:nvPr/>
          </p:nvSpPr>
          <p:spPr>
            <a:xfrm>
              <a:off x="523875" y="2286000"/>
              <a:ext cx="1619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000">
                  <a:solidFill>
                    <a:srgbClr val="F9EBE0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t>Marzo – Junio</a:t>
              </a:r>
              <a:endParaRPr b="0" sz="1000">
                <a:solidFill>
                  <a:srgbClr val="F9EBE0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sp>
          <p:nvSpPr>
            <p:cNvPr id="182" name="Google Shape;182;p21"/>
            <p:cNvSpPr/>
            <p:nvPr/>
          </p:nvSpPr>
          <p:spPr>
            <a:xfrm>
              <a:off x="476250" y="2571750"/>
              <a:ext cx="1714500" cy="1238400"/>
            </a:xfrm>
            <a:prstGeom prst="roundRect">
              <a:avLst>
                <a:gd fmla="val 11538" name="adj"/>
              </a:avLst>
            </a:prstGeom>
            <a:solidFill>
              <a:srgbClr val="F9EBE0">
                <a:alpha val="89999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1"/>
            <p:cNvSpPr txBox="1"/>
            <p:nvPr/>
          </p:nvSpPr>
          <p:spPr>
            <a:xfrm>
              <a:off x="571500" y="2667000"/>
              <a:ext cx="152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B1B1E"/>
                </a:buClr>
                <a:buSzPts val="1050"/>
                <a:buFont typeface="Lexend"/>
                <a:buChar char="●"/>
              </a:pPr>
              <a:r>
                <a:rPr b="0" lang="es" sz="1050">
                  <a:solidFill>
                    <a:srgbClr val="1B1B1E"/>
                  </a:solidFill>
                  <a:latin typeface="Lexend"/>
                  <a:ea typeface="Lexend"/>
                  <a:cs typeface="Lexend"/>
                  <a:sym typeface="Lexend"/>
                </a:rPr>
                <a:t>Entrevistas exploratorias</a:t>
              </a:r>
              <a:endParaRPr b="0" sz="105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1B1B1E"/>
                </a:buClr>
                <a:buSzPts val="1050"/>
                <a:buFont typeface="Lexend"/>
                <a:buChar char="●"/>
              </a:pPr>
              <a:r>
                <a:rPr b="0" lang="es" sz="1050">
                  <a:solidFill>
                    <a:srgbClr val="1B1B1E"/>
                  </a:solidFill>
                  <a:latin typeface="Lexend"/>
                  <a:ea typeface="Lexend"/>
                  <a:cs typeface="Lexend"/>
                  <a:sym typeface="Lexend"/>
                </a:rPr>
                <a:t>Análisis de referentes</a:t>
              </a:r>
              <a:endParaRPr b="0" sz="105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1B1B1E"/>
                </a:buClr>
                <a:buSzPts val="1050"/>
                <a:buFont typeface="Lexend"/>
                <a:buChar char="●"/>
              </a:pPr>
              <a:r>
                <a:rPr b="0" lang="es" sz="1050">
                  <a:solidFill>
                    <a:srgbClr val="1B1B1E"/>
                  </a:solidFill>
                  <a:latin typeface="Lexend"/>
                  <a:ea typeface="Lexend"/>
                  <a:cs typeface="Lexend"/>
                  <a:sym typeface="Lexend"/>
                </a:rPr>
                <a:t>Definición de escenarios</a:t>
              </a:r>
              <a:endParaRPr b="0" sz="105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" name="Google Shape;184;p21"/>
            <p:cNvSpPr/>
            <p:nvPr/>
          </p:nvSpPr>
          <p:spPr>
            <a:xfrm>
              <a:off x="476250" y="3905250"/>
              <a:ext cx="1714500" cy="619200"/>
            </a:xfrm>
            <a:prstGeom prst="roundRect">
              <a:avLst>
                <a:gd fmla="val 15384" name="adj"/>
              </a:avLst>
            </a:prstGeom>
            <a:solidFill>
              <a:srgbClr val="5B7B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1"/>
            <p:cNvSpPr txBox="1"/>
            <p:nvPr/>
          </p:nvSpPr>
          <p:spPr>
            <a:xfrm>
              <a:off x="571500" y="3952875"/>
              <a:ext cx="1524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F9EBE0"/>
                  </a:solidFill>
                  <a:latin typeface="Lexend"/>
                  <a:ea typeface="Lexend"/>
                  <a:cs typeface="Lexend"/>
                  <a:sym typeface="Lexend"/>
                </a:rPr>
                <a:t>RESULTADO:</a:t>
              </a:r>
              <a:endParaRPr b="1" sz="9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900">
                  <a:solidFill>
                    <a:srgbClr val="F9EBE0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Brief + 5 escenarios validados</a:t>
              </a:r>
              <a:endParaRPr b="0" sz="900">
                <a:solidFill>
                  <a:srgbClr val="F9EBE0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</p:txBody>
        </p:sp>
      </p:grpSp>
      <p:grpSp>
        <p:nvGrpSpPr>
          <p:cNvPr id="186" name="Google Shape;186;p21"/>
          <p:cNvGrpSpPr/>
          <p:nvPr/>
        </p:nvGrpSpPr>
        <p:grpSpPr>
          <a:xfrm>
            <a:off x="2476500" y="1428750"/>
            <a:ext cx="2000100" cy="3238500"/>
            <a:chOff x="2476500" y="1428750"/>
            <a:chExt cx="2000100" cy="3238500"/>
          </a:xfrm>
        </p:grpSpPr>
        <p:sp>
          <p:nvSpPr>
            <p:cNvPr id="187" name="Google Shape;187;p21"/>
            <p:cNvSpPr/>
            <p:nvPr/>
          </p:nvSpPr>
          <p:spPr>
            <a:xfrm>
              <a:off x="2476500" y="1428750"/>
              <a:ext cx="2000100" cy="3238500"/>
            </a:xfrm>
            <a:prstGeom prst="roundRect">
              <a:avLst>
                <a:gd fmla="val 11904" name="adj"/>
              </a:avLst>
            </a:prstGeom>
            <a:solidFill>
              <a:srgbClr val="5B7B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1"/>
            <p:cNvSpPr txBox="1"/>
            <p:nvPr/>
          </p:nvSpPr>
          <p:spPr>
            <a:xfrm>
              <a:off x="2667000" y="1571625"/>
              <a:ext cx="16191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800">
                  <a:solidFill>
                    <a:srgbClr val="F9EBE0"/>
                  </a:solidFill>
                  <a:latin typeface="Lexend"/>
                  <a:ea typeface="Lexend"/>
                  <a:cs typeface="Lexend"/>
                  <a:sym typeface="Lexend"/>
                </a:rPr>
                <a:t>02</a:t>
              </a:r>
              <a:endParaRPr b="1" sz="28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21"/>
            <p:cNvSpPr txBox="1"/>
            <p:nvPr/>
          </p:nvSpPr>
          <p:spPr>
            <a:xfrm>
              <a:off x="2667000" y="1952625"/>
              <a:ext cx="1619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200">
                  <a:solidFill>
                    <a:srgbClr val="F9EBE0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Prototipado</a:t>
              </a:r>
              <a:endParaRPr b="0" sz="1200">
                <a:solidFill>
                  <a:srgbClr val="F9EBE0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</p:txBody>
        </p:sp>
        <p:sp>
          <p:nvSpPr>
            <p:cNvPr id="190" name="Google Shape;190;p21"/>
            <p:cNvSpPr txBox="1"/>
            <p:nvPr/>
          </p:nvSpPr>
          <p:spPr>
            <a:xfrm>
              <a:off x="2667000" y="2286000"/>
              <a:ext cx="1619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000">
                  <a:solidFill>
                    <a:srgbClr val="F9EBE0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t>Junio – Agosto</a:t>
              </a:r>
              <a:endParaRPr b="0" sz="1000">
                <a:solidFill>
                  <a:srgbClr val="F9EBE0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sp>
          <p:nvSpPr>
            <p:cNvPr id="191" name="Google Shape;191;p21"/>
            <p:cNvSpPr/>
            <p:nvPr/>
          </p:nvSpPr>
          <p:spPr>
            <a:xfrm>
              <a:off x="2619375" y="2571750"/>
              <a:ext cx="1714500" cy="1238400"/>
            </a:xfrm>
            <a:prstGeom prst="roundRect">
              <a:avLst>
                <a:gd fmla="val 11538" name="adj"/>
              </a:avLst>
            </a:prstGeom>
            <a:solidFill>
              <a:srgbClr val="F9EBE0">
                <a:alpha val="89999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1"/>
            <p:cNvSpPr txBox="1"/>
            <p:nvPr/>
          </p:nvSpPr>
          <p:spPr>
            <a:xfrm>
              <a:off x="2714625" y="2667000"/>
              <a:ext cx="152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B1B1E"/>
                </a:buClr>
                <a:buSzPts val="1050"/>
                <a:buFont typeface="Lexend"/>
                <a:buChar char="●"/>
              </a:pPr>
              <a:r>
                <a:rPr b="0" lang="es" sz="1050">
                  <a:solidFill>
                    <a:srgbClr val="1B1B1E"/>
                  </a:solidFill>
                  <a:latin typeface="Lexend"/>
                  <a:ea typeface="Lexend"/>
                  <a:cs typeface="Lexend"/>
                  <a:sym typeface="Lexend"/>
                </a:rPr>
                <a:t>Modelos morfológicos</a:t>
              </a:r>
              <a:endParaRPr b="0" sz="105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1B1B1E"/>
                </a:buClr>
                <a:buSzPts val="1050"/>
                <a:buFont typeface="Lexend"/>
                <a:buChar char="●"/>
              </a:pPr>
              <a:r>
                <a:rPr b="0" lang="es" sz="1050">
                  <a:solidFill>
                    <a:srgbClr val="1B1B1E"/>
                  </a:solidFill>
                  <a:latin typeface="Lexend"/>
                  <a:ea typeface="Lexend"/>
                  <a:cs typeface="Lexend"/>
                  <a:sym typeface="Lexend"/>
                </a:rPr>
                <a:t>Flujo de interacción</a:t>
              </a:r>
              <a:endParaRPr b="0" sz="105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1B1B1E"/>
                </a:buClr>
                <a:buSzPts val="1050"/>
                <a:buFont typeface="Lexend"/>
                <a:buChar char="●"/>
              </a:pPr>
              <a:r>
                <a:rPr b="0" lang="es" sz="1050">
                  <a:solidFill>
                    <a:srgbClr val="1B1B1E"/>
                  </a:solidFill>
                  <a:latin typeface="Lexend"/>
                  <a:ea typeface="Lexend"/>
                  <a:cs typeface="Lexend"/>
                  <a:sym typeface="Lexend"/>
                </a:rPr>
                <a:t>Prototipo Workout</a:t>
              </a:r>
              <a:endParaRPr b="0" sz="105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2619375" y="3905250"/>
              <a:ext cx="1714500" cy="619200"/>
            </a:xfrm>
            <a:prstGeom prst="roundRect">
              <a:avLst>
                <a:gd fmla="val 15384" name="adj"/>
              </a:avLst>
            </a:prstGeom>
            <a:solidFill>
              <a:srgbClr val="C4785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1"/>
            <p:cNvSpPr txBox="1"/>
            <p:nvPr/>
          </p:nvSpPr>
          <p:spPr>
            <a:xfrm>
              <a:off x="2714625" y="3952875"/>
              <a:ext cx="1524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F9EBE0"/>
                  </a:solidFill>
                  <a:latin typeface="Lexend"/>
                  <a:ea typeface="Lexend"/>
                  <a:cs typeface="Lexend"/>
                  <a:sym typeface="Lexend"/>
                </a:rPr>
                <a:t>RESULTADO:</a:t>
              </a:r>
              <a:endParaRPr b="1" sz="9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900">
                  <a:solidFill>
                    <a:srgbClr val="F9EBE0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Prototipo funcional v1</a:t>
              </a:r>
              <a:endParaRPr b="0" sz="900">
                <a:solidFill>
                  <a:srgbClr val="F9EBE0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</p:txBody>
        </p:sp>
      </p:grpSp>
      <p:grpSp>
        <p:nvGrpSpPr>
          <p:cNvPr id="195" name="Google Shape;195;p21"/>
          <p:cNvGrpSpPr/>
          <p:nvPr/>
        </p:nvGrpSpPr>
        <p:grpSpPr>
          <a:xfrm>
            <a:off x="4619625" y="1428750"/>
            <a:ext cx="2000100" cy="3238500"/>
            <a:chOff x="4619625" y="1428750"/>
            <a:chExt cx="2000100" cy="3238500"/>
          </a:xfrm>
        </p:grpSpPr>
        <p:sp>
          <p:nvSpPr>
            <p:cNvPr id="196" name="Google Shape;196;p21"/>
            <p:cNvSpPr/>
            <p:nvPr/>
          </p:nvSpPr>
          <p:spPr>
            <a:xfrm>
              <a:off x="4619625" y="1428750"/>
              <a:ext cx="2000100" cy="3238500"/>
            </a:xfrm>
            <a:prstGeom prst="roundRect">
              <a:avLst>
                <a:gd fmla="val 11904" name="adj"/>
              </a:avLst>
            </a:prstGeom>
            <a:solidFill>
              <a:srgbClr val="C4785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1"/>
            <p:cNvSpPr txBox="1"/>
            <p:nvPr/>
          </p:nvSpPr>
          <p:spPr>
            <a:xfrm>
              <a:off x="4810125" y="1571625"/>
              <a:ext cx="16191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800">
                  <a:solidFill>
                    <a:srgbClr val="F9EBE0"/>
                  </a:solidFill>
                  <a:latin typeface="Lexend"/>
                  <a:ea typeface="Lexend"/>
                  <a:cs typeface="Lexend"/>
                  <a:sym typeface="Lexend"/>
                </a:rPr>
                <a:t>03</a:t>
              </a:r>
              <a:endParaRPr b="1" sz="28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" name="Google Shape;198;p21"/>
            <p:cNvSpPr txBox="1"/>
            <p:nvPr/>
          </p:nvSpPr>
          <p:spPr>
            <a:xfrm>
              <a:off x="4810125" y="1952625"/>
              <a:ext cx="1619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200">
                  <a:solidFill>
                    <a:srgbClr val="F9EBE0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Validación en Campo</a:t>
              </a:r>
              <a:endParaRPr b="0" sz="1200">
                <a:solidFill>
                  <a:srgbClr val="F9EBE0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</p:txBody>
        </p:sp>
        <p:sp>
          <p:nvSpPr>
            <p:cNvPr id="199" name="Google Shape;199;p21"/>
            <p:cNvSpPr txBox="1"/>
            <p:nvPr/>
          </p:nvSpPr>
          <p:spPr>
            <a:xfrm>
              <a:off x="4810125" y="2286000"/>
              <a:ext cx="1619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000">
                  <a:solidFill>
                    <a:srgbClr val="F9EBE0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t>Agosto – Octubre</a:t>
              </a:r>
              <a:endParaRPr b="0" sz="1000">
                <a:solidFill>
                  <a:srgbClr val="F9EBE0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sp>
          <p:nvSpPr>
            <p:cNvPr id="200" name="Google Shape;200;p21"/>
            <p:cNvSpPr/>
            <p:nvPr/>
          </p:nvSpPr>
          <p:spPr>
            <a:xfrm>
              <a:off x="4762500" y="2571750"/>
              <a:ext cx="1714500" cy="1238400"/>
            </a:xfrm>
            <a:prstGeom prst="roundRect">
              <a:avLst>
                <a:gd fmla="val 11538" name="adj"/>
              </a:avLst>
            </a:prstGeom>
            <a:solidFill>
              <a:srgbClr val="F9EBE0">
                <a:alpha val="89999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1"/>
            <p:cNvSpPr txBox="1"/>
            <p:nvPr/>
          </p:nvSpPr>
          <p:spPr>
            <a:xfrm>
              <a:off x="4857750" y="2667000"/>
              <a:ext cx="152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B1B1E"/>
                </a:buClr>
                <a:buSzPts val="1050"/>
                <a:buFont typeface="Lexend"/>
                <a:buChar char="●"/>
              </a:pPr>
              <a:r>
                <a:rPr b="0" lang="es" sz="1050">
                  <a:solidFill>
                    <a:srgbClr val="1B1B1E"/>
                  </a:solidFill>
                  <a:latin typeface="Lexend"/>
                  <a:ea typeface="Lexend"/>
                  <a:cs typeface="Lexend"/>
                  <a:sym typeface="Lexend"/>
                </a:rPr>
                <a:t>Testeo en contexto real</a:t>
              </a:r>
              <a:endParaRPr b="0" sz="105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1B1B1E"/>
                </a:buClr>
                <a:buSzPts val="1050"/>
                <a:buFont typeface="Lexend"/>
                <a:buChar char="●"/>
              </a:pPr>
              <a:r>
                <a:rPr b="0" lang="es" sz="1050">
                  <a:solidFill>
                    <a:srgbClr val="1B1B1E"/>
                  </a:solidFill>
                  <a:latin typeface="Lexend"/>
                  <a:ea typeface="Lexend"/>
                  <a:cs typeface="Lexend"/>
                  <a:sym typeface="Lexend"/>
                </a:rPr>
                <a:t>Registro de uso</a:t>
              </a:r>
              <a:endParaRPr b="0" sz="105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1B1B1E"/>
                </a:buClr>
                <a:buSzPts val="1050"/>
                <a:buFont typeface="Lexend"/>
                <a:buChar char="●"/>
              </a:pPr>
              <a:r>
                <a:rPr b="0" lang="es" sz="1050">
                  <a:solidFill>
                    <a:srgbClr val="1B1B1E"/>
                  </a:solidFill>
                  <a:latin typeface="Lexend"/>
                  <a:ea typeface="Lexend"/>
                  <a:cs typeface="Lexend"/>
                  <a:sym typeface="Lexend"/>
                </a:rPr>
                <a:t>Métrica Screen Time</a:t>
              </a:r>
              <a:endParaRPr b="0" sz="105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" name="Google Shape;202;p21"/>
            <p:cNvSpPr/>
            <p:nvPr/>
          </p:nvSpPr>
          <p:spPr>
            <a:xfrm>
              <a:off x="4762500" y="3905250"/>
              <a:ext cx="1714500" cy="619200"/>
            </a:xfrm>
            <a:prstGeom prst="roundRect">
              <a:avLst>
                <a:gd fmla="val 15384" name="adj"/>
              </a:avLst>
            </a:prstGeom>
            <a:solidFill>
              <a:srgbClr val="5B7B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1"/>
            <p:cNvSpPr txBox="1"/>
            <p:nvPr/>
          </p:nvSpPr>
          <p:spPr>
            <a:xfrm>
              <a:off x="4857750" y="3952875"/>
              <a:ext cx="1524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F9EBE0"/>
                  </a:solidFill>
                  <a:latin typeface="Lexend"/>
                  <a:ea typeface="Lexend"/>
                  <a:cs typeface="Lexend"/>
                  <a:sym typeface="Lexend"/>
                </a:rPr>
                <a:t>RESULTADO:</a:t>
              </a:r>
              <a:endParaRPr b="1" sz="9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900">
                  <a:solidFill>
                    <a:srgbClr val="F9EBE0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Hallazgos usabilidad</a:t>
              </a:r>
              <a:endParaRPr b="0" sz="900">
                <a:solidFill>
                  <a:srgbClr val="F9EBE0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</p:txBody>
        </p:sp>
      </p:grpSp>
      <p:grpSp>
        <p:nvGrpSpPr>
          <p:cNvPr id="204" name="Google Shape;204;p21"/>
          <p:cNvGrpSpPr/>
          <p:nvPr/>
        </p:nvGrpSpPr>
        <p:grpSpPr>
          <a:xfrm>
            <a:off x="6762750" y="1428750"/>
            <a:ext cx="2000100" cy="3238500"/>
            <a:chOff x="6762750" y="1428750"/>
            <a:chExt cx="2000100" cy="3238500"/>
          </a:xfrm>
        </p:grpSpPr>
        <p:sp>
          <p:nvSpPr>
            <p:cNvPr id="205" name="Google Shape;205;p21"/>
            <p:cNvSpPr/>
            <p:nvPr/>
          </p:nvSpPr>
          <p:spPr>
            <a:xfrm>
              <a:off x="6762750" y="1428750"/>
              <a:ext cx="2000100" cy="3238500"/>
            </a:xfrm>
            <a:prstGeom prst="roundRect">
              <a:avLst>
                <a:gd fmla="val 11904" name="adj"/>
              </a:avLst>
            </a:prstGeom>
            <a:solidFill>
              <a:srgbClr val="5B7B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1"/>
            <p:cNvSpPr txBox="1"/>
            <p:nvPr/>
          </p:nvSpPr>
          <p:spPr>
            <a:xfrm>
              <a:off x="6953250" y="1571625"/>
              <a:ext cx="16191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800">
                  <a:solidFill>
                    <a:srgbClr val="F9EBE0"/>
                  </a:solidFill>
                  <a:latin typeface="Lexend"/>
                  <a:ea typeface="Lexend"/>
                  <a:cs typeface="Lexend"/>
                  <a:sym typeface="Lexend"/>
                </a:rPr>
                <a:t>04</a:t>
              </a:r>
              <a:endParaRPr b="1" sz="28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6953250" y="1952625"/>
              <a:ext cx="1619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200">
                  <a:solidFill>
                    <a:srgbClr val="F9EBE0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Optimización Final</a:t>
              </a:r>
              <a:endParaRPr b="0" sz="1200">
                <a:solidFill>
                  <a:srgbClr val="F9EBE0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</p:txBody>
        </p:sp>
        <p:sp>
          <p:nvSpPr>
            <p:cNvPr id="208" name="Google Shape;208;p21"/>
            <p:cNvSpPr txBox="1"/>
            <p:nvPr/>
          </p:nvSpPr>
          <p:spPr>
            <a:xfrm>
              <a:off x="6953250" y="2286000"/>
              <a:ext cx="1619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000">
                  <a:solidFill>
                    <a:srgbClr val="F9EBE0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t>Octubre – Diciembre</a:t>
              </a:r>
              <a:endParaRPr b="0" sz="1000">
                <a:solidFill>
                  <a:srgbClr val="F9EBE0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sp>
          <p:nvSpPr>
            <p:cNvPr id="209" name="Google Shape;209;p21"/>
            <p:cNvSpPr/>
            <p:nvPr/>
          </p:nvSpPr>
          <p:spPr>
            <a:xfrm>
              <a:off x="6905625" y="2571750"/>
              <a:ext cx="1714500" cy="1238400"/>
            </a:xfrm>
            <a:prstGeom prst="roundRect">
              <a:avLst>
                <a:gd fmla="val 11538" name="adj"/>
              </a:avLst>
            </a:prstGeom>
            <a:solidFill>
              <a:srgbClr val="F9EBE0">
                <a:alpha val="89999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1"/>
            <p:cNvSpPr txBox="1"/>
            <p:nvPr/>
          </p:nvSpPr>
          <p:spPr>
            <a:xfrm>
              <a:off x="7000875" y="2667000"/>
              <a:ext cx="152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B1B1E"/>
                </a:buClr>
                <a:buSzPts val="1050"/>
                <a:buFont typeface="Lexend"/>
                <a:buChar char="●"/>
              </a:pPr>
              <a:r>
                <a:rPr b="0" lang="es" sz="1050">
                  <a:solidFill>
                    <a:srgbClr val="1B1B1E"/>
                  </a:solidFill>
                  <a:latin typeface="Lexend"/>
                  <a:ea typeface="Lexend"/>
                  <a:cs typeface="Lexend"/>
                  <a:sym typeface="Lexend"/>
                </a:rPr>
                <a:t>Refinamiento de diseño</a:t>
              </a:r>
              <a:endParaRPr b="0" sz="105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1B1B1E"/>
                </a:buClr>
                <a:buSzPts val="1050"/>
                <a:buFont typeface="Lexend"/>
                <a:buChar char="●"/>
              </a:pPr>
              <a:r>
                <a:rPr b="0" lang="es" sz="1050">
                  <a:solidFill>
                    <a:srgbClr val="1B1B1E"/>
                  </a:solidFill>
                  <a:latin typeface="Lexend"/>
                  <a:ea typeface="Lexend"/>
                  <a:cs typeface="Lexend"/>
                  <a:sym typeface="Lexend"/>
                </a:rPr>
                <a:t>Prototipo Alta Fidelidad</a:t>
              </a:r>
              <a:endParaRPr b="0" sz="105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1B1B1E"/>
                </a:buClr>
                <a:buSzPts val="1050"/>
                <a:buFont typeface="Lexend"/>
                <a:buChar char="●"/>
              </a:pPr>
              <a:r>
                <a:rPr b="0" lang="es" sz="1050">
                  <a:solidFill>
                    <a:srgbClr val="1B1B1E"/>
                  </a:solidFill>
                  <a:latin typeface="Lexend"/>
                  <a:ea typeface="Lexend"/>
                  <a:cs typeface="Lexend"/>
                  <a:sym typeface="Lexend"/>
                </a:rPr>
                <a:t>Documentación Título</a:t>
              </a:r>
              <a:endParaRPr b="0" sz="1050">
                <a:solidFill>
                  <a:srgbClr val="1B1B1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" name="Google Shape;211;p21"/>
            <p:cNvSpPr/>
            <p:nvPr/>
          </p:nvSpPr>
          <p:spPr>
            <a:xfrm>
              <a:off x="6905625" y="3905250"/>
              <a:ext cx="1714500" cy="619200"/>
            </a:xfrm>
            <a:prstGeom prst="roundRect">
              <a:avLst>
                <a:gd fmla="val 15384" name="adj"/>
              </a:avLst>
            </a:prstGeom>
            <a:solidFill>
              <a:srgbClr val="C4785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7000875" y="3952875"/>
              <a:ext cx="1524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F9EBE0"/>
                  </a:solidFill>
                  <a:latin typeface="Lexend"/>
                  <a:ea typeface="Lexend"/>
                  <a:cs typeface="Lexend"/>
                  <a:sym typeface="Lexend"/>
                </a:rPr>
                <a:t>RESULTADO:</a:t>
              </a:r>
              <a:endParaRPr b="1" sz="9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900">
                  <a:solidFill>
                    <a:srgbClr val="F9EBE0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Ecosistema presentable</a:t>
              </a:r>
              <a:endParaRPr b="0" sz="900">
                <a:solidFill>
                  <a:srgbClr val="F9EBE0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</p:txBody>
        </p:sp>
      </p:grpSp>
      <p:pic>
        <p:nvPicPr>
          <p:cNvPr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3625" y="3038475"/>
            <a:ext cx="1428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6750" y="3038475"/>
            <a:ext cx="1428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9875" y="3038475"/>
            <a:ext cx="142800" cy="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EBE0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 txBox="1"/>
          <p:nvPr/>
        </p:nvSpPr>
        <p:spPr>
          <a:xfrm>
            <a:off x="138225" y="4469263"/>
            <a:ext cx="86472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5B7B8A"/>
                </a:solidFill>
                <a:latin typeface="Lexend"/>
                <a:ea typeface="Lexend"/>
                <a:cs typeface="Lexend"/>
                <a:sym typeface="Lexend"/>
              </a:rPr>
              <a:t>Humane AI Pin - Kindle </a:t>
            </a:r>
            <a:r>
              <a:rPr lang="es" sz="1500">
                <a:solidFill>
                  <a:srgbClr val="5B7B8A"/>
                </a:solidFill>
                <a:latin typeface="Lexend"/>
                <a:ea typeface="Lexend"/>
                <a:cs typeface="Lexend"/>
                <a:sym typeface="Lexend"/>
              </a:rPr>
              <a:t>- Remarkable Paper Pure</a:t>
            </a:r>
            <a:r>
              <a:rPr lang="es" sz="1500">
                <a:solidFill>
                  <a:srgbClr val="5B7B8A"/>
                </a:solidFill>
                <a:latin typeface="Lexend"/>
                <a:ea typeface="Lexend"/>
                <a:cs typeface="Lexend"/>
                <a:sym typeface="Lexend"/>
              </a:rPr>
              <a:t> - Punkt. MP02 - </a:t>
            </a:r>
            <a:r>
              <a:rPr lang="es" sz="1500">
                <a:solidFill>
                  <a:srgbClr val="5B7B8A"/>
                </a:solidFill>
                <a:latin typeface="Lexend"/>
                <a:ea typeface="Lexend"/>
                <a:cs typeface="Lexend"/>
                <a:sym typeface="Lexend"/>
              </a:rPr>
              <a:t>Light Phone II</a:t>
            </a:r>
            <a:endParaRPr sz="1500">
              <a:solidFill>
                <a:srgbClr val="5B7B8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1" name="Google Shape;221;p22"/>
          <p:cNvCxnSpPr/>
          <p:nvPr/>
        </p:nvCxnSpPr>
        <p:spPr>
          <a:xfrm>
            <a:off x="357450" y="2579875"/>
            <a:ext cx="8421600" cy="0"/>
          </a:xfrm>
          <a:prstGeom prst="straightConnector1">
            <a:avLst/>
          </a:prstGeom>
          <a:noFill/>
          <a:ln cap="flat" cmpd="sng" w="38100">
            <a:solidFill>
              <a:srgbClr val="5B7B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2"/>
          <p:cNvCxnSpPr>
            <a:endCxn id="220" idx="0"/>
          </p:cNvCxnSpPr>
          <p:nvPr/>
        </p:nvCxnSpPr>
        <p:spPr>
          <a:xfrm>
            <a:off x="4461825" y="397063"/>
            <a:ext cx="0" cy="4072200"/>
          </a:xfrm>
          <a:prstGeom prst="straightConnector1">
            <a:avLst/>
          </a:prstGeom>
          <a:noFill/>
          <a:ln cap="flat" cmpd="sng" w="38100">
            <a:solidFill>
              <a:srgbClr val="5B7B8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3" name="Google Shape;2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137" y="1395542"/>
            <a:ext cx="957526" cy="1025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9125" y="2637201"/>
            <a:ext cx="1310277" cy="177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2700" y="2814075"/>
            <a:ext cx="700850" cy="1541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17700" y="529175"/>
            <a:ext cx="1629832" cy="146684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4476183" y="303375"/>
            <a:ext cx="18762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C4785A"/>
                </a:solidFill>
                <a:latin typeface="Lexend"/>
                <a:ea typeface="Lexend"/>
                <a:cs typeface="Lexend"/>
                <a:sym typeface="Lexend"/>
              </a:rPr>
              <a:t>Especialización Funcional</a:t>
            </a:r>
            <a:endParaRPr sz="1300">
              <a:solidFill>
                <a:srgbClr val="C4785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6969165" y="2571750"/>
            <a:ext cx="18762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C4785A"/>
                </a:solidFill>
                <a:latin typeface="Lexend"/>
                <a:ea typeface="Lexend"/>
                <a:cs typeface="Lexend"/>
                <a:sym typeface="Lexend"/>
              </a:rPr>
              <a:t>Fricción de Salida</a:t>
            </a:r>
            <a:endParaRPr sz="1300">
              <a:solidFill>
                <a:srgbClr val="C4785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9" name="Google Shape;229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34675" y="303374"/>
            <a:ext cx="1774771" cy="177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9E87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"/>
          <p:cNvSpPr txBox="1"/>
          <p:nvPr/>
        </p:nvSpPr>
        <p:spPr>
          <a:xfrm>
            <a:off x="571500" y="2286000"/>
            <a:ext cx="40005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480">
                <a:solidFill>
                  <a:srgbClr val="F9EBE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¿Es posible diseñar para la libertad, o todo diseño es en algún grado una forma de cautiverio?</a:t>
            </a:r>
            <a:endParaRPr b="0" sz="2480">
              <a:solidFill>
                <a:srgbClr val="F9EBE0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cxnSp>
        <p:nvCxnSpPr>
          <p:cNvPr id="235" name="Google Shape;235;p23"/>
          <p:cNvCxnSpPr/>
          <p:nvPr/>
        </p:nvCxnSpPr>
        <p:spPr>
          <a:xfrm>
            <a:off x="571500" y="2095500"/>
            <a:ext cx="952500" cy="0"/>
          </a:xfrm>
          <a:prstGeom prst="straightConnector1">
            <a:avLst/>
          </a:prstGeom>
          <a:solidFill>
            <a:srgbClr val="FFFFFF"/>
          </a:solidFill>
          <a:ln cap="flat" cmpd="sng" w="28575">
            <a:solidFill>
              <a:srgbClr val="F9EBE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EBE0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"/>
          <p:cNvSpPr/>
          <p:nvPr/>
        </p:nvSpPr>
        <p:spPr>
          <a:xfrm>
            <a:off x="0" y="-5050"/>
            <a:ext cx="1778400" cy="51435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4"/>
          <p:cNvSpPr/>
          <p:nvPr/>
        </p:nvSpPr>
        <p:spPr>
          <a:xfrm>
            <a:off x="1778400" y="-5050"/>
            <a:ext cx="1778400" cy="5143500"/>
          </a:xfrm>
          <a:prstGeom prst="rect">
            <a:avLst/>
          </a:prstGeom>
          <a:solidFill>
            <a:srgbClr val="7A9E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4"/>
          <p:cNvSpPr/>
          <p:nvPr/>
        </p:nvSpPr>
        <p:spPr>
          <a:xfrm>
            <a:off x="3556800" y="-5050"/>
            <a:ext cx="1778400" cy="5143500"/>
          </a:xfrm>
          <a:prstGeom prst="rect">
            <a:avLst/>
          </a:prstGeom>
          <a:solidFill>
            <a:srgbClr val="C478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4"/>
          <p:cNvSpPr/>
          <p:nvPr/>
        </p:nvSpPr>
        <p:spPr>
          <a:xfrm>
            <a:off x="5335200" y="-5050"/>
            <a:ext cx="1778400" cy="5143500"/>
          </a:xfrm>
          <a:prstGeom prst="rect">
            <a:avLst/>
          </a:prstGeom>
          <a:solidFill>
            <a:srgbClr val="5B7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4"/>
          <p:cNvSpPr/>
          <p:nvPr/>
        </p:nvSpPr>
        <p:spPr>
          <a:xfrm rot="-5400000">
            <a:off x="377850" y="3068725"/>
            <a:ext cx="834600" cy="813300"/>
          </a:xfrm>
          <a:prstGeom prst="ellipse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45" name="Google Shape;245;p24"/>
          <p:cNvSpPr/>
          <p:nvPr/>
        </p:nvSpPr>
        <p:spPr>
          <a:xfrm rot="-5400000">
            <a:off x="377850" y="2712195"/>
            <a:ext cx="834600" cy="813300"/>
          </a:xfrm>
          <a:prstGeom prst="ellipse">
            <a:avLst/>
          </a:prstGeom>
          <a:solidFill>
            <a:srgbClr val="7A9E87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46" name="Google Shape;246;p24"/>
          <p:cNvSpPr/>
          <p:nvPr/>
        </p:nvSpPr>
        <p:spPr>
          <a:xfrm rot="-5400000">
            <a:off x="377850" y="2363642"/>
            <a:ext cx="834600" cy="813300"/>
          </a:xfrm>
          <a:prstGeom prst="ellipse">
            <a:avLst/>
          </a:prstGeom>
          <a:solidFill>
            <a:srgbClr val="C4785A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47" name="Google Shape;247;p24"/>
          <p:cNvSpPr/>
          <p:nvPr/>
        </p:nvSpPr>
        <p:spPr>
          <a:xfrm rot="-5400000">
            <a:off x="377850" y="2007113"/>
            <a:ext cx="834600" cy="813300"/>
          </a:xfrm>
          <a:prstGeom prst="ellipse">
            <a:avLst/>
          </a:prstGeom>
          <a:solidFill>
            <a:srgbClr val="5B7B8A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48" name="Google Shape;248;p24"/>
          <p:cNvSpPr/>
          <p:nvPr/>
        </p:nvSpPr>
        <p:spPr>
          <a:xfrm rot="-5400000">
            <a:off x="377850" y="1684313"/>
            <a:ext cx="834600" cy="813300"/>
          </a:xfrm>
          <a:prstGeom prst="ellipse">
            <a:avLst/>
          </a:prstGeom>
          <a:solidFill>
            <a:srgbClr val="F9EBE0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49" name="Google Shape;249;p24"/>
          <p:cNvSpPr/>
          <p:nvPr/>
        </p:nvSpPr>
        <p:spPr>
          <a:xfrm rot="-5400000">
            <a:off x="2250300" y="3055850"/>
            <a:ext cx="834600" cy="813300"/>
          </a:xfrm>
          <a:prstGeom prst="ellipse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50" name="Google Shape;250;p24"/>
          <p:cNvSpPr/>
          <p:nvPr/>
        </p:nvSpPr>
        <p:spPr>
          <a:xfrm rot="-5400000">
            <a:off x="2250300" y="2699320"/>
            <a:ext cx="834600" cy="813300"/>
          </a:xfrm>
          <a:prstGeom prst="ellipse">
            <a:avLst/>
          </a:prstGeom>
          <a:solidFill>
            <a:srgbClr val="7A9E87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51" name="Google Shape;251;p24"/>
          <p:cNvSpPr/>
          <p:nvPr/>
        </p:nvSpPr>
        <p:spPr>
          <a:xfrm rot="-5400000">
            <a:off x="2250300" y="2350767"/>
            <a:ext cx="834600" cy="813300"/>
          </a:xfrm>
          <a:prstGeom prst="ellipse">
            <a:avLst/>
          </a:prstGeom>
          <a:solidFill>
            <a:srgbClr val="C4785A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52" name="Google Shape;252;p24"/>
          <p:cNvSpPr/>
          <p:nvPr/>
        </p:nvSpPr>
        <p:spPr>
          <a:xfrm rot="-5400000">
            <a:off x="2250300" y="1994238"/>
            <a:ext cx="834600" cy="813300"/>
          </a:xfrm>
          <a:prstGeom prst="ellipse">
            <a:avLst/>
          </a:prstGeom>
          <a:solidFill>
            <a:srgbClr val="5B7B8A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53" name="Google Shape;253;p24"/>
          <p:cNvSpPr/>
          <p:nvPr/>
        </p:nvSpPr>
        <p:spPr>
          <a:xfrm rot="-5400000">
            <a:off x="2250300" y="1671438"/>
            <a:ext cx="834600" cy="813300"/>
          </a:xfrm>
          <a:prstGeom prst="ellipse">
            <a:avLst/>
          </a:prstGeom>
          <a:solidFill>
            <a:srgbClr val="F9EBE0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54" name="Google Shape;254;p24"/>
          <p:cNvSpPr/>
          <p:nvPr/>
        </p:nvSpPr>
        <p:spPr>
          <a:xfrm rot="-5400000">
            <a:off x="4028700" y="3042975"/>
            <a:ext cx="834600" cy="813300"/>
          </a:xfrm>
          <a:prstGeom prst="ellipse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55" name="Google Shape;255;p24"/>
          <p:cNvSpPr/>
          <p:nvPr/>
        </p:nvSpPr>
        <p:spPr>
          <a:xfrm rot="-5400000">
            <a:off x="4028700" y="2686445"/>
            <a:ext cx="834600" cy="813300"/>
          </a:xfrm>
          <a:prstGeom prst="ellipse">
            <a:avLst/>
          </a:prstGeom>
          <a:solidFill>
            <a:srgbClr val="7A9E87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56" name="Google Shape;256;p24"/>
          <p:cNvSpPr/>
          <p:nvPr/>
        </p:nvSpPr>
        <p:spPr>
          <a:xfrm rot="-5400000">
            <a:off x="4028700" y="2337892"/>
            <a:ext cx="834600" cy="813300"/>
          </a:xfrm>
          <a:prstGeom prst="ellipse">
            <a:avLst/>
          </a:prstGeom>
          <a:solidFill>
            <a:srgbClr val="C4785A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57" name="Google Shape;257;p24"/>
          <p:cNvSpPr/>
          <p:nvPr/>
        </p:nvSpPr>
        <p:spPr>
          <a:xfrm rot="-5400000">
            <a:off x="4028700" y="1981363"/>
            <a:ext cx="834600" cy="813300"/>
          </a:xfrm>
          <a:prstGeom prst="ellipse">
            <a:avLst/>
          </a:prstGeom>
          <a:solidFill>
            <a:srgbClr val="5B7B8A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58" name="Google Shape;258;p24"/>
          <p:cNvSpPr/>
          <p:nvPr/>
        </p:nvSpPr>
        <p:spPr>
          <a:xfrm rot="-5400000">
            <a:off x="4028700" y="1658563"/>
            <a:ext cx="834600" cy="813300"/>
          </a:xfrm>
          <a:prstGeom prst="ellipse">
            <a:avLst/>
          </a:prstGeom>
          <a:solidFill>
            <a:srgbClr val="F9EBE0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59" name="Google Shape;259;p24"/>
          <p:cNvSpPr/>
          <p:nvPr/>
        </p:nvSpPr>
        <p:spPr>
          <a:xfrm rot="-5400000">
            <a:off x="5807100" y="3120175"/>
            <a:ext cx="834600" cy="813300"/>
          </a:xfrm>
          <a:prstGeom prst="ellipse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60" name="Google Shape;260;p24"/>
          <p:cNvSpPr/>
          <p:nvPr/>
        </p:nvSpPr>
        <p:spPr>
          <a:xfrm rot="-5400000">
            <a:off x="5807100" y="2763645"/>
            <a:ext cx="834600" cy="813300"/>
          </a:xfrm>
          <a:prstGeom prst="ellipse">
            <a:avLst/>
          </a:prstGeom>
          <a:solidFill>
            <a:srgbClr val="7A9E87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61" name="Google Shape;261;p24"/>
          <p:cNvSpPr/>
          <p:nvPr/>
        </p:nvSpPr>
        <p:spPr>
          <a:xfrm rot="-5400000">
            <a:off x="5807100" y="2415092"/>
            <a:ext cx="834600" cy="813300"/>
          </a:xfrm>
          <a:prstGeom prst="ellipse">
            <a:avLst/>
          </a:prstGeom>
          <a:solidFill>
            <a:srgbClr val="C4785A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62" name="Google Shape;262;p24"/>
          <p:cNvSpPr/>
          <p:nvPr/>
        </p:nvSpPr>
        <p:spPr>
          <a:xfrm rot="-5400000">
            <a:off x="5807100" y="2058563"/>
            <a:ext cx="834600" cy="813300"/>
          </a:xfrm>
          <a:prstGeom prst="ellipse">
            <a:avLst/>
          </a:prstGeom>
          <a:solidFill>
            <a:srgbClr val="5B7B8A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63" name="Google Shape;263;p24"/>
          <p:cNvSpPr/>
          <p:nvPr/>
        </p:nvSpPr>
        <p:spPr>
          <a:xfrm rot="-5400000">
            <a:off x="5807100" y="1735763"/>
            <a:ext cx="834600" cy="813300"/>
          </a:xfrm>
          <a:prstGeom prst="ellipse">
            <a:avLst/>
          </a:prstGeom>
          <a:solidFill>
            <a:srgbClr val="F9EBE0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64" name="Google Shape;264;p24"/>
          <p:cNvSpPr/>
          <p:nvPr/>
        </p:nvSpPr>
        <p:spPr>
          <a:xfrm rot="-5400000">
            <a:off x="7585500" y="3107300"/>
            <a:ext cx="834600" cy="813300"/>
          </a:xfrm>
          <a:prstGeom prst="ellipse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65" name="Google Shape;265;p24"/>
          <p:cNvSpPr/>
          <p:nvPr/>
        </p:nvSpPr>
        <p:spPr>
          <a:xfrm rot="-5400000">
            <a:off x="7585500" y="2750770"/>
            <a:ext cx="834600" cy="813300"/>
          </a:xfrm>
          <a:prstGeom prst="ellipse">
            <a:avLst/>
          </a:prstGeom>
          <a:solidFill>
            <a:srgbClr val="7A9E87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66" name="Google Shape;266;p24"/>
          <p:cNvSpPr/>
          <p:nvPr/>
        </p:nvSpPr>
        <p:spPr>
          <a:xfrm rot="-5400000">
            <a:off x="7585500" y="2402217"/>
            <a:ext cx="834600" cy="813300"/>
          </a:xfrm>
          <a:prstGeom prst="ellipse">
            <a:avLst/>
          </a:prstGeom>
          <a:solidFill>
            <a:srgbClr val="C4785A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67" name="Google Shape;267;p24"/>
          <p:cNvSpPr/>
          <p:nvPr/>
        </p:nvSpPr>
        <p:spPr>
          <a:xfrm rot="-5400000">
            <a:off x="7585500" y="2045688"/>
            <a:ext cx="834600" cy="813300"/>
          </a:xfrm>
          <a:prstGeom prst="ellipse">
            <a:avLst/>
          </a:prstGeom>
          <a:solidFill>
            <a:srgbClr val="5B7B8A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  <p:sp>
        <p:nvSpPr>
          <p:cNvPr id="268" name="Google Shape;268;p24"/>
          <p:cNvSpPr/>
          <p:nvPr/>
        </p:nvSpPr>
        <p:spPr>
          <a:xfrm rot="-5400000">
            <a:off x="7585500" y="1722888"/>
            <a:ext cx="834600" cy="813300"/>
          </a:xfrm>
          <a:prstGeom prst="ellipse">
            <a:avLst/>
          </a:prstGeom>
          <a:solidFill>
            <a:srgbClr val="F9EBE0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5"/>
          <p:cNvSpPr/>
          <p:nvPr/>
        </p:nvSpPr>
        <p:spPr>
          <a:xfrm>
            <a:off x="1590300" y="2571750"/>
            <a:ext cx="2435100" cy="1498500"/>
          </a:xfrm>
          <a:prstGeom prst="ellipse">
            <a:avLst/>
          </a:prstGeom>
          <a:solidFill>
            <a:srgbClr val="1B1B1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5"/>
          <p:cNvSpPr/>
          <p:nvPr/>
        </p:nvSpPr>
        <p:spPr>
          <a:xfrm>
            <a:off x="2630706" y="2571750"/>
            <a:ext cx="2435100" cy="1498500"/>
          </a:xfrm>
          <a:prstGeom prst="ellipse">
            <a:avLst/>
          </a:prstGeom>
          <a:solidFill>
            <a:srgbClr val="7A9E8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5"/>
          <p:cNvSpPr/>
          <p:nvPr/>
        </p:nvSpPr>
        <p:spPr>
          <a:xfrm>
            <a:off x="3647833" y="2571750"/>
            <a:ext cx="2435100" cy="1498500"/>
          </a:xfrm>
          <a:prstGeom prst="ellipse">
            <a:avLst/>
          </a:prstGeom>
          <a:solidFill>
            <a:srgbClr val="C4785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4688239" y="2571750"/>
            <a:ext cx="2435100" cy="1498500"/>
          </a:xfrm>
          <a:prstGeom prst="ellipse">
            <a:avLst/>
          </a:prstGeom>
          <a:solidFill>
            <a:srgbClr val="5B7B8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587700" y="496275"/>
            <a:ext cx="12534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1B1B1E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8" name="Google Shape;278;p25"/>
          <p:cNvSpPr txBox="1"/>
          <p:nvPr/>
        </p:nvSpPr>
        <p:spPr>
          <a:xfrm>
            <a:off x="1928850" y="410550"/>
            <a:ext cx="12534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7A9E87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9" name="Google Shape;279;p25"/>
          <p:cNvSpPr txBox="1"/>
          <p:nvPr/>
        </p:nvSpPr>
        <p:spPr>
          <a:xfrm>
            <a:off x="3585200" y="496275"/>
            <a:ext cx="12534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C4785A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0" name="Google Shape;280;p25"/>
          <p:cNvSpPr txBox="1"/>
          <p:nvPr/>
        </p:nvSpPr>
        <p:spPr>
          <a:xfrm>
            <a:off x="5554825" y="496275"/>
            <a:ext cx="12534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5B7B8A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81" name="Google Shape;28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7075"/>
            <a:ext cx="8839199" cy="129285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7524450" y="573475"/>
            <a:ext cx="12534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F9EBE0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5630214" y="2571750"/>
            <a:ext cx="2435100" cy="1498500"/>
          </a:xfrm>
          <a:prstGeom prst="ellipse">
            <a:avLst/>
          </a:prstGeom>
          <a:solidFill>
            <a:srgbClr val="F9EBE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B7B8A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"/>
          <p:cNvSpPr/>
          <p:nvPr/>
        </p:nvSpPr>
        <p:spPr>
          <a:xfrm>
            <a:off x="2129225" y="2571750"/>
            <a:ext cx="1875900" cy="1498500"/>
          </a:xfrm>
          <a:prstGeom prst="ellipse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6"/>
          <p:cNvSpPr/>
          <p:nvPr/>
        </p:nvSpPr>
        <p:spPr>
          <a:xfrm>
            <a:off x="2930717" y="2571750"/>
            <a:ext cx="1875900" cy="1498500"/>
          </a:xfrm>
          <a:prstGeom prst="ellipse">
            <a:avLst/>
          </a:prstGeom>
          <a:solidFill>
            <a:srgbClr val="7A9E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6"/>
          <p:cNvSpPr/>
          <p:nvPr/>
        </p:nvSpPr>
        <p:spPr>
          <a:xfrm>
            <a:off x="3714277" y="2571750"/>
            <a:ext cx="1875900" cy="1498500"/>
          </a:xfrm>
          <a:prstGeom prst="ellipse">
            <a:avLst/>
          </a:prstGeom>
          <a:solidFill>
            <a:srgbClr val="C478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6"/>
          <p:cNvSpPr/>
          <p:nvPr/>
        </p:nvSpPr>
        <p:spPr>
          <a:xfrm>
            <a:off x="4515769" y="2571750"/>
            <a:ext cx="1875900" cy="1498500"/>
          </a:xfrm>
          <a:prstGeom prst="ellipse">
            <a:avLst/>
          </a:prstGeom>
          <a:solidFill>
            <a:srgbClr val="5B7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6"/>
          <p:cNvSpPr/>
          <p:nvPr/>
        </p:nvSpPr>
        <p:spPr>
          <a:xfrm>
            <a:off x="5241434" y="2571750"/>
            <a:ext cx="1875900" cy="1498500"/>
          </a:xfrm>
          <a:prstGeom prst="ellipse">
            <a:avLst/>
          </a:prstGeom>
          <a:solidFill>
            <a:srgbClr val="F9E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4785A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"/>
          <p:cNvSpPr/>
          <p:nvPr/>
        </p:nvSpPr>
        <p:spPr>
          <a:xfrm>
            <a:off x="2129225" y="2571750"/>
            <a:ext cx="1875900" cy="1498500"/>
          </a:xfrm>
          <a:prstGeom prst="ellipse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7"/>
          <p:cNvSpPr/>
          <p:nvPr/>
        </p:nvSpPr>
        <p:spPr>
          <a:xfrm>
            <a:off x="2930717" y="2571750"/>
            <a:ext cx="1875900" cy="1498500"/>
          </a:xfrm>
          <a:prstGeom prst="ellipse">
            <a:avLst/>
          </a:prstGeom>
          <a:solidFill>
            <a:srgbClr val="7A9E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7"/>
          <p:cNvSpPr/>
          <p:nvPr/>
        </p:nvSpPr>
        <p:spPr>
          <a:xfrm>
            <a:off x="3714277" y="2571750"/>
            <a:ext cx="1875900" cy="1498500"/>
          </a:xfrm>
          <a:prstGeom prst="ellipse">
            <a:avLst/>
          </a:prstGeom>
          <a:solidFill>
            <a:srgbClr val="C478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7"/>
          <p:cNvSpPr/>
          <p:nvPr/>
        </p:nvSpPr>
        <p:spPr>
          <a:xfrm>
            <a:off x="4515769" y="2571750"/>
            <a:ext cx="1875900" cy="1498500"/>
          </a:xfrm>
          <a:prstGeom prst="ellipse">
            <a:avLst/>
          </a:prstGeom>
          <a:solidFill>
            <a:srgbClr val="5B7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7"/>
          <p:cNvSpPr/>
          <p:nvPr/>
        </p:nvSpPr>
        <p:spPr>
          <a:xfrm>
            <a:off x="5241434" y="2571750"/>
            <a:ext cx="1875900" cy="1498500"/>
          </a:xfrm>
          <a:prstGeom prst="ellipse">
            <a:avLst/>
          </a:prstGeom>
          <a:solidFill>
            <a:srgbClr val="F9E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1E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8"/>
          <p:cNvSpPr/>
          <p:nvPr/>
        </p:nvSpPr>
        <p:spPr>
          <a:xfrm>
            <a:off x="2129225" y="2571750"/>
            <a:ext cx="1875900" cy="1498500"/>
          </a:xfrm>
          <a:prstGeom prst="ellipse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8"/>
          <p:cNvSpPr/>
          <p:nvPr/>
        </p:nvSpPr>
        <p:spPr>
          <a:xfrm>
            <a:off x="2930717" y="2571750"/>
            <a:ext cx="1875900" cy="1498500"/>
          </a:xfrm>
          <a:prstGeom prst="ellipse">
            <a:avLst/>
          </a:prstGeom>
          <a:solidFill>
            <a:srgbClr val="7A9E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8"/>
          <p:cNvSpPr/>
          <p:nvPr/>
        </p:nvSpPr>
        <p:spPr>
          <a:xfrm>
            <a:off x="3714277" y="2571750"/>
            <a:ext cx="1875900" cy="1498500"/>
          </a:xfrm>
          <a:prstGeom prst="ellipse">
            <a:avLst/>
          </a:prstGeom>
          <a:solidFill>
            <a:srgbClr val="C478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8"/>
          <p:cNvSpPr/>
          <p:nvPr/>
        </p:nvSpPr>
        <p:spPr>
          <a:xfrm>
            <a:off x="4515769" y="2571750"/>
            <a:ext cx="1875900" cy="1498500"/>
          </a:xfrm>
          <a:prstGeom prst="ellipse">
            <a:avLst/>
          </a:prstGeom>
          <a:solidFill>
            <a:srgbClr val="5B7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8"/>
          <p:cNvSpPr/>
          <p:nvPr/>
        </p:nvSpPr>
        <p:spPr>
          <a:xfrm>
            <a:off x="5241434" y="2571750"/>
            <a:ext cx="1875900" cy="1498500"/>
          </a:xfrm>
          <a:prstGeom prst="ellipse">
            <a:avLst/>
          </a:prstGeom>
          <a:solidFill>
            <a:srgbClr val="F9E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EBE0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"/>
          <p:cNvSpPr/>
          <p:nvPr/>
        </p:nvSpPr>
        <p:spPr>
          <a:xfrm>
            <a:off x="2129225" y="2571750"/>
            <a:ext cx="1875900" cy="1498500"/>
          </a:xfrm>
          <a:prstGeom prst="ellipse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9"/>
          <p:cNvSpPr/>
          <p:nvPr/>
        </p:nvSpPr>
        <p:spPr>
          <a:xfrm>
            <a:off x="2930717" y="2571750"/>
            <a:ext cx="1875900" cy="1498500"/>
          </a:xfrm>
          <a:prstGeom prst="ellipse">
            <a:avLst/>
          </a:prstGeom>
          <a:solidFill>
            <a:srgbClr val="7A9E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9"/>
          <p:cNvSpPr/>
          <p:nvPr/>
        </p:nvSpPr>
        <p:spPr>
          <a:xfrm>
            <a:off x="3714277" y="2571750"/>
            <a:ext cx="1875900" cy="1498500"/>
          </a:xfrm>
          <a:prstGeom prst="ellipse">
            <a:avLst/>
          </a:prstGeom>
          <a:solidFill>
            <a:srgbClr val="C478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9"/>
          <p:cNvSpPr/>
          <p:nvPr/>
        </p:nvSpPr>
        <p:spPr>
          <a:xfrm>
            <a:off x="4515769" y="2571750"/>
            <a:ext cx="1875900" cy="1498500"/>
          </a:xfrm>
          <a:prstGeom prst="ellipse">
            <a:avLst/>
          </a:prstGeom>
          <a:solidFill>
            <a:srgbClr val="5B7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9"/>
          <p:cNvSpPr/>
          <p:nvPr/>
        </p:nvSpPr>
        <p:spPr>
          <a:xfrm>
            <a:off x="5241434" y="2571750"/>
            <a:ext cx="1875900" cy="1498500"/>
          </a:xfrm>
          <a:prstGeom prst="ellipse">
            <a:avLst/>
          </a:prstGeom>
          <a:solidFill>
            <a:srgbClr val="F9E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720"/>
              <a:t>posibles preguntas:</a:t>
            </a:r>
            <a:br>
              <a:rPr lang="es" sz="1720"/>
            </a:br>
            <a:br>
              <a:rPr lang="es" sz="1720"/>
            </a:br>
            <a:r>
              <a:rPr lang="es" sz="1720"/>
              <a:t>¿Por qué un ecosistema de dispositivos alternativos y no una intervención sobre el smartphone existente?</a:t>
            </a:r>
            <a:endParaRPr sz="172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" sz="1720"/>
              <a:t>porque el smartphone está estructuralmente capturado por los incentivos económicos del tercer ámbito — cualquier intervención desde adentro puede ser revertida por la misma lógica que creó el problema. Un dispositivo externo al ecosistema no está sujeto a esos incentivos.</a:t>
            </a:r>
            <a:endParaRPr sz="1720"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72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EBE0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1"/>
          <p:cNvSpPr txBox="1"/>
          <p:nvPr/>
        </p:nvSpPr>
        <p:spPr>
          <a:xfrm>
            <a:off x="1428750" y="4525150"/>
            <a:ext cx="62865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C4785A"/>
                </a:solidFill>
                <a:latin typeface="Lexend ExtraLight"/>
                <a:ea typeface="Lexend ExtraLight"/>
                <a:cs typeface="Lexend ExtraLight"/>
                <a:sym typeface="Lexend ExtraLight"/>
              </a:rPr>
              <a:t>PROBLEMÁTICA + 3 ARISTAS</a:t>
            </a:r>
            <a:endParaRPr sz="2400">
              <a:solidFill>
                <a:srgbClr val="C4785A"/>
              </a:solidFill>
              <a:latin typeface="Lexend ExtraLight"/>
              <a:ea typeface="Lexend ExtraLight"/>
              <a:cs typeface="Lexend ExtraLight"/>
              <a:sym typeface="Lexend ExtraLight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3280188" y="2963900"/>
            <a:ext cx="2583600" cy="1414200"/>
          </a:xfrm>
          <a:prstGeom prst="roundRect">
            <a:avLst>
              <a:gd fmla="val 16667" name="adj"/>
            </a:avLst>
          </a:prstGeom>
          <a:solidFill>
            <a:srgbClr val="C478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1"/>
          <p:cNvSpPr/>
          <p:nvPr/>
        </p:nvSpPr>
        <p:spPr>
          <a:xfrm>
            <a:off x="389050" y="2963900"/>
            <a:ext cx="2583600" cy="1414200"/>
          </a:xfrm>
          <a:prstGeom prst="roundRect">
            <a:avLst>
              <a:gd fmla="val 16667" name="adj"/>
            </a:avLst>
          </a:prstGeom>
          <a:solidFill>
            <a:srgbClr val="7A9E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1"/>
          <p:cNvSpPr/>
          <p:nvPr/>
        </p:nvSpPr>
        <p:spPr>
          <a:xfrm>
            <a:off x="6171350" y="3010150"/>
            <a:ext cx="2583600" cy="1414200"/>
          </a:xfrm>
          <a:prstGeom prst="roundRect">
            <a:avLst>
              <a:gd fmla="val 16667" name="adj"/>
            </a:avLst>
          </a:prstGeom>
          <a:solidFill>
            <a:srgbClr val="5B7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1"/>
          <p:cNvSpPr txBox="1"/>
          <p:nvPr/>
        </p:nvSpPr>
        <p:spPr>
          <a:xfrm>
            <a:off x="638050" y="2601980"/>
            <a:ext cx="20856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7A9E87"/>
                </a:solidFill>
                <a:latin typeface="Lexend"/>
                <a:ea typeface="Lexend"/>
                <a:cs typeface="Lexend"/>
                <a:sym typeface="Lexend"/>
              </a:rPr>
              <a:t>BIOLOGÍA</a:t>
            </a:r>
            <a:endParaRPr b="1" sz="2400">
              <a:solidFill>
                <a:srgbClr val="7A9E8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1"/>
          <p:cNvSpPr txBox="1"/>
          <p:nvPr/>
        </p:nvSpPr>
        <p:spPr>
          <a:xfrm>
            <a:off x="679450" y="2911871"/>
            <a:ext cx="20028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HUMANA</a:t>
            </a:r>
            <a:endParaRPr b="1" sz="2400">
              <a:solidFill>
                <a:srgbClr val="F9EBE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1"/>
          <p:cNvSpPr txBox="1"/>
          <p:nvPr/>
        </p:nvSpPr>
        <p:spPr>
          <a:xfrm>
            <a:off x="3529197" y="2612970"/>
            <a:ext cx="20856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C4785A"/>
                </a:solidFill>
                <a:latin typeface="Lexend"/>
                <a:ea typeface="Lexend"/>
                <a:cs typeface="Lexend"/>
                <a:sym typeface="Lexend"/>
              </a:rPr>
              <a:t>DISEÑO</a:t>
            </a:r>
            <a:endParaRPr b="1" sz="2400">
              <a:solidFill>
                <a:srgbClr val="C4785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1"/>
          <p:cNvSpPr txBox="1"/>
          <p:nvPr/>
        </p:nvSpPr>
        <p:spPr>
          <a:xfrm>
            <a:off x="6173102" y="2645637"/>
            <a:ext cx="25836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5B7B8A"/>
                </a:solidFill>
                <a:latin typeface="Lexend"/>
                <a:ea typeface="Lexend"/>
                <a:cs typeface="Lexend"/>
                <a:sym typeface="Lexend"/>
              </a:rPr>
              <a:t>CONTEXTO</a:t>
            </a:r>
            <a:endParaRPr b="1" sz="2400">
              <a:solidFill>
                <a:srgbClr val="5B7B8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1"/>
          <p:cNvSpPr txBox="1"/>
          <p:nvPr/>
        </p:nvSpPr>
        <p:spPr>
          <a:xfrm>
            <a:off x="3514300" y="2911863"/>
            <a:ext cx="20028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UX/UI</a:t>
            </a:r>
            <a:endParaRPr b="1" sz="2400">
              <a:solidFill>
                <a:srgbClr val="F9EBE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1"/>
          <p:cNvSpPr txBox="1"/>
          <p:nvPr/>
        </p:nvSpPr>
        <p:spPr>
          <a:xfrm>
            <a:off x="6162921" y="2963158"/>
            <a:ext cx="26202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9EBE0"/>
                </a:solidFill>
                <a:latin typeface="Lexend"/>
                <a:ea typeface="Lexend"/>
                <a:cs typeface="Lexend"/>
                <a:sym typeface="Lexend"/>
              </a:rPr>
              <a:t>SOCIO-ECONÓMICO</a:t>
            </a:r>
            <a:endParaRPr b="1" sz="1800">
              <a:solidFill>
                <a:srgbClr val="F9EBE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1"/>
          <p:cNvSpPr txBox="1"/>
          <p:nvPr/>
        </p:nvSpPr>
        <p:spPr>
          <a:xfrm>
            <a:off x="535150" y="3331977"/>
            <a:ext cx="2291400" cy="7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9EBE0"/>
                </a:solidFill>
                <a:latin typeface="Lexend Light"/>
                <a:ea typeface="Lexend Light"/>
                <a:cs typeface="Lexend Light"/>
                <a:sym typeface="Lexend Light"/>
              </a:rPr>
              <a:t>Fundamentos Neurocognitivos del Comportamiento</a:t>
            </a:r>
            <a:endParaRPr sz="1500">
              <a:solidFill>
                <a:srgbClr val="F9EBE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40" name="Google Shape;340;p31"/>
          <p:cNvSpPr txBox="1"/>
          <p:nvPr/>
        </p:nvSpPr>
        <p:spPr>
          <a:xfrm>
            <a:off x="3375544" y="3439022"/>
            <a:ext cx="2370600" cy="6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9EBE0"/>
                </a:solidFill>
                <a:latin typeface="Lexend Light"/>
                <a:ea typeface="Lexend Light"/>
                <a:cs typeface="Lexend Light"/>
                <a:sym typeface="Lexend Light"/>
              </a:rPr>
              <a:t>Diseño de Interfaces y </a:t>
            </a:r>
            <a:r>
              <a:rPr lang="es" sz="1500">
                <a:solidFill>
                  <a:srgbClr val="F9EBE0"/>
                </a:solidFill>
                <a:latin typeface="Lexend Light"/>
                <a:ea typeface="Lexend Light"/>
                <a:cs typeface="Lexend Light"/>
                <a:sym typeface="Lexend Light"/>
              </a:rPr>
              <a:t>Persuasión</a:t>
            </a:r>
            <a:r>
              <a:rPr lang="es" sz="1500">
                <a:solidFill>
                  <a:srgbClr val="F9EBE0"/>
                </a:solidFill>
                <a:latin typeface="Lexend Light"/>
                <a:ea typeface="Lexend Light"/>
                <a:cs typeface="Lexend Light"/>
                <a:sym typeface="Lexend Light"/>
              </a:rPr>
              <a:t> Conductual</a:t>
            </a:r>
            <a:endParaRPr sz="1500">
              <a:solidFill>
                <a:srgbClr val="F9EBE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41" name="Google Shape;341;p31"/>
          <p:cNvSpPr txBox="1"/>
          <p:nvPr/>
        </p:nvSpPr>
        <p:spPr>
          <a:xfrm>
            <a:off x="6117550" y="3427231"/>
            <a:ext cx="2702100" cy="6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9EBE0"/>
                </a:solidFill>
                <a:latin typeface="Lexend Light"/>
                <a:ea typeface="Lexend Light"/>
                <a:cs typeface="Lexend Light"/>
                <a:sym typeface="Lexend Light"/>
              </a:rPr>
              <a:t>Economía de la Atención y Extractivismo Conductual</a:t>
            </a:r>
            <a:endParaRPr sz="1500">
              <a:solidFill>
                <a:srgbClr val="F9EBE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42" name="Google Shape;342;p31"/>
          <p:cNvSpPr txBox="1"/>
          <p:nvPr/>
        </p:nvSpPr>
        <p:spPr>
          <a:xfrm>
            <a:off x="389050" y="880396"/>
            <a:ext cx="83658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ctr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" sz="1500">
                <a:solidFill>
                  <a:srgbClr val="1B1B1E"/>
                </a:solidFill>
                <a:latin typeface="Lexend Light"/>
                <a:ea typeface="Lexend Light"/>
                <a:cs typeface="Lexend Light"/>
                <a:sym typeface="Lexend Light"/>
              </a:rPr>
              <a:t>“</a:t>
            </a:r>
            <a:r>
              <a:rPr lang="es" sz="1500">
                <a:solidFill>
                  <a:srgbClr val="1B1B1E"/>
                </a:solidFill>
                <a:latin typeface="Lexend Light"/>
                <a:ea typeface="Lexend Light"/>
                <a:cs typeface="Lexend Light"/>
                <a:sym typeface="Lexend Light"/>
              </a:rPr>
              <a:t>El diseño de interfaces digitales explota deliberadamente los mecanismos neurobiológicos del usuario para maximizar el tiempo de pantalla, erosionando progresivamente su autonomía atencional y capacidad de decisión consciente.”</a:t>
            </a:r>
            <a:endParaRPr sz="1500">
              <a:solidFill>
                <a:srgbClr val="1B1B1E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