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Archivo Light"/>
      <p:regular r:id="rId18"/>
      <p:bold r:id="rId19"/>
      <p:italic r:id="rId20"/>
      <p:boldItalic r:id="rId21"/>
    </p:embeddedFont>
    <p:embeddedFont>
      <p:font typeface="Archivo ExtraLight"/>
      <p:regular r:id="rId22"/>
      <p:bold r:id="rId23"/>
      <p:italic r:id="rId24"/>
      <p:boldItalic r:id="rId25"/>
    </p:embeddedFont>
    <p:embeddedFont>
      <p:font typeface="Archivo Medium"/>
      <p:regular r:id="rId26"/>
      <p:bold r:id="rId27"/>
      <p:italic r:id="rId28"/>
      <p:boldItalic r:id="rId29"/>
    </p:embeddedFont>
    <p:embeddedFont>
      <p:font typeface="Archivo"/>
      <p:regular r:id="rId30"/>
      <p:bold r:id="rId31"/>
      <p:italic r:id="rId32"/>
      <p:boldItalic r:id="rId33"/>
    </p:embeddedFont>
    <p:embeddedFont>
      <p:font typeface="Archivo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479EF9-A30F-49B2-BF91-3BEF2DDFF63E}">
  <a:tblStyle styleId="{40479EF9-A30F-49B2-BF91-3BEF2DDFF6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chivoLight-italic.fntdata"/><Relationship Id="rId22" Type="http://schemas.openxmlformats.org/officeDocument/2006/relationships/font" Target="fonts/ArchivoExtraLight-regular.fntdata"/><Relationship Id="rId21" Type="http://schemas.openxmlformats.org/officeDocument/2006/relationships/font" Target="fonts/ArchivoLight-boldItalic.fntdata"/><Relationship Id="rId24" Type="http://schemas.openxmlformats.org/officeDocument/2006/relationships/font" Target="fonts/ArchivoExtraLight-italic.fntdata"/><Relationship Id="rId23" Type="http://schemas.openxmlformats.org/officeDocument/2006/relationships/font" Target="fonts/ArchivoExtra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chivoMedium-regular.fntdata"/><Relationship Id="rId25" Type="http://schemas.openxmlformats.org/officeDocument/2006/relationships/font" Target="fonts/ArchivoExtraLight-boldItalic.fntdata"/><Relationship Id="rId28" Type="http://schemas.openxmlformats.org/officeDocument/2006/relationships/font" Target="fonts/ArchivoMedium-italic.fntdata"/><Relationship Id="rId27" Type="http://schemas.openxmlformats.org/officeDocument/2006/relationships/font" Target="fonts/Archivo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chivo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chivo-bold.fntdata"/><Relationship Id="rId30" Type="http://schemas.openxmlformats.org/officeDocument/2006/relationships/font" Target="fonts/Archivo-regular.fntdata"/><Relationship Id="rId11" Type="http://schemas.openxmlformats.org/officeDocument/2006/relationships/slide" Target="slides/slide5.xml"/><Relationship Id="rId33" Type="http://schemas.openxmlformats.org/officeDocument/2006/relationships/font" Target="fonts/Archivo-boldItalic.fntdata"/><Relationship Id="rId10" Type="http://schemas.openxmlformats.org/officeDocument/2006/relationships/slide" Target="slides/slide4.xml"/><Relationship Id="rId32" Type="http://schemas.openxmlformats.org/officeDocument/2006/relationships/font" Target="fonts/Archivo-italic.fntdata"/><Relationship Id="rId13" Type="http://schemas.openxmlformats.org/officeDocument/2006/relationships/slide" Target="slides/slide7.xml"/><Relationship Id="rId35" Type="http://schemas.openxmlformats.org/officeDocument/2006/relationships/font" Target="fonts/ArchivoSemiBold-bold.fntdata"/><Relationship Id="rId12" Type="http://schemas.openxmlformats.org/officeDocument/2006/relationships/slide" Target="slides/slide6.xml"/><Relationship Id="rId34" Type="http://schemas.openxmlformats.org/officeDocument/2006/relationships/font" Target="fonts/ArchivoSemiBold-regular.fntdata"/><Relationship Id="rId15" Type="http://schemas.openxmlformats.org/officeDocument/2006/relationships/slide" Target="slides/slide9.xml"/><Relationship Id="rId37" Type="http://schemas.openxmlformats.org/officeDocument/2006/relationships/font" Target="fonts/ArchivoSemiBold-boldItalic.fntdata"/><Relationship Id="rId14" Type="http://schemas.openxmlformats.org/officeDocument/2006/relationships/slide" Target="slides/slide8.xml"/><Relationship Id="rId36" Type="http://schemas.openxmlformats.org/officeDocument/2006/relationships/font" Target="fonts/ArchivoSemi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rchivoLight-bold.fntdata"/><Relationship Id="rId18" Type="http://schemas.openxmlformats.org/officeDocument/2006/relationships/font" Target="fonts/Archivo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13209206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13209206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13209206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13209206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13209206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13209206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13209206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13209206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132092065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132092065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13209206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13209206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132092065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13209206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13209206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13209206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132092065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132092065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13209206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13209206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8F4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jpg"/><Relationship Id="rId9" Type="http://schemas.openxmlformats.org/officeDocument/2006/relationships/image" Target="../media/image13.jpg"/><Relationship Id="rId5" Type="http://schemas.openxmlformats.org/officeDocument/2006/relationships/image" Target="../media/image16.jpg"/><Relationship Id="rId6" Type="http://schemas.openxmlformats.org/officeDocument/2006/relationships/image" Target="../media/image15.jpg"/><Relationship Id="rId7" Type="http://schemas.openxmlformats.org/officeDocument/2006/relationships/image" Target="../media/image5.jpg"/><Relationship Id="rId8"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title="PPT NUEVO-02.png"/>
          <p:cNvPicPr preferRelativeResize="0"/>
          <p:nvPr/>
        </p:nvPicPr>
        <p:blipFill rotWithShape="1">
          <a:blip r:embed="rId3">
            <a:alphaModFix/>
          </a:blip>
          <a:srcRect b="0" l="0" r="0" t="0"/>
          <a:stretch/>
        </p:blipFill>
        <p:spPr>
          <a:xfrm flipH="1">
            <a:off x="5110374" y="1534675"/>
            <a:ext cx="3699576" cy="3523651"/>
          </a:xfrm>
          <a:prstGeom prst="rect">
            <a:avLst/>
          </a:prstGeom>
          <a:noFill/>
          <a:ln>
            <a:noFill/>
          </a:ln>
        </p:spPr>
      </p:pic>
      <p:sp>
        <p:nvSpPr>
          <p:cNvPr id="55" name="Google Shape;55;p13"/>
          <p:cNvSpPr txBox="1"/>
          <p:nvPr/>
        </p:nvSpPr>
        <p:spPr>
          <a:xfrm>
            <a:off x="59654" y="3590753"/>
            <a:ext cx="26727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700">
                <a:solidFill>
                  <a:srgbClr val="FFFFFF"/>
                </a:solidFill>
                <a:latin typeface="Archivo"/>
                <a:ea typeface="Archivo"/>
                <a:cs typeface="Archivo"/>
                <a:sym typeface="Archivo"/>
              </a:rPr>
              <a:t>Definición de proyecto</a:t>
            </a:r>
            <a:endParaRPr b="1" sz="1700">
              <a:solidFill>
                <a:srgbClr val="FFFFFF"/>
              </a:solidFill>
              <a:latin typeface="Archivo"/>
              <a:ea typeface="Archivo"/>
              <a:cs typeface="Archivo"/>
              <a:sym typeface="Archivo"/>
            </a:endParaRPr>
          </a:p>
        </p:txBody>
      </p:sp>
      <p:sp>
        <p:nvSpPr>
          <p:cNvPr id="56" name="Google Shape;56;p13"/>
          <p:cNvSpPr txBox="1"/>
          <p:nvPr/>
        </p:nvSpPr>
        <p:spPr>
          <a:xfrm>
            <a:off x="919613" y="154498"/>
            <a:ext cx="109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900">
                <a:solidFill>
                  <a:srgbClr val="FFFFFF"/>
                </a:solidFill>
                <a:latin typeface="Archivo"/>
                <a:ea typeface="Archivo"/>
                <a:cs typeface="Archivo"/>
                <a:sym typeface="Archivo"/>
              </a:rPr>
              <a:t>Encargo 08</a:t>
            </a:r>
            <a:endParaRPr b="1" sz="900">
              <a:solidFill>
                <a:srgbClr val="FFFFFF"/>
              </a:solidFill>
              <a:latin typeface="Archivo"/>
              <a:ea typeface="Archivo"/>
              <a:cs typeface="Archivo"/>
              <a:sym typeface="Archivo"/>
            </a:endParaRPr>
          </a:p>
        </p:txBody>
      </p:sp>
      <p:sp>
        <p:nvSpPr>
          <p:cNvPr id="57" name="Google Shape;57;p13"/>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FFFFFF"/>
                </a:solidFill>
                <a:latin typeface="Archivo ExtraLight"/>
                <a:ea typeface="Archivo ExtraLight"/>
                <a:cs typeface="Archivo ExtraLight"/>
                <a:sym typeface="Archivo ExtraLight"/>
              </a:rPr>
              <a:t>UDP / FAAD / Escuela Diseño</a:t>
            </a:r>
            <a:endParaRPr sz="900">
              <a:solidFill>
                <a:srgbClr val="FFFFFF"/>
              </a:solidFill>
              <a:latin typeface="Archivo ExtraLight"/>
              <a:ea typeface="Archivo ExtraLight"/>
              <a:cs typeface="Archivo ExtraLight"/>
              <a:sym typeface="Archivo ExtraLight"/>
            </a:endParaRPr>
          </a:p>
        </p:txBody>
      </p:sp>
      <p:sp>
        <p:nvSpPr>
          <p:cNvPr id="58" name="Google Shape;58;p13"/>
          <p:cNvSpPr txBox="1"/>
          <p:nvPr/>
        </p:nvSpPr>
        <p:spPr>
          <a:xfrm>
            <a:off x="5895588"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FFFFFF"/>
                </a:solidFill>
                <a:latin typeface="Archivo ExtraLight"/>
                <a:ea typeface="Archivo ExtraLight"/>
                <a:cs typeface="Archivo ExtraLight"/>
                <a:sym typeface="Archivo ExtraLight"/>
              </a:rPr>
              <a:t>Martin Césped </a:t>
            </a:r>
            <a:endParaRPr sz="900">
              <a:solidFill>
                <a:srgbClr val="FFFFFF"/>
              </a:solidFill>
              <a:latin typeface="Archivo ExtraLight"/>
              <a:ea typeface="Archivo ExtraLight"/>
              <a:cs typeface="Archivo ExtraLight"/>
              <a:sym typeface="Archivo ExtraLight"/>
            </a:endParaRPr>
          </a:p>
        </p:txBody>
      </p:sp>
      <p:pic>
        <p:nvPicPr>
          <p:cNvPr id="59" name="Google Shape;59;p13"/>
          <p:cNvPicPr preferRelativeResize="0"/>
          <p:nvPr/>
        </p:nvPicPr>
        <p:blipFill>
          <a:blip r:embed="rId4">
            <a:alphaModFix/>
          </a:blip>
          <a:stretch>
            <a:fillRect/>
          </a:stretch>
        </p:blipFill>
        <p:spPr>
          <a:xfrm>
            <a:off x="125050" y="97350"/>
            <a:ext cx="794574" cy="388029"/>
          </a:xfrm>
          <a:prstGeom prst="rect">
            <a:avLst/>
          </a:prstGeom>
          <a:noFill/>
          <a:ln>
            <a:noFill/>
          </a:ln>
        </p:spPr>
      </p:pic>
      <p:sp>
        <p:nvSpPr>
          <p:cNvPr id="60" name="Google Shape;60;p13"/>
          <p:cNvSpPr txBox="1"/>
          <p:nvPr/>
        </p:nvSpPr>
        <p:spPr>
          <a:xfrm>
            <a:off x="5541600"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FFFFFF"/>
                </a:solidFill>
                <a:latin typeface="Archivo"/>
                <a:ea typeface="Archivo"/>
                <a:cs typeface="Archivo"/>
                <a:sym typeface="Archivo"/>
              </a:rPr>
              <a:t>Seminario de título / </a:t>
            </a:r>
            <a:r>
              <a:rPr lang="es" sz="900">
                <a:solidFill>
                  <a:srgbClr val="FFFFFF"/>
                </a:solidFill>
                <a:latin typeface="Archivo ExtraLight"/>
                <a:ea typeface="Archivo ExtraLight"/>
                <a:cs typeface="Archivo ExtraLight"/>
                <a:sym typeface="Archivo ExtraLight"/>
              </a:rPr>
              <a:t>Sergio Majluf - Simón Gallardo</a:t>
            </a:r>
            <a:endParaRPr sz="900">
              <a:solidFill>
                <a:srgbClr val="FFFFFF"/>
              </a:solidFill>
              <a:latin typeface="Archivo ExtraLight"/>
              <a:ea typeface="Archivo ExtraLight"/>
              <a:cs typeface="Archivo ExtraLight"/>
              <a:sym typeface="Archivo ExtraLight"/>
            </a:endParaRPr>
          </a:p>
        </p:txBody>
      </p:sp>
      <p:pic>
        <p:nvPicPr>
          <p:cNvPr id="61" name="Google Shape;61;p13" title="Sin título-1.png"/>
          <p:cNvPicPr preferRelativeResize="0"/>
          <p:nvPr/>
        </p:nvPicPr>
        <p:blipFill>
          <a:blip r:embed="rId5">
            <a:alphaModFix/>
          </a:blip>
          <a:stretch>
            <a:fillRect/>
          </a:stretch>
        </p:blipFill>
        <p:spPr>
          <a:xfrm>
            <a:off x="5275649" y="2993700"/>
            <a:ext cx="2633052" cy="1658524"/>
          </a:xfrm>
          <a:prstGeom prst="rect">
            <a:avLst/>
          </a:prstGeom>
          <a:noFill/>
          <a:ln>
            <a:noFill/>
          </a:ln>
        </p:spPr>
      </p:pic>
      <p:sp>
        <p:nvSpPr>
          <p:cNvPr id="62" name="Google Shape;62;p13"/>
          <p:cNvSpPr txBox="1"/>
          <p:nvPr/>
        </p:nvSpPr>
        <p:spPr>
          <a:xfrm>
            <a:off x="471373" y="3900703"/>
            <a:ext cx="39876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200">
                <a:solidFill>
                  <a:srgbClr val="FFFFFF"/>
                </a:solidFill>
                <a:latin typeface="Archivo Light"/>
                <a:ea typeface="Archivo Light"/>
                <a:cs typeface="Archivo Light"/>
                <a:sym typeface="Archivo Light"/>
              </a:rPr>
              <a:t>El Gesto como Protagonista</a:t>
            </a:r>
            <a:endParaRPr sz="1200">
              <a:solidFill>
                <a:srgbClr val="FFFFFF"/>
              </a:solidFill>
              <a:latin typeface="Archivo Light"/>
              <a:ea typeface="Archivo Light"/>
              <a:cs typeface="Archivo Light"/>
              <a:sym typeface="Archiv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Síntesis</a:t>
            </a:r>
            <a:r>
              <a:rPr b="1" lang="es" sz="900">
                <a:latin typeface="Archivo"/>
                <a:ea typeface="Archivo"/>
                <a:cs typeface="Archivo"/>
                <a:sym typeface="Archivo"/>
              </a:rPr>
              <a:t> de formulación</a:t>
            </a:r>
            <a:endParaRPr b="1" sz="700">
              <a:solidFill>
                <a:srgbClr val="000000"/>
              </a:solidFill>
              <a:latin typeface="Archivo"/>
              <a:ea typeface="Archivo"/>
              <a:cs typeface="Archivo"/>
              <a:sym typeface="Archivo"/>
            </a:endParaRPr>
          </a:p>
        </p:txBody>
      </p:sp>
      <p:sp>
        <p:nvSpPr>
          <p:cNvPr id="68" name="Google Shape;68;p14"/>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69" name="Google Shape;69;p14"/>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70" name="Google Shape;70;p14"/>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71" name="Google Shape;71;p14"/>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72" name="Google Shape;72;p14"/>
          <p:cNvSpPr txBox="1"/>
          <p:nvPr/>
        </p:nvSpPr>
        <p:spPr>
          <a:xfrm>
            <a:off x="1674700" y="998300"/>
            <a:ext cx="5640300" cy="1239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s" sz="1000">
                <a:solidFill>
                  <a:schemeClr val="dk1"/>
                </a:solidFill>
                <a:latin typeface="Archivo ExtraLight"/>
                <a:ea typeface="Archivo ExtraLight"/>
                <a:cs typeface="Archivo ExtraLight"/>
                <a:sym typeface="Archivo ExtraLight"/>
              </a:rPr>
              <a:t>Los NNA con compromiso motor en etapa preescolar y básica inicial </a:t>
            </a:r>
            <a:r>
              <a:rPr lang="es" sz="1000">
                <a:solidFill>
                  <a:schemeClr val="dk1"/>
                </a:solidFill>
                <a:latin typeface="Archivo SemiBold"/>
                <a:ea typeface="Archivo SemiBold"/>
                <a:cs typeface="Archivo SemiBold"/>
                <a:sym typeface="Archivo SemiBold"/>
              </a:rPr>
              <a:t>necesitan mediadores materiales lúdicos</a:t>
            </a:r>
            <a:r>
              <a:rPr lang="es" sz="1000">
                <a:solidFill>
                  <a:schemeClr val="dk1"/>
                </a:solidFill>
                <a:latin typeface="Archivo ExtraLight"/>
                <a:ea typeface="Archivo ExtraLight"/>
                <a:cs typeface="Archivo ExtraLight"/>
                <a:sym typeface="Archivo ExtraLight"/>
              </a:rPr>
              <a:t> con un </a:t>
            </a:r>
            <a:r>
              <a:rPr lang="es" sz="1000">
                <a:solidFill>
                  <a:srgbClr val="0000FF"/>
                </a:solidFill>
                <a:latin typeface="Archivo Medium"/>
                <a:ea typeface="Archivo Medium"/>
                <a:cs typeface="Archivo Medium"/>
                <a:sym typeface="Archivo Medium"/>
              </a:rPr>
              <a:t>bajo umbral de activación y respuesta sensorial inmediata,</a:t>
            </a:r>
            <a:r>
              <a:rPr lang="es" sz="1000">
                <a:solidFill>
                  <a:schemeClr val="dk1"/>
                </a:solidFill>
                <a:latin typeface="Archivo ExtraLight"/>
                <a:ea typeface="Archivo ExtraLight"/>
                <a:cs typeface="Archivo ExtraLight"/>
                <a:sym typeface="Archivo ExtraLight"/>
              </a:rPr>
              <a:t> porque la rigidez y falta de retroalimentación de los materiales actuales los relega a un rol de espectadores, inhibiendo su curiosidad natural y su </a:t>
            </a:r>
            <a:r>
              <a:rPr lang="es" sz="1000">
                <a:solidFill>
                  <a:schemeClr val="dk1"/>
                </a:solidFill>
                <a:latin typeface="Archivo SemiBold"/>
                <a:ea typeface="Archivo SemiBold"/>
                <a:cs typeface="Archivo SemiBold"/>
                <a:sym typeface="Archivo SemiBold"/>
              </a:rPr>
              <a:t>derecho al juego autónomo y compartido. </a:t>
            </a:r>
            <a:endParaRPr sz="1000">
              <a:solidFill>
                <a:schemeClr val="dk1"/>
              </a:solidFill>
              <a:latin typeface="Archivo SemiBold"/>
              <a:ea typeface="Archivo SemiBold"/>
              <a:cs typeface="Archivo SemiBold"/>
              <a:sym typeface="Archivo SemiBold"/>
            </a:endParaRPr>
          </a:p>
          <a:p>
            <a:pPr indent="0" lvl="0" marL="457200" rtl="0" algn="l">
              <a:lnSpc>
                <a:spcPct val="115000"/>
              </a:lnSpc>
              <a:spcBef>
                <a:spcPts val="0"/>
              </a:spcBef>
              <a:spcAft>
                <a:spcPts val="0"/>
              </a:spcAft>
              <a:buNone/>
            </a:pPr>
            <a:r>
              <a:t/>
            </a:r>
            <a:endParaRPr sz="1100">
              <a:solidFill>
                <a:srgbClr val="000000"/>
              </a:solidFill>
              <a:latin typeface="Archivo"/>
              <a:ea typeface="Archivo"/>
              <a:cs typeface="Archivo"/>
              <a:sym typeface="Archivo"/>
            </a:endParaRPr>
          </a:p>
        </p:txBody>
      </p:sp>
      <p:sp>
        <p:nvSpPr>
          <p:cNvPr id="73" name="Google Shape;73;p14"/>
          <p:cNvSpPr txBox="1"/>
          <p:nvPr/>
        </p:nvSpPr>
        <p:spPr>
          <a:xfrm>
            <a:off x="892605" y="1202563"/>
            <a:ext cx="782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2000">
                <a:latin typeface="Archivo Medium"/>
                <a:ea typeface="Archivo Medium"/>
                <a:cs typeface="Archivo Medium"/>
                <a:sym typeface="Archivo Medium"/>
              </a:rPr>
              <a:t>POV</a:t>
            </a:r>
            <a:endParaRPr sz="2000">
              <a:solidFill>
                <a:srgbClr val="000000"/>
              </a:solidFill>
              <a:latin typeface="Archivo Medium"/>
              <a:ea typeface="Archivo Medium"/>
              <a:cs typeface="Archivo Medium"/>
              <a:sym typeface="Archivo Medium"/>
            </a:endParaRPr>
          </a:p>
        </p:txBody>
      </p:sp>
      <p:cxnSp>
        <p:nvCxnSpPr>
          <p:cNvPr id="74" name="Google Shape;74;p14"/>
          <p:cNvCxnSpPr/>
          <p:nvPr/>
        </p:nvCxnSpPr>
        <p:spPr>
          <a:xfrm>
            <a:off x="1809750" y="2625863"/>
            <a:ext cx="757200" cy="0"/>
          </a:xfrm>
          <a:prstGeom prst="straightConnector1">
            <a:avLst/>
          </a:prstGeom>
          <a:noFill/>
          <a:ln cap="flat" cmpd="sng" w="9525">
            <a:solidFill>
              <a:schemeClr val="dk1"/>
            </a:solidFill>
            <a:prstDash val="solid"/>
            <a:round/>
            <a:headEnd len="med" w="med" type="none"/>
            <a:tailEnd len="med" w="med" type="none"/>
          </a:ln>
        </p:spPr>
      </p:cxnSp>
      <p:sp>
        <p:nvSpPr>
          <p:cNvPr id="75" name="Google Shape;75;p14"/>
          <p:cNvSpPr txBox="1"/>
          <p:nvPr/>
        </p:nvSpPr>
        <p:spPr>
          <a:xfrm>
            <a:off x="2200525" y="2240213"/>
            <a:ext cx="5640300" cy="1046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s" sz="1000">
                <a:solidFill>
                  <a:schemeClr val="dk1"/>
                </a:solidFill>
                <a:latin typeface="Archivo ExtraLight"/>
                <a:ea typeface="Archivo ExtraLight"/>
                <a:cs typeface="Archivo ExtraLight"/>
                <a:sym typeface="Archivo ExtraLight"/>
              </a:rPr>
              <a:t>La implementación de un </a:t>
            </a:r>
            <a:r>
              <a:rPr lang="es" sz="1000">
                <a:solidFill>
                  <a:schemeClr val="dk1"/>
                </a:solidFill>
                <a:latin typeface="Archivo SemiBold"/>
                <a:ea typeface="Archivo SemiBold"/>
                <a:cs typeface="Archivo SemiBold"/>
                <a:sym typeface="Archivo SemiBold"/>
              </a:rPr>
              <a:t>sistema figital</a:t>
            </a:r>
            <a:r>
              <a:rPr lang="es" sz="1000">
                <a:solidFill>
                  <a:schemeClr val="dk1"/>
                </a:solidFill>
                <a:latin typeface="Archivo ExtraLight"/>
                <a:ea typeface="Archivo ExtraLight"/>
                <a:cs typeface="Archivo ExtraLight"/>
                <a:sym typeface="Archivo ExtraLight"/>
              </a:rPr>
              <a:t> que sustituya el </a:t>
            </a:r>
            <a:r>
              <a:rPr lang="es" sz="1000">
                <a:solidFill>
                  <a:srgbClr val="FF0000"/>
                </a:solidFill>
                <a:latin typeface="Archivo SemiBold"/>
                <a:ea typeface="Archivo SemiBold"/>
                <a:cs typeface="Archivo SemiBold"/>
                <a:sym typeface="Archivo SemiBold"/>
              </a:rPr>
              <a:t>contacto físico de precisión a uno por proximidad, reduciendo  el umbral de activación al rango de movimiento voluntario del niño, </a:t>
            </a:r>
            <a:r>
              <a:rPr lang="es" sz="1000">
                <a:solidFill>
                  <a:schemeClr val="dk1"/>
                </a:solidFill>
                <a:latin typeface="Archivo ExtraLight"/>
                <a:ea typeface="Archivo ExtraLight"/>
                <a:cs typeface="Archivo ExtraLight"/>
                <a:sym typeface="Archivo ExtraLight"/>
              </a:rPr>
              <a:t> permitirá que niños y niñas con </a:t>
            </a:r>
            <a:r>
              <a:rPr lang="es" sz="1000">
                <a:solidFill>
                  <a:schemeClr val="dk1"/>
                </a:solidFill>
                <a:latin typeface="Archivo ExtraLight"/>
                <a:ea typeface="Archivo ExtraLight"/>
                <a:cs typeface="Archivo ExtraLight"/>
                <a:sym typeface="Archivo ExtraLight"/>
              </a:rPr>
              <a:t>compromiso</a:t>
            </a:r>
            <a:r>
              <a:rPr lang="es" sz="1000">
                <a:solidFill>
                  <a:schemeClr val="dk1"/>
                </a:solidFill>
                <a:latin typeface="Archivo ExtraLight"/>
                <a:ea typeface="Archivo ExtraLight"/>
                <a:cs typeface="Archivo ExtraLight"/>
                <a:sym typeface="Archivo ExtraLight"/>
              </a:rPr>
              <a:t> motor validen sus gestos aunque sean imprecisos a</a:t>
            </a:r>
            <a:r>
              <a:rPr lang="es" sz="1000">
                <a:solidFill>
                  <a:schemeClr val="dk1"/>
                </a:solidFill>
                <a:latin typeface="Archivo ExtraLight"/>
                <a:ea typeface="Archivo ExtraLight"/>
                <a:cs typeface="Archivo ExtraLight"/>
                <a:sym typeface="Archivo ExtraLight"/>
              </a:rPr>
              <a:t>l recibir una </a:t>
            </a:r>
            <a:r>
              <a:rPr lang="es" sz="1000">
                <a:solidFill>
                  <a:schemeClr val="dk1"/>
                </a:solidFill>
                <a:latin typeface="Archivo SemiBold"/>
                <a:ea typeface="Archivo SemiBold"/>
                <a:cs typeface="Archivo SemiBold"/>
                <a:sym typeface="Archivo SemiBold"/>
              </a:rPr>
              <a:t>respuesta sensorial inmediata como acción efectiva,</a:t>
            </a:r>
            <a:r>
              <a:rPr lang="es" sz="1000">
                <a:solidFill>
                  <a:schemeClr val="dk1"/>
                </a:solidFill>
                <a:latin typeface="Archivo ExtraLight"/>
                <a:ea typeface="Archivo ExtraLight"/>
                <a:cs typeface="Archivo ExtraLight"/>
                <a:sym typeface="Archivo ExtraLight"/>
              </a:rPr>
              <a:t> transformando al párvulo de espectador a protagonista autónomo </a:t>
            </a:r>
            <a:endParaRPr sz="1000">
              <a:solidFill>
                <a:srgbClr val="000000"/>
              </a:solidFill>
              <a:latin typeface="Archivo ExtraLight"/>
              <a:ea typeface="Archivo ExtraLight"/>
              <a:cs typeface="Archivo ExtraLight"/>
              <a:sym typeface="Archivo ExtraLight"/>
            </a:endParaRPr>
          </a:p>
        </p:txBody>
      </p:sp>
      <p:sp>
        <p:nvSpPr>
          <p:cNvPr id="76" name="Google Shape;76;p14"/>
          <p:cNvSpPr txBox="1"/>
          <p:nvPr/>
        </p:nvSpPr>
        <p:spPr>
          <a:xfrm>
            <a:off x="819325" y="2301850"/>
            <a:ext cx="11967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a:latin typeface="Archivo Medium"/>
                <a:ea typeface="Archivo Medium"/>
                <a:cs typeface="Archivo Medium"/>
                <a:sym typeface="Archivo Medium"/>
              </a:rPr>
              <a:t>Hipótesis</a:t>
            </a:r>
            <a:r>
              <a:rPr lang="es">
                <a:latin typeface="Archivo Medium"/>
                <a:ea typeface="Archivo Medium"/>
                <a:cs typeface="Archivo Medium"/>
                <a:sym typeface="Archivo Medium"/>
              </a:rPr>
              <a:t> de trabajo</a:t>
            </a:r>
            <a:endParaRPr>
              <a:solidFill>
                <a:srgbClr val="000000"/>
              </a:solidFill>
              <a:latin typeface="Archivo Medium"/>
              <a:ea typeface="Archivo Medium"/>
              <a:cs typeface="Archivo Medium"/>
              <a:sym typeface="Archivo Medium"/>
            </a:endParaRPr>
          </a:p>
        </p:txBody>
      </p:sp>
      <p:cxnSp>
        <p:nvCxnSpPr>
          <p:cNvPr id="77" name="Google Shape;77;p14"/>
          <p:cNvCxnSpPr/>
          <p:nvPr/>
        </p:nvCxnSpPr>
        <p:spPr>
          <a:xfrm>
            <a:off x="1687525" y="1480288"/>
            <a:ext cx="305400" cy="0"/>
          </a:xfrm>
          <a:prstGeom prst="straightConnector1">
            <a:avLst/>
          </a:prstGeom>
          <a:noFill/>
          <a:ln cap="flat" cmpd="sng" w="9525">
            <a:solidFill>
              <a:schemeClr val="dk2"/>
            </a:solidFill>
            <a:prstDash val="solid"/>
            <a:round/>
            <a:headEnd len="med" w="med" type="none"/>
            <a:tailEnd len="med" w="med" type="none"/>
          </a:ln>
        </p:spPr>
      </p:cxnSp>
      <p:sp>
        <p:nvSpPr>
          <p:cNvPr id="78" name="Google Shape;78;p14"/>
          <p:cNvSpPr txBox="1"/>
          <p:nvPr/>
        </p:nvSpPr>
        <p:spPr>
          <a:xfrm>
            <a:off x="819325" y="3433175"/>
            <a:ext cx="11967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a:latin typeface="Archivo Medium"/>
                <a:ea typeface="Archivo Medium"/>
                <a:cs typeface="Archivo Medium"/>
                <a:sym typeface="Archivo Medium"/>
              </a:rPr>
              <a:t>Objetivo general</a:t>
            </a:r>
            <a:endParaRPr>
              <a:solidFill>
                <a:srgbClr val="000000"/>
              </a:solidFill>
              <a:latin typeface="Archivo Medium"/>
              <a:ea typeface="Archivo Medium"/>
              <a:cs typeface="Archivo Medium"/>
              <a:sym typeface="Archivo Medium"/>
            </a:endParaRPr>
          </a:p>
        </p:txBody>
      </p:sp>
      <p:cxnSp>
        <p:nvCxnSpPr>
          <p:cNvPr id="79" name="Google Shape;79;p14"/>
          <p:cNvCxnSpPr/>
          <p:nvPr/>
        </p:nvCxnSpPr>
        <p:spPr>
          <a:xfrm>
            <a:off x="1809750" y="3806338"/>
            <a:ext cx="1343400" cy="0"/>
          </a:xfrm>
          <a:prstGeom prst="straightConnector1">
            <a:avLst/>
          </a:prstGeom>
          <a:noFill/>
          <a:ln cap="flat" cmpd="sng" w="9525">
            <a:solidFill>
              <a:schemeClr val="dk2"/>
            </a:solidFill>
            <a:prstDash val="solid"/>
            <a:round/>
            <a:headEnd len="med" w="med" type="none"/>
            <a:tailEnd len="med" w="med" type="none"/>
          </a:ln>
        </p:spPr>
      </p:cxnSp>
      <p:sp>
        <p:nvSpPr>
          <p:cNvPr id="80" name="Google Shape;80;p14"/>
          <p:cNvSpPr txBox="1"/>
          <p:nvPr/>
        </p:nvSpPr>
        <p:spPr>
          <a:xfrm>
            <a:off x="2885000" y="3433188"/>
            <a:ext cx="5218800" cy="885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s" sz="1000">
                <a:solidFill>
                  <a:schemeClr val="dk1"/>
                </a:solidFill>
                <a:latin typeface="Archivo ExtraLight"/>
                <a:ea typeface="Archivo ExtraLight"/>
                <a:cs typeface="Archivo ExtraLight"/>
                <a:sym typeface="Archivo ExtraLight"/>
              </a:rPr>
              <a:t>Diseñar un </a:t>
            </a:r>
            <a:r>
              <a:rPr lang="es" sz="1000">
                <a:solidFill>
                  <a:schemeClr val="dk1"/>
                </a:solidFill>
                <a:latin typeface="Archivo SemiBold"/>
                <a:ea typeface="Archivo SemiBold"/>
                <a:cs typeface="Archivo SemiBold"/>
                <a:sym typeface="Archivo SemiBold"/>
              </a:rPr>
              <a:t>sistema de mediación material tangible</a:t>
            </a:r>
            <a:r>
              <a:rPr lang="es" sz="1000">
                <a:solidFill>
                  <a:schemeClr val="dk1"/>
                </a:solidFill>
                <a:latin typeface="Archivo ExtraLight"/>
                <a:ea typeface="Archivo ExtraLight"/>
                <a:cs typeface="Archivo ExtraLight"/>
                <a:sym typeface="Archivo ExtraLight"/>
              </a:rPr>
              <a:t> que utilice tecnología de proximidad para</a:t>
            </a:r>
            <a:r>
              <a:rPr lang="es" sz="1000">
                <a:solidFill>
                  <a:srgbClr val="9900FF"/>
                </a:solidFill>
                <a:latin typeface="Archivo SemiBold"/>
                <a:ea typeface="Archivo SemiBold"/>
                <a:cs typeface="Archivo SemiBold"/>
                <a:sym typeface="Archivo SemiBold"/>
              </a:rPr>
              <a:t> reducir el esfuerzo físico requerido en la interacción</a:t>
            </a:r>
            <a:r>
              <a:rPr lang="es" sz="1000">
                <a:solidFill>
                  <a:schemeClr val="dk1"/>
                </a:solidFill>
                <a:latin typeface="Archivo ExtraLight"/>
                <a:ea typeface="Archivo ExtraLight"/>
                <a:cs typeface="Archivo ExtraLight"/>
                <a:sym typeface="Archivo ExtraLight"/>
              </a:rPr>
              <a:t>, validando el gesto del niño como protagonista de su propio aprendizaje. </a:t>
            </a:r>
            <a:endParaRPr sz="10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100">
              <a:solidFill>
                <a:srgbClr val="000000"/>
              </a:solidFill>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¿Cómo podríamos...? (HMW) </a:t>
            </a:r>
            <a:endParaRPr b="1" sz="700">
              <a:solidFill>
                <a:srgbClr val="000000"/>
              </a:solidFill>
              <a:latin typeface="Archivo"/>
              <a:ea typeface="Archivo"/>
              <a:cs typeface="Archivo"/>
              <a:sym typeface="Archivo"/>
            </a:endParaRPr>
          </a:p>
        </p:txBody>
      </p:sp>
      <p:sp>
        <p:nvSpPr>
          <p:cNvPr id="86" name="Google Shape;86;p15"/>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87" name="Google Shape;87;p15"/>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88" name="Google Shape;88;p15"/>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89" name="Google Shape;89;p15"/>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90" name="Google Shape;90;p15"/>
          <p:cNvSpPr txBox="1"/>
          <p:nvPr/>
        </p:nvSpPr>
        <p:spPr>
          <a:xfrm>
            <a:off x="3011025" y="2887050"/>
            <a:ext cx="2716800" cy="9381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ExtraLight"/>
                <a:ea typeface="Archivo ExtraLight"/>
                <a:cs typeface="Archivo ExtraLight"/>
                <a:sym typeface="Archivo ExtraLight"/>
              </a:rPr>
              <a:t>¿Cómo podríamos transformar cualquier intención de movimiento del párvulo en una confirmación de éxito inmediata y perceptible?</a:t>
            </a:r>
            <a:endParaRPr sz="1100">
              <a:solidFill>
                <a:srgbClr val="000000"/>
              </a:solidFill>
              <a:latin typeface="Archivo ExtraLight"/>
              <a:ea typeface="Archivo ExtraLight"/>
              <a:cs typeface="Archivo ExtraLight"/>
              <a:sym typeface="Archivo ExtraLight"/>
            </a:endParaRPr>
          </a:p>
        </p:txBody>
      </p:sp>
      <p:sp>
        <p:nvSpPr>
          <p:cNvPr id="91" name="Google Shape;91;p15"/>
          <p:cNvSpPr txBox="1"/>
          <p:nvPr/>
        </p:nvSpPr>
        <p:spPr>
          <a:xfrm>
            <a:off x="386675" y="2146438"/>
            <a:ext cx="28770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ExtraLight"/>
                <a:ea typeface="Archivo ExtraLight"/>
                <a:cs typeface="Archivo ExtraLight"/>
                <a:sym typeface="Archivo ExtraLight"/>
              </a:rPr>
              <a:t>¿Cómo podríamos eliminar la barrera de la precisión física para que el material lúdico responda al ritmo y las capacidades motrices individuales de cada niño? </a:t>
            </a:r>
            <a:endParaRPr sz="1100">
              <a:solidFill>
                <a:srgbClr val="000000"/>
              </a:solidFill>
              <a:latin typeface="Archivo ExtraLight"/>
              <a:ea typeface="Archivo ExtraLight"/>
              <a:cs typeface="Archivo ExtraLight"/>
              <a:sym typeface="Archivo ExtraLight"/>
            </a:endParaRPr>
          </a:p>
        </p:txBody>
      </p:sp>
      <p:sp>
        <p:nvSpPr>
          <p:cNvPr id="92" name="Google Shape;92;p15"/>
          <p:cNvSpPr txBox="1"/>
          <p:nvPr/>
        </p:nvSpPr>
        <p:spPr>
          <a:xfrm>
            <a:off x="5501075" y="2146450"/>
            <a:ext cx="28770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ExtraLight"/>
                <a:ea typeface="Archivo ExtraLight"/>
                <a:cs typeface="Archivo ExtraLight"/>
                <a:sym typeface="Archivo ExtraLight"/>
              </a:rPr>
              <a:t>¿Cómo podríamos diseñar una interacción material que incentive la curiosidad y la exploración repetida sin necesidad de mediación adulta constante? </a:t>
            </a:r>
            <a:endParaRPr sz="1100">
              <a:solidFill>
                <a:srgbClr val="000000"/>
              </a:solidFill>
              <a:latin typeface="Archivo ExtraLight"/>
              <a:ea typeface="Archivo ExtraLight"/>
              <a:cs typeface="Archivo ExtraLight"/>
              <a:sym typeface="Archivo ExtraLight"/>
            </a:endParaRPr>
          </a:p>
        </p:txBody>
      </p:sp>
      <p:sp>
        <p:nvSpPr>
          <p:cNvPr id="93" name="Google Shape;93;p15"/>
          <p:cNvSpPr txBox="1"/>
          <p:nvPr/>
        </p:nvSpPr>
        <p:spPr>
          <a:xfrm>
            <a:off x="3611300" y="1637400"/>
            <a:ext cx="1392000" cy="1313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200"/>
              </a:spcBef>
              <a:spcAft>
                <a:spcPts val="0"/>
              </a:spcAft>
              <a:buNone/>
            </a:pPr>
            <a:r>
              <a:rPr b="1" lang="es">
                <a:latin typeface="Archivo"/>
                <a:ea typeface="Archivo"/>
                <a:cs typeface="Archivo"/>
                <a:sym typeface="Archivo"/>
              </a:rPr>
              <a:t>Objetivo general</a:t>
            </a:r>
            <a:endParaRPr b="1">
              <a:solidFill>
                <a:srgbClr val="000000"/>
              </a:solidFill>
              <a:latin typeface="Archivo"/>
              <a:ea typeface="Archivo"/>
              <a:cs typeface="Archivo"/>
              <a:sym typeface="Archivo"/>
            </a:endParaRPr>
          </a:p>
          <a:p>
            <a:pPr indent="0" lvl="0" marL="0" rtl="0" algn="l">
              <a:lnSpc>
                <a:spcPct val="115000"/>
              </a:lnSpc>
              <a:spcBef>
                <a:spcPts val="1200"/>
              </a:spcBef>
              <a:spcAft>
                <a:spcPts val="0"/>
              </a:spcAft>
              <a:buNone/>
            </a:pPr>
            <a:r>
              <a:t/>
            </a:r>
            <a:endParaRPr b="1" sz="1100">
              <a:solidFill>
                <a:srgbClr val="303030"/>
              </a:solidFill>
              <a:highlight>
                <a:srgbClr val="FFFFFF"/>
              </a:highlight>
              <a:latin typeface="Archivo"/>
              <a:ea typeface="Archivo"/>
              <a:cs typeface="Archivo"/>
              <a:sym typeface="Archivo"/>
            </a:endParaRPr>
          </a:p>
          <a:p>
            <a:pPr indent="0" lvl="0" marL="457200" rtl="0" algn="l">
              <a:lnSpc>
                <a:spcPct val="115000"/>
              </a:lnSpc>
              <a:spcBef>
                <a:spcPts val="900"/>
              </a:spcBef>
              <a:spcAft>
                <a:spcPts val="0"/>
              </a:spcAft>
              <a:buNone/>
            </a:pPr>
            <a:r>
              <a:t/>
            </a:r>
            <a:endParaRPr sz="1100">
              <a:solidFill>
                <a:srgbClr val="000000"/>
              </a:solidFill>
              <a:latin typeface="Archivo"/>
              <a:ea typeface="Archivo"/>
              <a:cs typeface="Archivo"/>
              <a:sym typeface="Archivo"/>
            </a:endParaRPr>
          </a:p>
        </p:txBody>
      </p:sp>
      <p:sp>
        <p:nvSpPr>
          <p:cNvPr id="94" name="Google Shape;94;p15"/>
          <p:cNvSpPr/>
          <p:nvPr/>
        </p:nvSpPr>
        <p:spPr>
          <a:xfrm>
            <a:off x="3930950" y="1339400"/>
            <a:ext cx="1244100" cy="1244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p:nvPr/>
        </p:nvSpPr>
        <p:spPr>
          <a:xfrm>
            <a:off x="3726050" y="1134500"/>
            <a:ext cx="1653900" cy="1653900"/>
          </a:xfrm>
          <a:prstGeom prst="ellipse">
            <a:avLst/>
          </a:prstGeom>
          <a:noFill/>
          <a:ln cap="flat" cmpd="sng" w="9525">
            <a:solidFill>
              <a:srgbClr val="999999"/>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6" name="Google Shape;96;p15"/>
          <p:cNvCxnSpPr/>
          <p:nvPr/>
        </p:nvCxnSpPr>
        <p:spPr>
          <a:xfrm rot="10800000">
            <a:off x="2052625" y="1960900"/>
            <a:ext cx="1698000" cy="0"/>
          </a:xfrm>
          <a:prstGeom prst="straightConnector1">
            <a:avLst/>
          </a:prstGeom>
          <a:noFill/>
          <a:ln cap="flat" cmpd="sng" w="9525">
            <a:solidFill>
              <a:srgbClr val="999999"/>
            </a:solidFill>
            <a:prstDash val="lgDash"/>
            <a:round/>
            <a:headEnd len="med" w="med" type="none"/>
            <a:tailEnd len="med" w="med" type="none"/>
          </a:ln>
        </p:spPr>
      </p:cxnSp>
      <p:sp>
        <p:nvSpPr>
          <p:cNvPr id="97" name="Google Shape;97;p15"/>
          <p:cNvSpPr/>
          <p:nvPr/>
        </p:nvSpPr>
        <p:spPr>
          <a:xfrm>
            <a:off x="1846525" y="1857850"/>
            <a:ext cx="206100" cy="206100"/>
          </a:xfrm>
          <a:prstGeom prst="ellipse">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8" name="Google Shape;98;p15"/>
          <p:cNvCxnSpPr/>
          <p:nvPr/>
        </p:nvCxnSpPr>
        <p:spPr>
          <a:xfrm rot="10800000">
            <a:off x="5379950" y="1977900"/>
            <a:ext cx="1698000" cy="0"/>
          </a:xfrm>
          <a:prstGeom prst="straightConnector1">
            <a:avLst/>
          </a:prstGeom>
          <a:noFill/>
          <a:ln cap="flat" cmpd="sng" w="9525">
            <a:solidFill>
              <a:srgbClr val="999999"/>
            </a:solidFill>
            <a:prstDash val="lgDash"/>
            <a:round/>
            <a:headEnd len="med" w="med" type="none"/>
            <a:tailEnd len="med" w="med" type="none"/>
          </a:ln>
        </p:spPr>
      </p:cxnSp>
      <p:sp>
        <p:nvSpPr>
          <p:cNvPr id="99" name="Google Shape;99;p15"/>
          <p:cNvSpPr/>
          <p:nvPr/>
        </p:nvSpPr>
        <p:spPr>
          <a:xfrm>
            <a:off x="7053375" y="1874850"/>
            <a:ext cx="206100" cy="206100"/>
          </a:xfrm>
          <a:prstGeom prst="ellipse">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5"/>
          <p:cNvSpPr/>
          <p:nvPr/>
        </p:nvSpPr>
        <p:spPr>
          <a:xfrm>
            <a:off x="4449950" y="2680950"/>
            <a:ext cx="206100" cy="206100"/>
          </a:xfrm>
          <a:prstGeom prst="ellipse">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Campo de ideas</a:t>
            </a:r>
            <a:r>
              <a:rPr b="1" lang="es" sz="900">
                <a:latin typeface="Archivo"/>
                <a:ea typeface="Archivo"/>
                <a:cs typeface="Archivo"/>
                <a:sym typeface="Archivo"/>
              </a:rPr>
              <a:t> </a:t>
            </a:r>
            <a:endParaRPr b="1" sz="700">
              <a:solidFill>
                <a:srgbClr val="000000"/>
              </a:solidFill>
              <a:latin typeface="Archivo"/>
              <a:ea typeface="Archivo"/>
              <a:cs typeface="Archivo"/>
              <a:sym typeface="Archivo"/>
            </a:endParaRPr>
          </a:p>
        </p:txBody>
      </p:sp>
      <p:sp>
        <p:nvSpPr>
          <p:cNvPr id="106" name="Google Shape;106;p16"/>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07" name="Google Shape;107;p16"/>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08" name="Google Shape;108;p16"/>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09" name="Google Shape;109;p16"/>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110" name="Google Shape;110;p16"/>
          <p:cNvSpPr/>
          <p:nvPr/>
        </p:nvSpPr>
        <p:spPr>
          <a:xfrm>
            <a:off x="-4779462" y="-1682850"/>
            <a:ext cx="8509200" cy="8509200"/>
          </a:xfrm>
          <a:prstGeom prst="ellipse">
            <a:avLst/>
          </a:prstGeom>
          <a:noFill/>
          <a:ln cap="flat" cmpd="sng" w="9525">
            <a:solidFill>
              <a:srgbClr val="999999"/>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6"/>
          <p:cNvSpPr txBox="1"/>
          <p:nvPr/>
        </p:nvSpPr>
        <p:spPr>
          <a:xfrm>
            <a:off x="137600" y="1854725"/>
            <a:ext cx="3213900" cy="9381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Clr>
                <a:schemeClr val="dk1"/>
              </a:buClr>
              <a:buSzPts val="1100"/>
              <a:buFont typeface="Arial"/>
              <a:buNone/>
            </a:pPr>
            <a:r>
              <a:rPr lang="es" sz="1100">
                <a:solidFill>
                  <a:schemeClr val="dk1"/>
                </a:solidFill>
                <a:latin typeface="Archivo Light"/>
                <a:ea typeface="Archivo Light"/>
                <a:cs typeface="Archivo Light"/>
                <a:sym typeface="Archivo Light"/>
              </a:rPr>
              <a:t>¿Cómo podríamos eliminar la barrera de la precisión física para que el material lúdico responda al ritmo y las capacidades motrices individuales de cada niño?</a:t>
            </a:r>
            <a:r>
              <a:rPr lang="es" sz="1100">
                <a:solidFill>
                  <a:schemeClr val="dk1"/>
                </a:solidFill>
                <a:latin typeface="Archivo ExtraLight"/>
                <a:ea typeface="Archivo ExtraLight"/>
                <a:cs typeface="Archivo ExtraLight"/>
                <a:sym typeface="Archivo ExtraLight"/>
              </a:rPr>
              <a:t> </a:t>
            </a:r>
            <a:endParaRPr sz="1000">
              <a:solidFill>
                <a:srgbClr val="000000"/>
              </a:solidFill>
              <a:latin typeface="Archivo Medium"/>
              <a:ea typeface="Archivo Medium"/>
              <a:cs typeface="Archivo Medium"/>
              <a:sym typeface="Archivo Medium"/>
            </a:endParaRPr>
          </a:p>
        </p:txBody>
      </p:sp>
      <p:sp>
        <p:nvSpPr>
          <p:cNvPr id="112" name="Google Shape;112;p16"/>
          <p:cNvSpPr/>
          <p:nvPr/>
        </p:nvSpPr>
        <p:spPr>
          <a:xfrm>
            <a:off x="3612150" y="2212175"/>
            <a:ext cx="223200" cy="223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6"/>
          <p:cNvSpPr txBox="1"/>
          <p:nvPr/>
        </p:nvSpPr>
        <p:spPr>
          <a:xfrm>
            <a:off x="827600" y="3067563"/>
            <a:ext cx="2716800" cy="5910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800">
                <a:solidFill>
                  <a:srgbClr val="999999"/>
                </a:solidFill>
                <a:latin typeface="Archivo ExtraLight"/>
                <a:ea typeface="Archivo ExtraLight"/>
                <a:cs typeface="Archivo ExtraLight"/>
                <a:sym typeface="Archivo ExtraLight"/>
              </a:rPr>
              <a:t>¿Cómo podríamos transformar cualquier intención de movimiento del párvulo en una confirmación de éxito inmediata y perceptible?</a:t>
            </a:r>
            <a:endParaRPr sz="800">
              <a:solidFill>
                <a:srgbClr val="999999"/>
              </a:solidFill>
              <a:latin typeface="Archivo ExtraLight"/>
              <a:ea typeface="Archivo ExtraLight"/>
              <a:cs typeface="Archivo ExtraLight"/>
              <a:sym typeface="Archivo ExtraLight"/>
            </a:endParaRPr>
          </a:p>
        </p:txBody>
      </p:sp>
      <p:sp>
        <p:nvSpPr>
          <p:cNvPr id="114" name="Google Shape;114;p16"/>
          <p:cNvSpPr txBox="1"/>
          <p:nvPr/>
        </p:nvSpPr>
        <p:spPr>
          <a:xfrm>
            <a:off x="520850" y="3823300"/>
            <a:ext cx="2529300" cy="6642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700">
                <a:solidFill>
                  <a:srgbClr val="B7B7B7"/>
                </a:solidFill>
                <a:latin typeface="Archivo ExtraLight"/>
                <a:ea typeface="Archivo ExtraLight"/>
                <a:cs typeface="Archivo ExtraLight"/>
                <a:sym typeface="Archivo ExtraLight"/>
              </a:rPr>
              <a:t>¿Cómo podríamos diseñar una interacción material que incentive la curiosidad y la exploración repetida sin necesidad de mediación adulta constante? </a:t>
            </a:r>
            <a:endParaRPr sz="700">
              <a:solidFill>
                <a:srgbClr val="B7B7B7"/>
              </a:solidFill>
              <a:latin typeface="Archivo ExtraLight"/>
              <a:ea typeface="Archivo ExtraLight"/>
              <a:cs typeface="Archivo ExtraLight"/>
              <a:sym typeface="Archivo ExtraLight"/>
            </a:endParaRPr>
          </a:p>
        </p:txBody>
      </p:sp>
      <p:sp>
        <p:nvSpPr>
          <p:cNvPr id="115" name="Google Shape;115;p16"/>
          <p:cNvSpPr/>
          <p:nvPr/>
        </p:nvSpPr>
        <p:spPr>
          <a:xfrm>
            <a:off x="3612150" y="3232675"/>
            <a:ext cx="117600" cy="1176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6"/>
          <p:cNvSpPr/>
          <p:nvPr/>
        </p:nvSpPr>
        <p:spPr>
          <a:xfrm>
            <a:off x="3351500" y="4096600"/>
            <a:ext cx="117600" cy="1176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6"/>
          <p:cNvSpPr txBox="1"/>
          <p:nvPr/>
        </p:nvSpPr>
        <p:spPr>
          <a:xfrm>
            <a:off x="3401650" y="1484350"/>
            <a:ext cx="5248500" cy="2867700"/>
          </a:xfrm>
          <a:prstGeom prst="rect">
            <a:avLst/>
          </a:prstGeom>
          <a:noFill/>
          <a:ln>
            <a:noFill/>
          </a:ln>
        </p:spPr>
        <p:txBody>
          <a:bodyPr anchorCtr="0" anchor="t" bIns="91425" lIns="91425" spcFirstLastPara="1" rIns="91425" wrap="square" tIns="91425">
            <a:spAutoFit/>
          </a:bodyPr>
          <a:lstStyle/>
          <a:p>
            <a:pPr indent="-298450" lvl="0" marL="914400" rtl="0" algn="l">
              <a:lnSpc>
                <a:spcPct val="115000"/>
              </a:lnSpc>
              <a:spcBef>
                <a:spcPts val="0"/>
              </a:spcBef>
              <a:spcAft>
                <a:spcPts val="0"/>
              </a:spcAft>
              <a:buClr>
                <a:schemeClr val="dk1"/>
              </a:buClr>
              <a:buSzPts val="1100"/>
              <a:buAutoNum type="arabicPeriod"/>
            </a:pPr>
            <a:r>
              <a:rPr lang="es" sz="1100">
                <a:solidFill>
                  <a:schemeClr val="dk1"/>
                </a:solidFill>
                <a:latin typeface="Archivo SemiBold"/>
                <a:ea typeface="Archivo SemiBold"/>
                <a:cs typeface="Archivo SemiBold"/>
                <a:sym typeface="Archivo SemiBold"/>
              </a:rPr>
              <a:t>Módulos de Activación por proximidad:</a:t>
            </a:r>
            <a:r>
              <a:rPr lang="es" sz="1100">
                <a:solidFill>
                  <a:schemeClr val="dk1"/>
                </a:solidFill>
                <a:latin typeface="Archivo ExtraLight"/>
                <a:ea typeface="Archivo ExtraLight"/>
                <a:cs typeface="Archivo ExtraLight"/>
                <a:sym typeface="Archivo ExtraLight"/>
              </a:rPr>
              <a:t> Sensores que detectan la presencia del niño y la acción en un campo más amplio, activando una respuesta sensorial antes del contacto para validar el gesto sin exigir precisión.</a:t>
            </a:r>
            <a:endParaRPr sz="1100">
              <a:solidFill>
                <a:schemeClr val="dk1"/>
              </a:solidFill>
              <a:latin typeface="Archivo ExtraLight"/>
              <a:ea typeface="Archivo ExtraLight"/>
              <a:cs typeface="Archivo ExtraLight"/>
              <a:sym typeface="Archivo ExtraLight"/>
            </a:endParaRPr>
          </a:p>
          <a:p>
            <a:pPr indent="-298450" lvl="0" marL="914400" rtl="0" algn="l">
              <a:lnSpc>
                <a:spcPct val="115000"/>
              </a:lnSpc>
              <a:spcBef>
                <a:spcPts val="0"/>
              </a:spcBef>
              <a:spcAft>
                <a:spcPts val="0"/>
              </a:spcAft>
              <a:buClr>
                <a:schemeClr val="dk1"/>
              </a:buClr>
              <a:buSzPts val="1100"/>
              <a:buAutoNum type="arabicPeriod"/>
            </a:pPr>
            <a:r>
              <a:rPr lang="es" sz="1100">
                <a:solidFill>
                  <a:schemeClr val="dk1"/>
                </a:solidFill>
                <a:latin typeface="Archivo SemiBold"/>
                <a:ea typeface="Archivo SemiBold"/>
                <a:cs typeface="Archivo SemiBold"/>
                <a:sym typeface="Archivo SemiBold"/>
              </a:rPr>
              <a:t>Interfaces de atracción magnética:</a:t>
            </a:r>
            <a:r>
              <a:rPr lang="es" sz="1100">
                <a:solidFill>
                  <a:schemeClr val="dk1"/>
                </a:solidFill>
                <a:latin typeface="Archivo ExtraLight"/>
                <a:ea typeface="Archivo ExtraLight"/>
                <a:cs typeface="Archivo ExtraLight"/>
                <a:sym typeface="Archivo ExtraLight"/>
              </a:rPr>
              <a:t> Sistemas de imanes internos que atrae piezas cuando el niño las acerca de forma aproximada, corrigiendo el movimiento involuntario para lograr un acople exitoso.</a:t>
            </a:r>
            <a:endParaRPr sz="1100">
              <a:solidFill>
                <a:schemeClr val="dk1"/>
              </a:solidFill>
              <a:latin typeface="Archivo ExtraLight"/>
              <a:ea typeface="Archivo ExtraLight"/>
              <a:cs typeface="Archivo ExtraLight"/>
              <a:sym typeface="Archivo ExtraLight"/>
            </a:endParaRPr>
          </a:p>
          <a:p>
            <a:pPr indent="-298450" lvl="0" marL="914400" rtl="0" algn="l">
              <a:lnSpc>
                <a:spcPct val="115000"/>
              </a:lnSpc>
              <a:spcBef>
                <a:spcPts val="0"/>
              </a:spcBef>
              <a:spcAft>
                <a:spcPts val="0"/>
              </a:spcAft>
              <a:buClr>
                <a:schemeClr val="dk1"/>
              </a:buClr>
              <a:buSzPts val="1100"/>
              <a:buAutoNum type="arabicPeriod"/>
            </a:pPr>
            <a:r>
              <a:rPr lang="es" sz="1100">
                <a:solidFill>
                  <a:schemeClr val="dk1"/>
                </a:solidFill>
                <a:latin typeface="Archivo SemiBold"/>
                <a:ea typeface="Archivo SemiBold"/>
                <a:cs typeface="Archivo SemiBold"/>
                <a:sym typeface="Archivo SemiBold"/>
              </a:rPr>
              <a:t>Superficies sensibles de contacto total: </a:t>
            </a:r>
            <a:r>
              <a:rPr lang="es" sz="1100">
                <a:solidFill>
                  <a:schemeClr val="dk1"/>
                </a:solidFill>
                <a:latin typeface="Archivo ExtraLight"/>
                <a:ea typeface="Archivo ExtraLight"/>
                <a:cs typeface="Archivo ExtraLight"/>
                <a:sym typeface="Archivo ExtraLight"/>
              </a:rPr>
              <a:t>Uso de materiales que transforman toda la carcasa del objeto en un gran interruptor reactivo o táctil, permitiendo la activación con cualquier roce o apoyo del cuerpo.</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0"/>
              </a:spcBef>
              <a:spcAft>
                <a:spcPts val="0"/>
              </a:spcAft>
              <a:buNone/>
            </a:pPr>
            <a:r>
              <a:t/>
            </a:r>
            <a:endParaRPr sz="11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0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100">
              <a:solidFill>
                <a:srgbClr val="000000"/>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Campo de ideas </a:t>
            </a:r>
            <a:endParaRPr b="1" sz="700">
              <a:solidFill>
                <a:srgbClr val="000000"/>
              </a:solidFill>
              <a:latin typeface="Archivo"/>
              <a:ea typeface="Archivo"/>
              <a:cs typeface="Archivo"/>
              <a:sym typeface="Archivo"/>
            </a:endParaRPr>
          </a:p>
        </p:txBody>
      </p:sp>
      <p:sp>
        <p:nvSpPr>
          <p:cNvPr id="123" name="Google Shape;123;p17"/>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24" name="Google Shape;124;p17"/>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25" name="Google Shape;125;p17"/>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26" name="Google Shape;126;p17"/>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127" name="Google Shape;127;p17"/>
          <p:cNvSpPr/>
          <p:nvPr/>
        </p:nvSpPr>
        <p:spPr>
          <a:xfrm>
            <a:off x="-4779462" y="-1682850"/>
            <a:ext cx="8509200" cy="8509200"/>
          </a:xfrm>
          <a:prstGeom prst="ellipse">
            <a:avLst/>
          </a:prstGeom>
          <a:noFill/>
          <a:ln cap="flat" cmpd="sng" w="9525">
            <a:solidFill>
              <a:srgbClr val="999999"/>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7"/>
          <p:cNvSpPr txBox="1"/>
          <p:nvPr/>
        </p:nvSpPr>
        <p:spPr>
          <a:xfrm>
            <a:off x="73350" y="2246575"/>
            <a:ext cx="32139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a:ea typeface="Archivo"/>
                <a:cs typeface="Archivo"/>
                <a:sym typeface="Archivo"/>
              </a:rPr>
              <a:t>¿Cómo podríamos transformar cualquier intención de movimiento del párvulo en una confirmación de éxito inmediata y perceptible?</a:t>
            </a:r>
            <a:endParaRPr sz="1100">
              <a:solidFill>
                <a:schemeClr val="dk1"/>
              </a:solidFill>
              <a:latin typeface="Archivo"/>
              <a:ea typeface="Archivo"/>
              <a:cs typeface="Archivo"/>
              <a:sym typeface="Archivo"/>
            </a:endParaRPr>
          </a:p>
          <a:p>
            <a:pPr indent="0" lvl="0" marL="457200" rtl="0" algn="ctr">
              <a:lnSpc>
                <a:spcPct val="115000"/>
              </a:lnSpc>
              <a:spcBef>
                <a:spcPts val="0"/>
              </a:spcBef>
              <a:spcAft>
                <a:spcPts val="0"/>
              </a:spcAft>
              <a:buNone/>
            </a:pPr>
            <a:r>
              <a:t/>
            </a:r>
            <a:endParaRPr sz="1100">
              <a:solidFill>
                <a:schemeClr val="dk1"/>
              </a:solidFill>
              <a:latin typeface="Archivo Light"/>
              <a:ea typeface="Archivo Light"/>
              <a:cs typeface="Archivo Light"/>
              <a:sym typeface="Archivo Light"/>
            </a:endParaRPr>
          </a:p>
        </p:txBody>
      </p:sp>
      <p:sp>
        <p:nvSpPr>
          <p:cNvPr id="129" name="Google Shape;129;p17"/>
          <p:cNvSpPr/>
          <p:nvPr/>
        </p:nvSpPr>
        <p:spPr>
          <a:xfrm>
            <a:off x="3612150" y="2460150"/>
            <a:ext cx="223200" cy="223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7"/>
          <p:cNvSpPr txBox="1"/>
          <p:nvPr/>
        </p:nvSpPr>
        <p:spPr>
          <a:xfrm>
            <a:off x="601025" y="3379375"/>
            <a:ext cx="2529300" cy="6642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700">
                <a:solidFill>
                  <a:srgbClr val="B7B7B7"/>
                </a:solidFill>
                <a:latin typeface="Archivo ExtraLight"/>
                <a:ea typeface="Archivo ExtraLight"/>
                <a:cs typeface="Archivo ExtraLight"/>
                <a:sym typeface="Archivo ExtraLight"/>
              </a:rPr>
              <a:t>¿Cómo podríamos diseñar una interacción material que incentive la curiosidad y la exploración repetida sin necesidad de mediación adulta constante? </a:t>
            </a:r>
            <a:endParaRPr sz="700">
              <a:solidFill>
                <a:srgbClr val="B7B7B7"/>
              </a:solidFill>
              <a:latin typeface="Archivo ExtraLight"/>
              <a:ea typeface="Archivo ExtraLight"/>
              <a:cs typeface="Archivo ExtraLight"/>
              <a:sym typeface="Archivo ExtraLight"/>
            </a:endParaRPr>
          </a:p>
        </p:txBody>
      </p:sp>
      <p:sp>
        <p:nvSpPr>
          <p:cNvPr id="131" name="Google Shape;131;p17"/>
          <p:cNvSpPr/>
          <p:nvPr/>
        </p:nvSpPr>
        <p:spPr>
          <a:xfrm>
            <a:off x="3494550" y="3652675"/>
            <a:ext cx="117600" cy="1176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txBox="1"/>
          <p:nvPr/>
        </p:nvSpPr>
        <p:spPr>
          <a:xfrm>
            <a:off x="3494550" y="1571775"/>
            <a:ext cx="5235900" cy="2673000"/>
          </a:xfrm>
          <a:prstGeom prst="rect">
            <a:avLst/>
          </a:prstGeom>
          <a:noFill/>
          <a:ln>
            <a:noFill/>
          </a:ln>
        </p:spPr>
        <p:txBody>
          <a:bodyPr anchorCtr="0" anchor="t" bIns="91425" lIns="91425" spcFirstLastPara="1" rIns="91425" wrap="square" tIns="91425">
            <a:spAutoFit/>
          </a:bodyPr>
          <a:lstStyle/>
          <a:p>
            <a:pPr indent="-298450" lvl="0" marL="914400" rtl="0" algn="l">
              <a:lnSpc>
                <a:spcPct val="115000"/>
              </a:lnSpc>
              <a:spcBef>
                <a:spcPts val="0"/>
              </a:spcBef>
              <a:spcAft>
                <a:spcPts val="0"/>
              </a:spcAft>
              <a:buClr>
                <a:schemeClr val="dk1"/>
              </a:buClr>
              <a:buSzPts val="1100"/>
              <a:buFont typeface="Archivo ExtraLight"/>
              <a:buAutoNum type="arabicPeriod"/>
            </a:pPr>
            <a:r>
              <a:rPr lang="es" sz="1100">
                <a:solidFill>
                  <a:schemeClr val="dk1"/>
                </a:solidFill>
                <a:latin typeface="Archivo SemiBold"/>
                <a:ea typeface="Archivo SemiBold"/>
                <a:cs typeface="Archivo SemiBold"/>
                <a:sym typeface="Archivo SemiBold"/>
              </a:rPr>
              <a:t>Módulos de proximidad cromática: </a:t>
            </a:r>
            <a:r>
              <a:rPr lang="es" sz="1100">
                <a:solidFill>
                  <a:schemeClr val="dk1"/>
                </a:solidFill>
                <a:latin typeface="Archivo ExtraLight"/>
                <a:ea typeface="Archivo ExtraLight"/>
                <a:cs typeface="Archivo ExtraLight"/>
                <a:sym typeface="Archivo ExtraLight"/>
              </a:rPr>
              <a:t>Bloques que cambian de color gradualmente a medida que la mano del niño se acerca, confirmando el éxito antes del contacto.</a:t>
            </a:r>
            <a:endParaRPr sz="1100">
              <a:solidFill>
                <a:schemeClr val="dk1"/>
              </a:solidFill>
              <a:latin typeface="Archivo ExtraLight"/>
              <a:ea typeface="Archivo ExtraLight"/>
              <a:cs typeface="Archivo ExtraLight"/>
              <a:sym typeface="Archivo ExtraLight"/>
            </a:endParaRPr>
          </a:p>
          <a:p>
            <a:pPr indent="-298450" lvl="0" marL="914400" rtl="0" algn="l">
              <a:lnSpc>
                <a:spcPct val="115000"/>
              </a:lnSpc>
              <a:spcBef>
                <a:spcPts val="0"/>
              </a:spcBef>
              <a:spcAft>
                <a:spcPts val="0"/>
              </a:spcAft>
              <a:buClr>
                <a:schemeClr val="dk1"/>
              </a:buClr>
              <a:buSzPts val="1100"/>
              <a:buFont typeface="Archivo ExtraLight"/>
              <a:buAutoNum type="arabicPeriod"/>
            </a:pPr>
            <a:r>
              <a:rPr lang="es" sz="1100">
                <a:solidFill>
                  <a:schemeClr val="dk1"/>
                </a:solidFill>
                <a:latin typeface="Archivo SemiBold"/>
                <a:ea typeface="Archivo SemiBold"/>
                <a:cs typeface="Archivo SemiBold"/>
                <a:sym typeface="Archivo SemiBold"/>
              </a:rPr>
              <a:t>Superficies de respuesta Háptica: </a:t>
            </a:r>
            <a:r>
              <a:rPr lang="es" sz="1100">
                <a:solidFill>
                  <a:schemeClr val="dk1"/>
                </a:solidFill>
                <a:latin typeface="Archivo ExtraLight"/>
                <a:ea typeface="Archivo ExtraLight"/>
                <a:cs typeface="Archivo ExtraLight"/>
                <a:sym typeface="Archivo ExtraLight"/>
              </a:rPr>
              <a:t>Paneles del objeto que </a:t>
            </a:r>
            <a:r>
              <a:rPr lang="es" sz="1100">
                <a:solidFill>
                  <a:schemeClr val="dk1"/>
                </a:solidFill>
                <a:latin typeface="Archivo ExtraLight"/>
                <a:ea typeface="Archivo ExtraLight"/>
                <a:cs typeface="Archivo ExtraLight"/>
                <a:sym typeface="Archivo ExtraLight"/>
              </a:rPr>
              <a:t>emiten</a:t>
            </a:r>
            <a:r>
              <a:rPr lang="es" sz="1100">
                <a:solidFill>
                  <a:schemeClr val="dk1"/>
                </a:solidFill>
                <a:latin typeface="Archivo ExtraLight"/>
                <a:ea typeface="Archivo ExtraLight"/>
                <a:cs typeface="Archivo ExtraLight"/>
                <a:sym typeface="Archivo ExtraLight"/>
              </a:rPr>
              <a:t> una vibración suave en toda su superficie al detectar presencia, validando el gesto sin requerir presión en un punto exacto.</a:t>
            </a:r>
            <a:endParaRPr sz="1100">
              <a:solidFill>
                <a:schemeClr val="dk1"/>
              </a:solidFill>
              <a:latin typeface="Archivo ExtraLight"/>
              <a:ea typeface="Archivo ExtraLight"/>
              <a:cs typeface="Archivo ExtraLight"/>
              <a:sym typeface="Archivo ExtraLight"/>
            </a:endParaRPr>
          </a:p>
          <a:p>
            <a:pPr indent="-298450" lvl="0" marL="914400" rtl="0" algn="l">
              <a:lnSpc>
                <a:spcPct val="115000"/>
              </a:lnSpc>
              <a:spcBef>
                <a:spcPts val="0"/>
              </a:spcBef>
              <a:spcAft>
                <a:spcPts val="0"/>
              </a:spcAft>
              <a:buClr>
                <a:schemeClr val="dk1"/>
              </a:buClr>
              <a:buSzPts val="1100"/>
              <a:buFont typeface="Archivo ExtraLight"/>
              <a:buAutoNum type="arabicPeriod"/>
            </a:pPr>
            <a:r>
              <a:rPr lang="es" sz="1100">
                <a:solidFill>
                  <a:schemeClr val="dk1"/>
                </a:solidFill>
                <a:latin typeface="Archivo SemiBold"/>
                <a:ea typeface="Archivo SemiBold"/>
                <a:cs typeface="Archivo SemiBold"/>
                <a:sym typeface="Archivo SemiBold"/>
              </a:rPr>
              <a:t>Módulos con </a:t>
            </a:r>
            <a:r>
              <a:rPr lang="es" sz="1100">
                <a:solidFill>
                  <a:schemeClr val="dk1"/>
                </a:solidFill>
                <a:latin typeface="Archivo SemiBold"/>
                <a:ea typeface="Archivo SemiBold"/>
                <a:cs typeface="Archivo SemiBold"/>
                <a:sym typeface="Archivo SemiBold"/>
              </a:rPr>
              <a:t>morfología</a:t>
            </a:r>
            <a:r>
              <a:rPr lang="es" sz="1100">
                <a:solidFill>
                  <a:schemeClr val="dk1"/>
                </a:solidFill>
                <a:latin typeface="Archivo SemiBold"/>
                <a:ea typeface="Archivo SemiBold"/>
                <a:cs typeface="Archivo SemiBold"/>
                <a:sym typeface="Archivo SemiBold"/>
              </a:rPr>
              <a:t> adaptativa por m</a:t>
            </a:r>
            <a:r>
              <a:rPr lang="es" sz="1100">
                <a:solidFill>
                  <a:schemeClr val="dk1"/>
                </a:solidFill>
                <a:latin typeface="Archivo SemiBold"/>
                <a:ea typeface="Archivo SemiBold"/>
                <a:cs typeface="Archivo SemiBold"/>
                <a:sym typeface="Archivo SemiBold"/>
              </a:rPr>
              <a:t>emoria </a:t>
            </a:r>
            <a:r>
              <a:rPr lang="es" sz="1100">
                <a:solidFill>
                  <a:schemeClr val="dk1"/>
                </a:solidFill>
                <a:latin typeface="Archivo SemiBold"/>
                <a:ea typeface="Archivo SemiBold"/>
                <a:cs typeface="Archivo SemiBold"/>
                <a:sym typeface="Archivo SemiBold"/>
              </a:rPr>
              <a:t>de forma: </a:t>
            </a:r>
            <a:r>
              <a:rPr lang="es" sz="1100">
                <a:solidFill>
                  <a:schemeClr val="dk1"/>
                </a:solidFill>
                <a:latin typeface="Archivo ExtraLight"/>
                <a:ea typeface="Archivo ExtraLight"/>
                <a:cs typeface="Archivo ExtraLight"/>
                <a:sym typeface="Archivo ExtraLight"/>
              </a:rPr>
              <a:t>Estructuras que modifican su relieve y textura superficial al detectar la proximidad del párvulo, deformandose hacía el gesto para facilitar el hito de movimiento.</a:t>
            </a:r>
            <a:r>
              <a:rPr lang="es" sz="1100">
                <a:solidFill>
                  <a:schemeClr val="dk1"/>
                </a:solidFill>
              </a:rPr>
              <a:t> </a:t>
            </a:r>
            <a:endParaRPr sz="1100">
              <a:solidFill>
                <a:schemeClr val="dk1"/>
              </a:solidFill>
              <a:latin typeface="Archivo SemiBold"/>
              <a:ea typeface="Archivo SemiBold"/>
              <a:cs typeface="Archivo SemiBold"/>
              <a:sym typeface="Archivo SemiBold"/>
            </a:endParaRPr>
          </a:p>
          <a:p>
            <a:pPr indent="0" lvl="0" marL="0" rtl="0" algn="l">
              <a:lnSpc>
                <a:spcPct val="115000"/>
              </a:lnSpc>
              <a:spcBef>
                <a:spcPts val="0"/>
              </a:spcBef>
              <a:spcAft>
                <a:spcPts val="0"/>
              </a:spcAft>
              <a:buNone/>
            </a:pPr>
            <a:r>
              <a:t/>
            </a:r>
            <a:endParaRPr sz="11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0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100">
              <a:solidFill>
                <a:srgbClr val="000000"/>
              </a:solidFill>
              <a:latin typeface="Archivo"/>
              <a:ea typeface="Archivo"/>
              <a:cs typeface="Archivo"/>
              <a:sym typeface="Archivo"/>
            </a:endParaRPr>
          </a:p>
        </p:txBody>
      </p:sp>
      <p:sp>
        <p:nvSpPr>
          <p:cNvPr id="133" name="Google Shape;133;p17"/>
          <p:cNvSpPr txBox="1"/>
          <p:nvPr/>
        </p:nvSpPr>
        <p:spPr>
          <a:xfrm>
            <a:off x="258600" y="1346200"/>
            <a:ext cx="2843400" cy="778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800">
                <a:solidFill>
                  <a:srgbClr val="999999"/>
                </a:solidFill>
                <a:latin typeface="Archivo Light"/>
                <a:ea typeface="Archivo Light"/>
                <a:cs typeface="Archivo Light"/>
                <a:sym typeface="Archivo Light"/>
              </a:rPr>
              <a:t>¿Cómo podríamos eliminar la barrera de la precisión física para que el material lúdico responda al ritmo y las capacidades motrices individuales de cada niño?</a:t>
            </a:r>
            <a:r>
              <a:rPr lang="es" sz="1100">
                <a:solidFill>
                  <a:srgbClr val="999999"/>
                </a:solidFill>
                <a:latin typeface="Archivo ExtraLight"/>
                <a:ea typeface="Archivo ExtraLight"/>
                <a:cs typeface="Archivo ExtraLight"/>
                <a:sym typeface="Archivo ExtraLight"/>
              </a:rPr>
              <a:t> </a:t>
            </a:r>
            <a:endParaRPr sz="1000">
              <a:solidFill>
                <a:srgbClr val="999999"/>
              </a:solidFill>
              <a:latin typeface="Archivo Medium"/>
              <a:ea typeface="Archivo Medium"/>
              <a:cs typeface="Archivo Medium"/>
              <a:sym typeface="Archivo Medium"/>
            </a:endParaRPr>
          </a:p>
        </p:txBody>
      </p:sp>
      <p:sp>
        <p:nvSpPr>
          <p:cNvPr id="134" name="Google Shape;134;p17"/>
          <p:cNvSpPr/>
          <p:nvPr/>
        </p:nvSpPr>
        <p:spPr>
          <a:xfrm>
            <a:off x="3554575" y="1571775"/>
            <a:ext cx="117600" cy="1176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Campo de ideas </a:t>
            </a:r>
            <a:endParaRPr b="1" sz="700">
              <a:solidFill>
                <a:srgbClr val="000000"/>
              </a:solidFill>
              <a:latin typeface="Archivo"/>
              <a:ea typeface="Archivo"/>
              <a:cs typeface="Archivo"/>
              <a:sym typeface="Archivo"/>
            </a:endParaRPr>
          </a:p>
        </p:txBody>
      </p:sp>
      <p:sp>
        <p:nvSpPr>
          <p:cNvPr id="140" name="Google Shape;140;p18"/>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41" name="Google Shape;141;p18"/>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42" name="Google Shape;142;p18"/>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43" name="Google Shape;143;p18"/>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144" name="Google Shape;144;p18"/>
          <p:cNvSpPr/>
          <p:nvPr/>
        </p:nvSpPr>
        <p:spPr>
          <a:xfrm>
            <a:off x="-4779462" y="-1682850"/>
            <a:ext cx="8509200" cy="8509200"/>
          </a:xfrm>
          <a:prstGeom prst="ellipse">
            <a:avLst/>
          </a:prstGeom>
          <a:noFill/>
          <a:ln cap="flat" cmpd="sng" w="9525">
            <a:solidFill>
              <a:srgbClr val="999999"/>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8"/>
          <p:cNvSpPr txBox="1"/>
          <p:nvPr/>
        </p:nvSpPr>
        <p:spPr>
          <a:xfrm>
            <a:off x="343975" y="1681350"/>
            <a:ext cx="2904300" cy="778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800">
                <a:solidFill>
                  <a:srgbClr val="999999"/>
                </a:solidFill>
                <a:latin typeface="Archivo"/>
                <a:ea typeface="Archivo"/>
                <a:cs typeface="Archivo"/>
                <a:sym typeface="Archivo"/>
              </a:rPr>
              <a:t>¿Cómo podríamos transformar cualquier intención de movimiento del párvulo en una confirmación de éxito inmediata y perceptible?</a:t>
            </a:r>
            <a:endParaRPr sz="800">
              <a:solidFill>
                <a:srgbClr val="999999"/>
              </a:solidFill>
              <a:latin typeface="Archivo"/>
              <a:ea typeface="Archivo"/>
              <a:cs typeface="Archivo"/>
              <a:sym typeface="Archivo"/>
            </a:endParaRPr>
          </a:p>
          <a:p>
            <a:pPr indent="0" lvl="0" marL="457200" rtl="0" algn="ctr">
              <a:lnSpc>
                <a:spcPct val="115000"/>
              </a:lnSpc>
              <a:spcBef>
                <a:spcPts val="0"/>
              </a:spcBef>
              <a:spcAft>
                <a:spcPts val="0"/>
              </a:spcAft>
              <a:buNone/>
            </a:pPr>
            <a:r>
              <a:t/>
            </a:r>
            <a:endParaRPr sz="1100">
              <a:solidFill>
                <a:schemeClr val="dk1"/>
              </a:solidFill>
              <a:latin typeface="Archivo Light"/>
              <a:ea typeface="Archivo Light"/>
              <a:cs typeface="Archivo Light"/>
              <a:sym typeface="Archivo Light"/>
            </a:endParaRPr>
          </a:p>
        </p:txBody>
      </p:sp>
      <p:sp>
        <p:nvSpPr>
          <p:cNvPr id="146" name="Google Shape;146;p18"/>
          <p:cNvSpPr/>
          <p:nvPr/>
        </p:nvSpPr>
        <p:spPr>
          <a:xfrm>
            <a:off x="3612150" y="2632750"/>
            <a:ext cx="223200" cy="223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8"/>
          <p:cNvSpPr txBox="1"/>
          <p:nvPr/>
        </p:nvSpPr>
        <p:spPr>
          <a:xfrm>
            <a:off x="217225" y="2341875"/>
            <a:ext cx="30570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a:ea typeface="Archivo"/>
                <a:cs typeface="Archivo"/>
                <a:sym typeface="Archivo"/>
              </a:rPr>
              <a:t>¿Cómo podríamos diseñar una interacción material que incentive la curiosidad y la exploración repetida sin necesidad de mediación adulta constante? </a:t>
            </a:r>
            <a:endParaRPr sz="1100">
              <a:solidFill>
                <a:schemeClr val="dk1"/>
              </a:solidFill>
              <a:latin typeface="Archivo"/>
              <a:ea typeface="Archivo"/>
              <a:cs typeface="Archivo"/>
              <a:sym typeface="Archivo"/>
            </a:endParaRPr>
          </a:p>
        </p:txBody>
      </p:sp>
      <p:sp>
        <p:nvSpPr>
          <p:cNvPr id="148" name="Google Shape;148;p18"/>
          <p:cNvSpPr/>
          <p:nvPr/>
        </p:nvSpPr>
        <p:spPr>
          <a:xfrm>
            <a:off x="3624935" y="1907500"/>
            <a:ext cx="117600" cy="1176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8"/>
          <p:cNvSpPr txBox="1"/>
          <p:nvPr/>
        </p:nvSpPr>
        <p:spPr>
          <a:xfrm>
            <a:off x="4173275" y="1681350"/>
            <a:ext cx="4568700" cy="267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100">
                <a:solidFill>
                  <a:schemeClr val="dk1"/>
                </a:solidFill>
                <a:latin typeface="Archivo SemiBold"/>
                <a:ea typeface="Archivo SemiBold"/>
                <a:cs typeface="Archivo SemiBold"/>
                <a:sym typeface="Archivo SemiBold"/>
              </a:rPr>
              <a:t>Sistema sensorial </a:t>
            </a:r>
            <a:r>
              <a:rPr lang="es" sz="1100">
                <a:solidFill>
                  <a:schemeClr val="dk1"/>
                </a:solidFill>
                <a:latin typeface="Archivo SemiBold"/>
                <a:ea typeface="Archivo SemiBold"/>
                <a:cs typeface="Archivo SemiBold"/>
                <a:sym typeface="Archivo SemiBold"/>
              </a:rPr>
              <a:t>háptico</a:t>
            </a:r>
            <a:r>
              <a:rPr lang="es" sz="1100">
                <a:solidFill>
                  <a:schemeClr val="dk1"/>
                </a:solidFill>
                <a:latin typeface="Archivo SemiBold"/>
                <a:ea typeface="Archivo SemiBold"/>
                <a:cs typeface="Archivo SemiBold"/>
                <a:sym typeface="Archivo SemiBold"/>
              </a:rPr>
              <a:t> secuencial:</a:t>
            </a:r>
            <a:r>
              <a:rPr lang="es" sz="1100">
                <a:solidFill>
                  <a:schemeClr val="dk1"/>
                </a:solidFill>
                <a:latin typeface="Archivo ExtraLight"/>
                <a:ea typeface="Archivo ExtraLight"/>
                <a:cs typeface="Archivo ExtraLight"/>
                <a:sym typeface="Archivo ExtraLight"/>
              </a:rPr>
              <a:t> Módulos que se iluminan en cadena para guiar el movimiento del niño, proponiendo un camino o secuencia que él puede seguir a su propio ritmo.</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0"/>
              </a:spcBef>
              <a:spcAft>
                <a:spcPts val="0"/>
              </a:spcAft>
              <a:buClr>
                <a:schemeClr val="dk1"/>
              </a:buClr>
              <a:buSzPts val="1100"/>
              <a:buFont typeface="Arial"/>
              <a:buNone/>
            </a:pPr>
            <a:r>
              <a:rPr lang="es" sz="1100">
                <a:solidFill>
                  <a:schemeClr val="dk1"/>
                </a:solidFill>
                <a:latin typeface="Archivo SemiBold"/>
                <a:ea typeface="Archivo SemiBold"/>
                <a:cs typeface="Archivo SemiBold"/>
                <a:sym typeface="Archivo SemiBold"/>
              </a:rPr>
              <a:t>Bloques acople universal:</a:t>
            </a:r>
            <a:r>
              <a:rPr lang="es" sz="1100">
                <a:solidFill>
                  <a:schemeClr val="dk1"/>
                </a:solidFill>
                <a:latin typeface="Archivo ExtraLight"/>
                <a:ea typeface="Archivo ExtraLight"/>
                <a:cs typeface="Archivo ExtraLight"/>
                <a:sym typeface="Archivo ExtraLight"/>
              </a:rPr>
              <a:t> Piezas que se conectan entre sí mediante tecnología de proximidad, permitiendo crear estructuras con solo acercar un bloque a otro.</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0"/>
              </a:spcBef>
              <a:spcAft>
                <a:spcPts val="0"/>
              </a:spcAft>
              <a:buClr>
                <a:schemeClr val="dk1"/>
              </a:buClr>
              <a:buSzPts val="1100"/>
              <a:buFont typeface="Arial"/>
              <a:buNone/>
            </a:pPr>
            <a:r>
              <a:rPr lang="es" sz="1100">
                <a:solidFill>
                  <a:schemeClr val="dk1"/>
                </a:solidFill>
                <a:latin typeface="Archivo SemiBold"/>
                <a:ea typeface="Archivo SemiBold"/>
                <a:cs typeface="Archivo SemiBold"/>
                <a:sym typeface="Archivo SemiBold"/>
              </a:rPr>
              <a:t>Mediador tipo "Espejo":</a:t>
            </a:r>
            <a:r>
              <a:rPr lang="es" sz="1100">
                <a:solidFill>
                  <a:schemeClr val="dk1"/>
                </a:solidFill>
                <a:latin typeface="Archivo ExtraLight"/>
                <a:ea typeface="Archivo ExtraLight"/>
                <a:cs typeface="Archivo ExtraLight"/>
                <a:sym typeface="Archivo ExtraLight"/>
              </a:rPr>
              <a:t> Un objeto que imita el patrón de movimiento del niño; si el niño mueve el brazo lentamente, el objeto brilla con esa misma intensidad, validando su identidad motriz a través de la imitación técnica.</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0"/>
              </a:spcBef>
              <a:spcAft>
                <a:spcPts val="0"/>
              </a:spcAft>
              <a:buNone/>
            </a:pPr>
            <a:r>
              <a:t/>
            </a:r>
            <a:endParaRPr sz="1100">
              <a:solidFill>
                <a:schemeClr val="dk1"/>
              </a:solidFill>
              <a:latin typeface="Archivo SemiBold"/>
              <a:ea typeface="Archivo SemiBold"/>
              <a:cs typeface="Archivo SemiBold"/>
              <a:sym typeface="Archivo SemiBold"/>
            </a:endParaRPr>
          </a:p>
          <a:p>
            <a:pPr indent="0" lvl="0" marL="457200" rtl="0" algn="l">
              <a:lnSpc>
                <a:spcPct val="115000"/>
              </a:lnSpc>
              <a:spcBef>
                <a:spcPts val="0"/>
              </a:spcBef>
              <a:spcAft>
                <a:spcPts val="0"/>
              </a:spcAft>
              <a:buNone/>
            </a:pPr>
            <a:r>
              <a:t/>
            </a:r>
            <a:endParaRPr sz="1000">
              <a:solidFill>
                <a:schemeClr val="dk1"/>
              </a:solidFill>
              <a:latin typeface="Archivo ExtraLight"/>
              <a:ea typeface="Archivo ExtraLight"/>
              <a:cs typeface="Archivo ExtraLight"/>
              <a:sym typeface="Archivo ExtraLight"/>
            </a:endParaRPr>
          </a:p>
          <a:p>
            <a:pPr indent="0" lvl="0" marL="457200" rtl="0" algn="l">
              <a:lnSpc>
                <a:spcPct val="115000"/>
              </a:lnSpc>
              <a:spcBef>
                <a:spcPts val="0"/>
              </a:spcBef>
              <a:spcAft>
                <a:spcPts val="0"/>
              </a:spcAft>
              <a:buNone/>
            </a:pPr>
            <a:r>
              <a:t/>
            </a:r>
            <a:endParaRPr sz="1100">
              <a:solidFill>
                <a:srgbClr val="000000"/>
              </a:solidFill>
              <a:latin typeface="Archivo"/>
              <a:ea typeface="Archivo"/>
              <a:cs typeface="Archivo"/>
              <a:sym typeface="Archivo"/>
            </a:endParaRPr>
          </a:p>
        </p:txBody>
      </p:sp>
      <p:sp>
        <p:nvSpPr>
          <p:cNvPr id="150" name="Google Shape;150;p18"/>
          <p:cNvSpPr txBox="1"/>
          <p:nvPr/>
        </p:nvSpPr>
        <p:spPr>
          <a:xfrm>
            <a:off x="217225" y="738925"/>
            <a:ext cx="2843400" cy="778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800">
                <a:solidFill>
                  <a:srgbClr val="999999"/>
                </a:solidFill>
                <a:latin typeface="Archivo Light"/>
                <a:ea typeface="Archivo Light"/>
                <a:cs typeface="Archivo Light"/>
                <a:sym typeface="Archivo Light"/>
              </a:rPr>
              <a:t>¿Cómo podríamos eliminar la barrera de la precisión física para que el material lúdico responda al ritmo y las capacidades motrices individuales de cada niño?</a:t>
            </a:r>
            <a:r>
              <a:rPr lang="es" sz="1100">
                <a:solidFill>
                  <a:srgbClr val="999999"/>
                </a:solidFill>
                <a:latin typeface="Archivo ExtraLight"/>
                <a:ea typeface="Archivo ExtraLight"/>
                <a:cs typeface="Archivo ExtraLight"/>
                <a:sym typeface="Archivo ExtraLight"/>
              </a:rPr>
              <a:t> </a:t>
            </a:r>
            <a:endParaRPr sz="1000">
              <a:solidFill>
                <a:srgbClr val="999999"/>
              </a:solidFill>
              <a:latin typeface="Archivo Medium"/>
              <a:ea typeface="Archivo Medium"/>
              <a:cs typeface="Archivo Medium"/>
              <a:sym typeface="Archivo Medium"/>
            </a:endParaRPr>
          </a:p>
        </p:txBody>
      </p:sp>
      <p:sp>
        <p:nvSpPr>
          <p:cNvPr id="151" name="Google Shape;151;p18"/>
          <p:cNvSpPr/>
          <p:nvPr/>
        </p:nvSpPr>
        <p:spPr>
          <a:xfrm>
            <a:off x="3388375" y="1015625"/>
            <a:ext cx="117600" cy="1176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F"/>
        </a:solidFill>
      </p:bgPr>
    </p:bg>
    <p:spTree>
      <p:nvGrpSpPr>
        <p:cNvPr id="155" name="Shape 155"/>
        <p:cNvGrpSpPr/>
        <p:nvPr/>
      </p:nvGrpSpPr>
      <p:grpSpPr>
        <a:xfrm>
          <a:off x="0" y="0"/>
          <a:ext cx="0" cy="0"/>
          <a:chOff x="0" y="0"/>
          <a:chExt cx="0" cy="0"/>
        </a:xfrm>
      </p:grpSpPr>
      <p:sp>
        <p:nvSpPr>
          <p:cNvPr id="156" name="Google Shape;156;p19"/>
          <p:cNvSpPr/>
          <p:nvPr/>
        </p:nvSpPr>
        <p:spPr>
          <a:xfrm>
            <a:off x="3919750" y="1592225"/>
            <a:ext cx="1244100" cy="1244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9"/>
          <p:cNvSpPr/>
          <p:nvPr/>
        </p:nvSpPr>
        <p:spPr>
          <a:xfrm>
            <a:off x="3714850" y="1387325"/>
            <a:ext cx="1653900" cy="1653900"/>
          </a:xfrm>
          <a:prstGeom prst="ellipse">
            <a:avLst/>
          </a:prstGeom>
          <a:noFill/>
          <a:ln cap="flat" cmpd="sng" w="9525">
            <a:solidFill>
              <a:srgbClr val="999999"/>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9"/>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Selección razonada</a:t>
            </a:r>
            <a:endParaRPr b="1" sz="700">
              <a:solidFill>
                <a:srgbClr val="000000"/>
              </a:solidFill>
              <a:latin typeface="Archivo"/>
              <a:ea typeface="Archivo"/>
              <a:cs typeface="Archivo"/>
              <a:sym typeface="Archivo"/>
            </a:endParaRPr>
          </a:p>
        </p:txBody>
      </p:sp>
      <p:sp>
        <p:nvSpPr>
          <p:cNvPr id="159" name="Google Shape;159;p19"/>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60" name="Google Shape;160;p19"/>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61" name="Google Shape;161;p19"/>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62" name="Google Shape;162;p19"/>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163" name="Google Shape;163;p19"/>
          <p:cNvSpPr txBox="1"/>
          <p:nvPr/>
        </p:nvSpPr>
        <p:spPr>
          <a:xfrm>
            <a:off x="375475" y="2399263"/>
            <a:ext cx="28770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s" sz="1100">
                <a:solidFill>
                  <a:schemeClr val="dk1"/>
                </a:solidFill>
                <a:latin typeface="Archivo SemiBold"/>
                <a:ea typeface="Archivo SemiBold"/>
                <a:cs typeface="Archivo SemiBold"/>
                <a:sym typeface="Archivo SemiBold"/>
              </a:rPr>
              <a:t>Superficies de Respuesta Háptica y Texturizada </a:t>
            </a:r>
            <a:endParaRPr sz="1100">
              <a:solidFill>
                <a:schemeClr val="dk1"/>
              </a:solidFill>
              <a:latin typeface="Archivo SemiBold"/>
              <a:ea typeface="Archivo SemiBold"/>
              <a:cs typeface="Archivo SemiBold"/>
              <a:sym typeface="Archivo SemiBold"/>
            </a:endParaRPr>
          </a:p>
          <a:p>
            <a:pPr indent="0" lvl="0" marL="457200" rtl="0" algn="ctr">
              <a:lnSpc>
                <a:spcPct val="115000"/>
              </a:lnSpc>
              <a:spcBef>
                <a:spcPts val="0"/>
              </a:spcBef>
              <a:spcAft>
                <a:spcPts val="0"/>
              </a:spcAft>
              <a:buNone/>
            </a:pPr>
            <a:r>
              <a:rPr lang="es" sz="1100">
                <a:solidFill>
                  <a:schemeClr val="lt1"/>
                </a:solidFill>
                <a:highlight>
                  <a:srgbClr val="0000FF"/>
                </a:highlight>
                <a:latin typeface="Archivo ExtraLight"/>
                <a:ea typeface="Archivo ExtraLight"/>
                <a:cs typeface="Archivo ExtraLight"/>
                <a:sym typeface="Archivo ExtraLight"/>
              </a:rPr>
              <a:t>El gesto a </a:t>
            </a:r>
            <a:r>
              <a:rPr lang="es" sz="1100">
                <a:solidFill>
                  <a:schemeClr val="lt1"/>
                </a:solidFill>
                <a:highlight>
                  <a:srgbClr val="0000FF"/>
                </a:highlight>
                <a:latin typeface="Archivo ExtraLight"/>
                <a:ea typeface="Archivo ExtraLight"/>
                <a:cs typeface="Archivo ExtraLight"/>
                <a:sym typeface="Archivo ExtraLight"/>
              </a:rPr>
              <a:t>través</a:t>
            </a:r>
            <a:r>
              <a:rPr lang="es" sz="1100">
                <a:solidFill>
                  <a:schemeClr val="lt1"/>
                </a:solidFill>
                <a:highlight>
                  <a:srgbClr val="0000FF"/>
                </a:highlight>
                <a:latin typeface="Archivo ExtraLight"/>
                <a:ea typeface="Archivo ExtraLight"/>
                <a:cs typeface="Archivo ExtraLight"/>
                <a:sym typeface="Archivo ExtraLight"/>
              </a:rPr>
              <a:t> de la manipulación en un canal de aprendizaje autónomo y gratificante. </a:t>
            </a:r>
            <a:endParaRPr sz="1100">
              <a:solidFill>
                <a:schemeClr val="lt1"/>
              </a:solidFill>
              <a:highlight>
                <a:srgbClr val="0000FF"/>
              </a:highlight>
              <a:latin typeface="Archivo ExtraLight"/>
              <a:ea typeface="Archivo ExtraLight"/>
              <a:cs typeface="Archivo ExtraLight"/>
              <a:sym typeface="Archivo ExtraLight"/>
            </a:endParaRPr>
          </a:p>
        </p:txBody>
      </p:sp>
      <p:sp>
        <p:nvSpPr>
          <p:cNvPr id="164" name="Google Shape;164;p19"/>
          <p:cNvSpPr txBox="1"/>
          <p:nvPr/>
        </p:nvSpPr>
        <p:spPr>
          <a:xfrm>
            <a:off x="5489875" y="2399275"/>
            <a:ext cx="2877000" cy="11328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Clr>
                <a:schemeClr val="dk1"/>
              </a:buClr>
              <a:buSzPts val="1100"/>
              <a:buFont typeface="Arial"/>
              <a:buNone/>
            </a:pPr>
            <a:r>
              <a:rPr lang="es" sz="1100">
                <a:solidFill>
                  <a:schemeClr val="dk1"/>
                </a:solidFill>
                <a:latin typeface="Archivo SemiBold"/>
                <a:ea typeface="Archivo SemiBold"/>
                <a:cs typeface="Archivo SemiBold"/>
                <a:sym typeface="Archivo SemiBold"/>
              </a:rPr>
              <a:t>Interacción por campos de proximidad </a:t>
            </a:r>
            <a:endParaRPr sz="1100">
              <a:solidFill>
                <a:schemeClr val="dk1"/>
              </a:solidFill>
              <a:latin typeface="Archivo SemiBold"/>
              <a:ea typeface="Archivo SemiBold"/>
              <a:cs typeface="Archivo SemiBold"/>
              <a:sym typeface="Archivo SemiBold"/>
            </a:endParaRPr>
          </a:p>
          <a:p>
            <a:pPr indent="0" lvl="0" marL="457200" rtl="0" algn="ctr">
              <a:lnSpc>
                <a:spcPct val="115000"/>
              </a:lnSpc>
              <a:spcBef>
                <a:spcPts val="0"/>
              </a:spcBef>
              <a:spcAft>
                <a:spcPts val="0"/>
              </a:spcAft>
              <a:buClr>
                <a:schemeClr val="dk1"/>
              </a:buClr>
              <a:buSzPts val="1100"/>
              <a:buFont typeface="Arial"/>
              <a:buNone/>
            </a:pPr>
            <a:r>
              <a:rPr lang="es" sz="1100">
                <a:solidFill>
                  <a:schemeClr val="lt1"/>
                </a:solidFill>
                <a:highlight>
                  <a:srgbClr val="0000FF"/>
                </a:highlight>
                <a:latin typeface="Archivo ExtraLight"/>
                <a:ea typeface="Archivo ExtraLight"/>
                <a:cs typeface="Archivo ExtraLight"/>
                <a:sym typeface="Archivo ExtraLight"/>
              </a:rPr>
              <a:t>Valida el gesto impreciso del niño como una acción exitosa. El objeto "reconoce" al usuario </a:t>
            </a:r>
            <a:endParaRPr sz="1100">
              <a:solidFill>
                <a:schemeClr val="dk1"/>
              </a:solidFill>
              <a:latin typeface="Archivo ExtraLight"/>
              <a:ea typeface="Archivo ExtraLight"/>
              <a:cs typeface="Archivo ExtraLight"/>
              <a:sym typeface="Archivo ExtraLight"/>
            </a:endParaRPr>
          </a:p>
        </p:txBody>
      </p:sp>
      <p:sp>
        <p:nvSpPr>
          <p:cNvPr id="165" name="Google Shape;165;p19"/>
          <p:cNvSpPr txBox="1"/>
          <p:nvPr/>
        </p:nvSpPr>
        <p:spPr>
          <a:xfrm>
            <a:off x="3461613" y="1879025"/>
            <a:ext cx="1698000" cy="1313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1200"/>
              </a:spcBef>
              <a:spcAft>
                <a:spcPts val="0"/>
              </a:spcAft>
              <a:buNone/>
            </a:pPr>
            <a:r>
              <a:rPr b="1" lang="es">
                <a:latin typeface="Archivo"/>
                <a:ea typeface="Archivo"/>
                <a:cs typeface="Archivo"/>
                <a:sym typeface="Archivo"/>
              </a:rPr>
              <a:t>Selección razonada</a:t>
            </a:r>
            <a:endParaRPr b="1">
              <a:solidFill>
                <a:srgbClr val="000000"/>
              </a:solidFill>
              <a:latin typeface="Archivo"/>
              <a:ea typeface="Archivo"/>
              <a:cs typeface="Archivo"/>
              <a:sym typeface="Archivo"/>
            </a:endParaRPr>
          </a:p>
          <a:p>
            <a:pPr indent="0" lvl="0" marL="0" rtl="0" algn="l">
              <a:lnSpc>
                <a:spcPct val="115000"/>
              </a:lnSpc>
              <a:spcBef>
                <a:spcPts val="1200"/>
              </a:spcBef>
              <a:spcAft>
                <a:spcPts val="0"/>
              </a:spcAft>
              <a:buNone/>
            </a:pPr>
            <a:r>
              <a:t/>
            </a:r>
            <a:endParaRPr b="1" sz="1100">
              <a:solidFill>
                <a:srgbClr val="303030"/>
              </a:solidFill>
              <a:highlight>
                <a:srgbClr val="FFFFFF"/>
              </a:highlight>
              <a:latin typeface="Archivo"/>
              <a:ea typeface="Archivo"/>
              <a:cs typeface="Archivo"/>
              <a:sym typeface="Archivo"/>
            </a:endParaRPr>
          </a:p>
          <a:p>
            <a:pPr indent="0" lvl="0" marL="457200" rtl="0" algn="l">
              <a:lnSpc>
                <a:spcPct val="115000"/>
              </a:lnSpc>
              <a:spcBef>
                <a:spcPts val="900"/>
              </a:spcBef>
              <a:spcAft>
                <a:spcPts val="0"/>
              </a:spcAft>
              <a:buNone/>
            </a:pPr>
            <a:r>
              <a:t/>
            </a:r>
            <a:endParaRPr sz="1100">
              <a:solidFill>
                <a:srgbClr val="000000"/>
              </a:solidFill>
              <a:latin typeface="Archivo"/>
              <a:ea typeface="Archivo"/>
              <a:cs typeface="Archivo"/>
              <a:sym typeface="Archivo"/>
            </a:endParaRPr>
          </a:p>
        </p:txBody>
      </p:sp>
      <p:cxnSp>
        <p:nvCxnSpPr>
          <p:cNvPr id="166" name="Google Shape;166;p19"/>
          <p:cNvCxnSpPr/>
          <p:nvPr/>
        </p:nvCxnSpPr>
        <p:spPr>
          <a:xfrm rot="10800000">
            <a:off x="2041425" y="2213725"/>
            <a:ext cx="1698000" cy="0"/>
          </a:xfrm>
          <a:prstGeom prst="straightConnector1">
            <a:avLst/>
          </a:prstGeom>
          <a:noFill/>
          <a:ln cap="flat" cmpd="sng" w="9525">
            <a:solidFill>
              <a:srgbClr val="999999"/>
            </a:solidFill>
            <a:prstDash val="lgDash"/>
            <a:round/>
            <a:headEnd len="med" w="med" type="none"/>
            <a:tailEnd len="med" w="med" type="none"/>
          </a:ln>
        </p:spPr>
      </p:cxnSp>
      <p:cxnSp>
        <p:nvCxnSpPr>
          <p:cNvPr id="167" name="Google Shape;167;p19"/>
          <p:cNvCxnSpPr/>
          <p:nvPr/>
        </p:nvCxnSpPr>
        <p:spPr>
          <a:xfrm rot="10800000">
            <a:off x="5368750" y="2230725"/>
            <a:ext cx="1698000" cy="0"/>
          </a:xfrm>
          <a:prstGeom prst="straightConnector1">
            <a:avLst/>
          </a:prstGeom>
          <a:noFill/>
          <a:ln cap="flat" cmpd="sng" w="9525">
            <a:solidFill>
              <a:srgbClr val="999999"/>
            </a:solidFill>
            <a:prstDash val="lgDash"/>
            <a:round/>
            <a:headEnd len="med" w="med" type="none"/>
            <a:tailEnd len="med" w="med" type="none"/>
          </a:ln>
        </p:spPr>
      </p:cxnSp>
      <p:sp>
        <p:nvSpPr>
          <p:cNvPr id="168" name="Google Shape;168;p19"/>
          <p:cNvSpPr/>
          <p:nvPr/>
        </p:nvSpPr>
        <p:spPr>
          <a:xfrm>
            <a:off x="7042175" y="2127675"/>
            <a:ext cx="206100" cy="206100"/>
          </a:xfrm>
          <a:prstGeom prst="ellipse">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9"/>
          <p:cNvSpPr/>
          <p:nvPr/>
        </p:nvSpPr>
        <p:spPr>
          <a:xfrm>
            <a:off x="1935350" y="2110675"/>
            <a:ext cx="206100" cy="206100"/>
          </a:xfrm>
          <a:prstGeom prst="ellipse">
            <a:avLst/>
          </a:pr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F"/>
        </a:solidFill>
      </p:bgPr>
    </p:bg>
    <p:spTree>
      <p:nvGrpSpPr>
        <p:cNvPr id="173" name="Shape 173"/>
        <p:cNvGrpSpPr/>
        <p:nvPr/>
      </p:nvGrpSpPr>
      <p:grpSpPr>
        <a:xfrm>
          <a:off x="0" y="0"/>
          <a:ext cx="0" cy="0"/>
          <a:chOff x="0" y="0"/>
          <a:chExt cx="0" cy="0"/>
        </a:xfrm>
      </p:grpSpPr>
      <p:sp>
        <p:nvSpPr>
          <p:cNvPr id="174" name="Google Shape;174;p20"/>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Bajada proyectual</a:t>
            </a:r>
            <a:endParaRPr b="1" sz="700">
              <a:solidFill>
                <a:srgbClr val="000000"/>
              </a:solidFill>
              <a:latin typeface="Archivo"/>
              <a:ea typeface="Archivo"/>
              <a:cs typeface="Archivo"/>
              <a:sym typeface="Archivo"/>
            </a:endParaRPr>
          </a:p>
        </p:txBody>
      </p:sp>
      <p:sp>
        <p:nvSpPr>
          <p:cNvPr id="175" name="Google Shape;175;p20"/>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76" name="Google Shape;176;p20"/>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77" name="Google Shape;177;p20"/>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78" name="Google Shape;178;p20"/>
          <p:cNvPicPr preferRelativeResize="0"/>
          <p:nvPr/>
        </p:nvPicPr>
        <p:blipFill>
          <a:blip r:embed="rId3">
            <a:alphaModFix/>
          </a:blip>
          <a:stretch>
            <a:fillRect/>
          </a:stretch>
        </p:blipFill>
        <p:spPr>
          <a:xfrm>
            <a:off x="137600" y="80275"/>
            <a:ext cx="782025" cy="383450"/>
          </a:xfrm>
          <a:prstGeom prst="rect">
            <a:avLst/>
          </a:prstGeom>
          <a:noFill/>
          <a:ln>
            <a:noFill/>
          </a:ln>
        </p:spPr>
      </p:pic>
      <p:pic>
        <p:nvPicPr>
          <p:cNvPr id="179" name="Google Shape;179;p20" title="2036f91d-46e4-4566-840e-c6081cb4c759.JPG"/>
          <p:cNvPicPr preferRelativeResize="0"/>
          <p:nvPr/>
        </p:nvPicPr>
        <p:blipFill rotWithShape="1">
          <a:blip r:embed="rId4">
            <a:alphaModFix/>
          </a:blip>
          <a:srcRect b="38057" l="0" r="0" t="0"/>
          <a:stretch/>
        </p:blipFill>
        <p:spPr>
          <a:xfrm>
            <a:off x="1854059" y="2518946"/>
            <a:ext cx="1783215" cy="1962127"/>
          </a:xfrm>
          <a:prstGeom prst="rect">
            <a:avLst/>
          </a:prstGeom>
          <a:noFill/>
          <a:ln>
            <a:noFill/>
          </a:ln>
        </p:spPr>
      </p:pic>
      <p:pic>
        <p:nvPicPr>
          <p:cNvPr id="180" name="Google Shape;180;p20" title="662098d6-7fce-4f88-a7c7-30a9e4e4209e.JPG"/>
          <p:cNvPicPr preferRelativeResize="0"/>
          <p:nvPr/>
        </p:nvPicPr>
        <p:blipFill rotWithShape="1">
          <a:blip r:embed="rId5">
            <a:alphaModFix/>
          </a:blip>
          <a:srcRect b="15576" l="0" r="0" t="26500"/>
          <a:stretch/>
        </p:blipFill>
        <p:spPr>
          <a:xfrm>
            <a:off x="3760784" y="2518946"/>
            <a:ext cx="1646844" cy="1962122"/>
          </a:xfrm>
          <a:prstGeom prst="rect">
            <a:avLst/>
          </a:prstGeom>
          <a:noFill/>
          <a:ln>
            <a:noFill/>
          </a:ln>
        </p:spPr>
      </p:pic>
      <p:pic>
        <p:nvPicPr>
          <p:cNvPr id="181" name="Google Shape;181;p20" title="8af2a0f6-1692-488e-8c9d-d4da39bf993a.JPG"/>
          <p:cNvPicPr preferRelativeResize="0"/>
          <p:nvPr/>
        </p:nvPicPr>
        <p:blipFill rotWithShape="1">
          <a:blip r:embed="rId6">
            <a:alphaModFix/>
          </a:blip>
          <a:srcRect b="27647" l="0" r="0" t="9377"/>
          <a:stretch/>
        </p:blipFill>
        <p:spPr>
          <a:xfrm>
            <a:off x="5531138" y="648749"/>
            <a:ext cx="1758812" cy="1733555"/>
          </a:xfrm>
          <a:prstGeom prst="rect">
            <a:avLst/>
          </a:prstGeom>
          <a:noFill/>
          <a:ln>
            <a:noFill/>
          </a:ln>
        </p:spPr>
      </p:pic>
      <p:pic>
        <p:nvPicPr>
          <p:cNvPr id="182" name="Google Shape;182;p20" title="1747b66e-8130-4e32-a90a-4bd52957713a.JPG"/>
          <p:cNvPicPr preferRelativeResize="0"/>
          <p:nvPr/>
        </p:nvPicPr>
        <p:blipFill>
          <a:blip r:embed="rId7">
            <a:alphaModFix/>
          </a:blip>
          <a:stretch>
            <a:fillRect/>
          </a:stretch>
        </p:blipFill>
        <p:spPr>
          <a:xfrm>
            <a:off x="3760783" y="651038"/>
            <a:ext cx="1646850" cy="1728968"/>
          </a:xfrm>
          <a:prstGeom prst="rect">
            <a:avLst/>
          </a:prstGeom>
          <a:noFill/>
          <a:ln>
            <a:noFill/>
          </a:ln>
        </p:spPr>
      </p:pic>
      <p:pic>
        <p:nvPicPr>
          <p:cNvPr id="183" name="Google Shape;183;p20" title="150e8a11-817a-4c89-a359-7fff2df36e50.JPG"/>
          <p:cNvPicPr preferRelativeResize="0"/>
          <p:nvPr/>
        </p:nvPicPr>
        <p:blipFill rotWithShape="1">
          <a:blip r:embed="rId8">
            <a:alphaModFix/>
          </a:blip>
          <a:srcRect b="24501" l="0" r="0" t="12693"/>
          <a:stretch/>
        </p:blipFill>
        <p:spPr>
          <a:xfrm>
            <a:off x="5531138" y="2518946"/>
            <a:ext cx="1758803" cy="1962122"/>
          </a:xfrm>
          <a:prstGeom prst="rect">
            <a:avLst/>
          </a:prstGeom>
          <a:noFill/>
          <a:ln>
            <a:noFill/>
          </a:ln>
        </p:spPr>
      </p:pic>
      <p:pic>
        <p:nvPicPr>
          <p:cNvPr id="184" name="Google Shape;184;p20" title="fab2fdfa-d89b-4ef2-8b32-f0421a79165b.JPG"/>
          <p:cNvPicPr preferRelativeResize="0"/>
          <p:nvPr/>
        </p:nvPicPr>
        <p:blipFill>
          <a:blip r:embed="rId9">
            <a:alphaModFix/>
          </a:blip>
          <a:stretch>
            <a:fillRect/>
          </a:stretch>
        </p:blipFill>
        <p:spPr>
          <a:xfrm>
            <a:off x="1854058" y="651038"/>
            <a:ext cx="1783215" cy="17289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F"/>
        </a:solidFill>
      </p:bgPr>
    </p:bg>
    <p:spTree>
      <p:nvGrpSpPr>
        <p:cNvPr id="188" name="Shape 188"/>
        <p:cNvGrpSpPr/>
        <p:nvPr/>
      </p:nvGrpSpPr>
      <p:grpSpPr>
        <a:xfrm>
          <a:off x="0" y="0"/>
          <a:ext cx="0" cy="0"/>
          <a:chOff x="0" y="0"/>
          <a:chExt cx="0" cy="0"/>
        </a:xfrm>
      </p:grpSpPr>
      <p:sp>
        <p:nvSpPr>
          <p:cNvPr id="189" name="Google Shape;189;p21"/>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Bajada proyectual</a:t>
            </a:r>
            <a:endParaRPr b="1" sz="700">
              <a:solidFill>
                <a:srgbClr val="000000"/>
              </a:solidFill>
              <a:latin typeface="Archivo"/>
              <a:ea typeface="Archivo"/>
              <a:cs typeface="Archivo"/>
              <a:sym typeface="Archivo"/>
            </a:endParaRPr>
          </a:p>
        </p:txBody>
      </p:sp>
      <p:sp>
        <p:nvSpPr>
          <p:cNvPr id="190" name="Google Shape;190;p21"/>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191" name="Google Shape;191;p21"/>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192" name="Google Shape;192;p21"/>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193" name="Google Shape;193;p21"/>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194" name="Google Shape;194;p21"/>
          <p:cNvSpPr txBox="1"/>
          <p:nvPr/>
        </p:nvSpPr>
        <p:spPr>
          <a:xfrm>
            <a:off x="370250" y="808615"/>
            <a:ext cx="6064800" cy="5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800">
                <a:solidFill>
                  <a:schemeClr val="dk1"/>
                </a:solidFill>
                <a:latin typeface="Archivo SemiBold"/>
                <a:ea typeface="Archivo SemiBold"/>
                <a:cs typeface="Archivo SemiBold"/>
                <a:sym typeface="Archivo SemiBold"/>
              </a:rPr>
              <a:t>Interacción por campos de proximidad </a:t>
            </a:r>
            <a:endParaRPr i="1" sz="2700" u="none" cap="none" strike="noStrike">
              <a:solidFill>
                <a:srgbClr val="000000"/>
              </a:solidFill>
              <a:latin typeface="Archivo SemiBold"/>
              <a:ea typeface="Archivo SemiBold"/>
              <a:cs typeface="Archivo SemiBold"/>
              <a:sym typeface="Archivo SemiBold"/>
            </a:endParaRPr>
          </a:p>
        </p:txBody>
      </p:sp>
      <p:sp>
        <p:nvSpPr>
          <p:cNvPr id="195" name="Google Shape;195;p21"/>
          <p:cNvSpPr txBox="1"/>
          <p:nvPr/>
        </p:nvSpPr>
        <p:spPr>
          <a:xfrm>
            <a:off x="370250" y="1214325"/>
            <a:ext cx="4741800" cy="439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 sz="1100">
                <a:solidFill>
                  <a:schemeClr val="dk1"/>
                </a:solidFill>
                <a:latin typeface="Archivo ExtraLight"/>
                <a:ea typeface="Archivo ExtraLight"/>
                <a:cs typeface="Archivo ExtraLight"/>
                <a:sym typeface="Archivo ExtraLight"/>
              </a:rPr>
              <a:t>Es una interfaz de detección de intención del gesto, que utiliza sensores </a:t>
            </a:r>
            <a:r>
              <a:rPr i="1" lang="es" sz="1100">
                <a:solidFill>
                  <a:schemeClr val="dk1"/>
                </a:solidFill>
                <a:latin typeface="Archivo ExtraLight"/>
                <a:ea typeface="Archivo ExtraLight"/>
                <a:cs typeface="Archivo ExtraLight"/>
                <a:sym typeface="Archivo ExtraLight"/>
              </a:rPr>
              <a:t>Time of Flight</a:t>
            </a:r>
            <a:r>
              <a:rPr lang="es" sz="1100">
                <a:solidFill>
                  <a:schemeClr val="dk1"/>
                </a:solidFill>
                <a:latin typeface="Archivo ExtraLight"/>
                <a:ea typeface="Archivo ExtraLight"/>
                <a:cs typeface="Archivo ExtraLight"/>
                <a:sym typeface="Archivo ExtraLight"/>
              </a:rPr>
              <a:t> (ToF) </a:t>
            </a:r>
            <a:r>
              <a:rPr lang="es" sz="1100">
                <a:solidFill>
                  <a:schemeClr val="dk1"/>
                </a:solidFill>
                <a:latin typeface="Archivo SemiBold"/>
                <a:ea typeface="Archivo SemiBold"/>
                <a:cs typeface="Archivo SemiBold"/>
                <a:sym typeface="Archivo SemiBold"/>
              </a:rPr>
              <a:t>para generar un gradiente de respuestas lumínicas y sonoras</a:t>
            </a:r>
            <a:r>
              <a:rPr lang="es" sz="1100">
                <a:solidFill>
                  <a:schemeClr val="dk1"/>
                </a:solidFill>
                <a:latin typeface="Archivo ExtraLight"/>
                <a:ea typeface="Archivo ExtraLight"/>
                <a:cs typeface="Archivo ExtraLight"/>
                <a:sym typeface="Archivo ExtraLight"/>
              </a:rPr>
              <a:t> según la cercanía del usuario.</a:t>
            </a:r>
            <a:endParaRPr sz="1100">
              <a:solidFill>
                <a:schemeClr val="dk1"/>
              </a:solidFill>
              <a:latin typeface="Archivo ExtraLight"/>
              <a:ea typeface="Archivo ExtraLight"/>
              <a:cs typeface="Archivo ExtraLight"/>
              <a:sym typeface="Archivo ExtraLight"/>
            </a:endParaRPr>
          </a:p>
          <a:p>
            <a:pPr indent="-298450" lvl="0" marL="457200" rtl="0" algn="l">
              <a:lnSpc>
                <a:spcPct val="115000"/>
              </a:lnSpc>
              <a:spcBef>
                <a:spcPts val="1200"/>
              </a:spcBef>
              <a:spcAft>
                <a:spcPts val="0"/>
              </a:spcAft>
              <a:buClr>
                <a:schemeClr val="dk1"/>
              </a:buClr>
              <a:buSzPts val="1100"/>
              <a:buChar char="●"/>
            </a:pPr>
            <a:r>
              <a:rPr lang="es" sz="1100">
                <a:solidFill>
                  <a:schemeClr val="dk1"/>
                </a:solidFill>
                <a:latin typeface="Archivo SemiBold"/>
                <a:ea typeface="Archivo SemiBold"/>
                <a:cs typeface="Archivo SemiBold"/>
                <a:sym typeface="Archivo SemiBold"/>
              </a:rPr>
              <a:t>¿Cómo funciona?:</a:t>
            </a:r>
            <a:r>
              <a:rPr lang="es" sz="1100">
                <a:solidFill>
                  <a:schemeClr val="dk1"/>
                </a:solidFill>
                <a:latin typeface="Archivo ExtraLight"/>
                <a:ea typeface="Archivo ExtraLight"/>
                <a:cs typeface="Archivo ExtraLight"/>
                <a:sym typeface="Archivo ExtraLight"/>
              </a:rPr>
              <a:t> Utilizaría sensores que mapean el espacio en tres zonas. Al entrar en la zona de alerta (15 cm), el módulo emite una luz tenue y un tono grave casi imperceptible. En la zona de aproximación (5-10 cm), la luz aumenta su intensidad y el sonido se vuelve más agudo y rítmico. Al llegar a la zona de contacto (0-2 cm), el estímulo alcanza su máximo, confirmando que el hito de movimiento se ha completado.</a:t>
            </a:r>
            <a:endParaRPr sz="1100">
              <a:solidFill>
                <a:schemeClr val="dk1"/>
              </a:solidFill>
              <a:latin typeface="Archivo ExtraLight"/>
              <a:ea typeface="Archivo ExtraLight"/>
              <a:cs typeface="Archivo ExtraLight"/>
              <a:sym typeface="Archivo ExtraLight"/>
            </a:endParaRPr>
          </a:p>
          <a:p>
            <a:pPr indent="-298450" lvl="0" marL="457200" rtl="0" algn="l">
              <a:lnSpc>
                <a:spcPct val="115000"/>
              </a:lnSpc>
              <a:spcBef>
                <a:spcPts val="0"/>
              </a:spcBef>
              <a:spcAft>
                <a:spcPts val="0"/>
              </a:spcAft>
              <a:buClr>
                <a:schemeClr val="dk1"/>
              </a:buClr>
              <a:buSzPts val="1100"/>
              <a:buChar char="●"/>
            </a:pPr>
            <a:r>
              <a:rPr lang="es" sz="1100">
                <a:solidFill>
                  <a:schemeClr val="dk1"/>
                </a:solidFill>
                <a:latin typeface="Archivo SemiBold"/>
                <a:ea typeface="Archivo SemiBold"/>
                <a:cs typeface="Archivo SemiBold"/>
                <a:sym typeface="Archivo SemiBold"/>
              </a:rPr>
              <a:t>¿Qué transforma?:</a:t>
            </a:r>
            <a:r>
              <a:rPr lang="es" sz="1100">
                <a:solidFill>
                  <a:schemeClr val="dk1"/>
                </a:solidFill>
                <a:latin typeface="Archivo ExtraLight"/>
                <a:ea typeface="Archivo ExtraLight"/>
                <a:cs typeface="Archivo ExtraLight"/>
                <a:sym typeface="Archivo ExtraLight"/>
              </a:rPr>
              <a:t> Transforma la percepción de éxito. El niño recibe una recompensa sensorial continua durante todo el trayecto del movimiento. Generandose un juego de exploración espacial, donde el objeto celebra el esfuerzo del niño durante el gesto.</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1200"/>
              </a:spcBef>
              <a:spcAft>
                <a:spcPts val="0"/>
              </a:spcAft>
              <a:buNone/>
            </a:pPr>
            <a:r>
              <a:t/>
            </a:r>
            <a:endParaRPr sz="1100">
              <a:latin typeface="Archivo Light"/>
              <a:ea typeface="Archivo Light"/>
              <a:cs typeface="Archivo Light"/>
              <a:sym typeface="Archivo Light"/>
            </a:endParaRPr>
          </a:p>
          <a:p>
            <a:pPr indent="0" lvl="0" marL="0" rtl="0" algn="l">
              <a:lnSpc>
                <a:spcPct val="115000"/>
              </a:lnSpc>
              <a:spcBef>
                <a:spcPts val="1200"/>
              </a:spcBef>
              <a:spcAft>
                <a:spcPts val="0"/>
              </a:spcAft>
              <a:buNone/>
            </a:pPr>
            <a:r>
              <a:t/>
            </a:r>
            <a:endParaRPr sz="1100">
              <a:latin typeface="Archivo Light"/>
              <a:ea typeface="Archivo Light"/>
              <a:cs typeface="Archivo Light"/>
              <a:sym typeface="Archivo Light"/>
            </a:endParaRPr>
          </a:p>
          <a:p>
            <a:pPr indent="0" lvl="0" marL="0" rtl="0" algn="l">
              <a:lnSpc>
                <a:spcPct val="115000"/>
              </a:lnSpc>
              <a:spcBef>
                <a:spcPts val="1200"/>
              </a:spcBef>
              <a:spcAft>
                <a:spcPts val="0"/>
              </a:spcAft>
              <a:buNone/>
            </a:pPr>
            <a:r>
              <a:t/>
            </a:r>
            <a:endParaRPr b="1" sz="1100">
              <a:solidFill>
                <a:srgbClr val="303030"/>
              </a:solidFill>
              <a:highlight>
                <a:srgbClr val="FFFFFF"/>
              </a:highlight>
              <a:latin typeface="Archivo"/>
              <a:ea typeface="Archivo"/>
              <a:cs typeface="Archivo"/>
              <a:sym typeface="Archivo"/>
            </a:endParaRPr>
          </a:p>
          <a:p>
            <a:pPr indent="0" lvl="0" marL="457200" rtl="0" algn="l">
              <a:lnSpc>
                <a:spcPct val="115000"/>
              </a:lnSpc>
              <a:spcBef>
                <a:spcPts val="900"/>
              </a:spcBef>
              <a:spcAft>
                <a:spcPts val="0"/>
              </a:spcAft>
              <a:buNone/>
            </a:pPr>
            <a:r>
              <a:t/>
            </a:r>
            <a:endParaRPr sz="1100">
              <a:solidFill>
                <a:srgbClr val="000000"/>
              </a:solidFill>
              <a:latin typeface="Archivo"/>
              <a:ea typeface="Archivo"/>
              <a:cs typeface="Archivo"/>
              <a:sym typeface="Archivo"/>
            </a:endParaRPr>
          </a:p>
        </p:txBody>
      </p:sp>
      <p:pic>
        <p:nvPicPr>
          <p:cNvPr id="196" name="Google Shape;196;p21"/>
          <p:cNvPicPr preferRelativeResize="0"/>
          <p:nvPr/>
        </p:nvPicPr>
        <p:blipFill>
          <a:blip r:embed="rId4">
            <a:alphaModFix/>
          </a:blip>
          <a:stretch>
            <a:fillRect/>
          </a:stretch>
        </p:blipFill>
        <p:spPr>
          <a:xfrm>
            <a:off x="5286850" y="903920"/>
            <a:ext cx="1667824" cy="1667826"/>
          </a:xfrm>
          <a:prstGeom prst="rect">
            <a:avLst/>
          </a:prstGeom>
          <a:noFill/>
          <a:ln>
            <a:noFill/>
          </a:ln>
        </p:spPr>
      </p:pic>
      <p:pic>
        <p:nvPicPr>
          <p:cNvPr id="197" name="Google Shape;197;p21"/>
          <p:cNvPicPr preferRelativeResize="0"/>
          <p:nvPr/>
        </p:nvPicPr>
        <p:blipFill>
          <a:blip r:embed="rId5">
            <a:alphaModFix/>
          </a:blip>
          <a:stretch>
            <a:fillRect/>
          </a:stretch>
        </p:blipFill>
        <p:spPr>
          <a:xfrm>
            <a:off x="5895575" y="2387975"/>
            <a:ext cx="2369100" cy="1776825"/>
          </a:xfrm>
          <a:prstGeom prst="rect">
            <a:avLst/>
          </a:prstGeom>
          <a:noFill/>
          <a:ln>
            <a:noFill/>
          </a:ln>
        </p:spPr>
      </p:pic>
      <p:pic>
        <p:nvPicPr>
          <p:cNvPr id="198" name="Google Shape;198;p21"/>
          <p:cNvPicPr preferRelativeResize="0"/>
          <p:nvPr/>
        </p:nvPicPr>
        <p:blipFill>
          <a:blip r:embed="rId6">
            <a:alphaModFix/>
          </a:blip>
          <a:stretch>
            <a:fillRect/>
          </a:stretch>
        </p:blipFill>
        <p:spPr>
          <a:xfrm>
            <a:off x="6954675" y="1470225"/>
            <a:ext cx="1340600" cy="1149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F"/>
        </a:solidFill>
      </p:bgPr>
    </p:bg>
    <p:spTree>
      <p:nvGrpSpPr>
        <p:cNvPr id="202" name="Shape 202"/>
        <p:cNvGrpSpPr/>
        <p:nvPr/>
      </p:nvGrpSpPr>
      <p:grpSpPr>
        <a:xfrm>
          <a:off x="0" y="0"/>
          <a:ext cx="0" cy="0"/>
          <a:chOff x="0" y="0"/>
          <a:chExt cx="0" cy="0"/>
        </a:xfrm>
      </p:grpSpPr>
      <p:sp>
        <p:nvSpPr>
          <p:cNvPr id="203" name="Google Shape;203;p22"/>
          <p:cNvSpPr txBox="1"/>
          <p:nvPr/>
        </p:nvSpPr>
        <p:spPr>
          <a:xfrm>
            <a:off x="919634" y="154500"/>
            <a:ext cx="18921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Bajada proyectual</a:t>
            </a:r>
            <a:endParaRPr b="1" sz="700">
              <a:solidFill>
                <a:srgbClr val="000000"/>
              </a:solidFill>
              <a:latin typeface="Archivo"/>
              <a:ea typeface="Archivo"/>
              <a:cs typeface="Archivo"/>
              <a:sym typeface="Archivo"/>
            </a:endParaRPr>
          </a:p>
        </p:txBody>
      </p:sp>
      <p:sp>
        <p:nvSpPr>
          <p:cNvPr id="204" name="Google Shape;204;p22"/>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205" name="Google Shape;205;p22"/>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206" name="Google Shape;206;p22"/>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207" name="Google Shape;207;p22"/>
          <p:cNvPicPr preferRelativeResize="0"/>
          <p:nvPr/>
        </p:nvPicPr>
        <p:blipFill>
          <a:blip r:embed="rId3">
            <a:alphaModFix/>
          </a:blip>
          <a:stretch>
            <a:fillRect/>
          </a:stretch>
        </p:blipFill>
        <p:spPr>
          <a:xfrm>
            <a:off x="137600" y="80275"/>
            <a:ext cx="782025" cy="383450"/>
          </a:xfrm>
          <a:prstGeom prst="rect">
            <a:avLst/>
          </a:prstGeom>
          <a:noFill/>
          <a:ln>
            <a:noFill/>
          </a:ln>
        </p:spPr>
      </p:pic>
      <p:sp>
        <p:nvSpPr>
          <p:cNvPr id="208" name="Google Shape;208;p22"/>
          <p:cNvSpPr txBox="1"/>
          <p:nvPr/>
        </p:nvSpPr>
        <p:spPr>
          <a:xfrm>
            <a:off x="370250" y="808615"/>
            <a:ext cx="6064800" cy="58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lang="es" sz="1800">
                <a:latin typeface="Archivo SemiBold"/>
                <a:ea typeface="Archivo SemiBold"/>
                <a:cs typeface="Archivo SemiBold"/>
                <a:sym typeface="Archivo SemiBold"/>
              </a:rPr>
              <a:t>Superficie Háptica de Exploración Sensorial</a:t>
            </a:r>
            <a:endParaRPr i="1" sz="2000" u="none" cap="none" strike="noStrike">
              <a:solidFill>
                <a:srgbClr val="000000"/>
              </a:solidFill>
              <a:latin typeface="Archivo SemiBold"/>
              <a:ea typeface="Archivo SemiBold"/>
              <a:cs typeface="Archivo SemiBold"/>
              <a:sym typeface="Archivo SemiBold"/>
            </a:endParaRPr>
          </a:p>
        </p:txBody>
      </p:sp>
      <p:sp>
        <p:nvSpPr>
          <p:cNvPr id="209" name="Google Shape;209;p22"/>
          <p:cNvSpPr txBox="1"/>
          <p:nvPr/>
        </p:nvSpPr>
        <p:spPr>
          <a:xfrm>
            <a:off x="370250" y="1214325"/>
            <a:ext cx="4741800" cy="399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lang="es" sz="1100">
                <a:latin typeface="Archivo Light"/>
                <a:ea typeface="Archivo Light"/>
                <a:cs typeface="Archivo Light"/>
                <a:sym typeface="Archivo Light"/>
              </a:rPr>
              <a:t>Ideación de un objeto con una carcasa exterior con </a:t>
            </a:r>
            <a:r>
              <a:rPr lang="es" sz="1100">
                <a:latin typeface="Archivo Medium"/>
                <a:ea typeface="Archivo Medium"/>
                <a:cs typeface="Archivo Medium"/>
                <a:sym typeface="Archivo Medium"/>
              </a:rPr>
              <a:t>texturas de alta definición y actuadores internos de vibración </a:t>
            </a:r>
            <a:r>
              <a:rPr lang="es" sz="1100">
                <a:latin typeface="Archivo Light"/>
                <a:ea typeface="Archivo Light"/>
                <a:cs typeface="Archivo Light"/>
                <a:sym typeface="Archivo Light"/>
              </a:rPr>
              <a:t>resonante, diseñada para ser el punto de llegada del gesto motor. </a:t>
            </a:r>
            <a:endParaRPr b="1" sz="1100">
              <a:solidFill>
                <a:srgbClr val="000000"/>
              </a:solidFill>
              <a:latin typeface="Archivo"/>
              <a:ea typeface="Archivo"/>
              <a:cs typeface="Archivo"/>
              <a:sym typeface="Archivo"/>
            </a:endParaRPr>
          </a:p>
          <a:p>
            <a:pPr indent="-298450" lvl="0" marL="457200" rtl="0" algn="l">
              <a:lnSpc>
                <a:spcPct val="115000"/>
              </a:lnSpc>
              <a:spcBef>
                <a:spcPts val="1200"/>
              </a:spcBef>
              <a:spcAft>
                <a:spcPts val="0"/>
              </a:spcAft>
              <a:buClr>
                <a:schemeClr val="dk1"/>
              </a:buClr>
              <a:buSzPts val="1100"/>
              <a:buChar char="●"/>
            </a:pPr>
            <a:r>
              <a:rPr lang="es" sz="1100">
                <a:solidFill>
                  <a:schemeClr val="dk1"/>
                </a:solidFill>
                <a:latin typeface="Archivo SemiBold"/>
                <a:ea typeface="Archivo SemiBold"/>
                <a:cs typeface="Archivo SemiBold"/>
                <a:sym typeface="Archivo SemiBold"/>
              </a:rPr>
              <a:t>¿Cómo funciona?: </a:t>
            </a:r>
            <a:r>
              <a:rPr lang="es" sz="1100">
                <a:solidFill>
                  <a:schemeClr val="dk1"/>
                </a:solidFill>
                <a:latin typeface="Archivo ExtraLight"/>
                <a:ea typeface="Archivo ExtraLight"/>
                <a:cs typeface="Archivo ExtraLight"/>
                <a:sym typeface="Archivo ExtraLight"/>
              </a:rPr>
              <a:t>En el contacto físico, el módulo responde con patrones de vibración específicos y cambios de tacto sensoriales. La superficie combina relieves (surcos, porosidades) que incentivan la exploración táctil y la manipulación fina o gruesa.</a:t>
            </a:r>
            <a:endParaRPr sz="1100">
              <a:solidFill>
                <a:schemeClr val="dk1"/>
              </a:solidFill>
              <a:latin typeface="Archivo ExtraLight"/>
              <a:ea typeface="Archivo ExtraLight"/>
              <a:cs typeface="Archivo ExtraLight"/>
              <a:sym typeface="Archivo ExtraLight"/>
            </a:endParaRPr>
          </a:p>
          <a:p>
            <a:pPr indent="0" lvl="0" marL="457200" rtl="0" algn="l">
              <a:lnSpc>
                <a:spcPct val="20000"/>
              </a:lnSpc>
              <a:spcBef>
                <a:spcPts val="1200"/>
              </a:spcBef>
              <a:spcAft>
                <a:spcPts val="0"/>
              </a:spcAft>
              <a:buNone/>
            </a:pPr>
            <a:r>
              <a:t/>
            </a:r>
            <a:endParaRPr sz="1100">
              <a:solidFill>
                <a:schemeClr val="dk1"/>
              </a:solidFill>
              <a:latin typeface="Archivo ExtraLight"/>
              <a:ea typeface="Archivo ExtraLight"/>
              <a:cs typeface="Archivo ExtraLight"/>
              <a:sym typeface="Archivo ExtraLight"/>
            </a:endParaRPr>
          </a:p>
          <a:p>
            <a:pPr indent="-298450" lvl="0" marL="457200" rtl="0" algn="l">
              <a:lnSpc>
                <a:spcPct val="115000"/>
              </a:lnSpc>
              <a:spcBef>
                <a:spcPts val="1200"/>
              </a:spcBef>
              <a:spcAft>
                <a:spcPts val="0"/>
              </a:spcAft>
              <a:buClr>
                <a:schemeClr val="dk1"/>
              </a:buClr>
              <a:buSzPts val="1100"/>
              <a:buChar char="●"/>
            </a:pPr>
            <a:r>
              <a:rPr lang="es" sz="1100">
                <a:solidFill>
                  <a:schemeClr val="dk1"/>
                </a:solidFill>
                <a:latin typeface="Archivo SemiBold"/>
                <a:ea typeface="Archivo SemiBold"/>
                <a:cs typeface="Archivo SemiBold"/>
                <a:sym typeface="Archivo SemiBold"/>
              </a:rPr>
              <a:t>¿Qué transforma?:</a:t>
            </a:r>
            <a:r>
              <a:rPr lang="es" sz="1100">
                <a:solidFill>
                  <a:schemeClr val="dk1"/>
                </a:solidFill>
                <a:latin typeface="Archivo ExtraLight"/>
                <a:ea typeface="Archivo ExtraLight"/>
                <a:cs typeface="Archivo ExtraLight"/>
                <a:sym typeface="Archivo ExtraLight"/>
              </a:rPr>
              <a:t> Transforma la calidad de la interacción. El objeto deja de ser una barrera inerte para convertirse en un mediador vivo que premia el tacto. Esto valida la capacidad sensorial del párvulo, consolidando hitos de movimiento a través de un refuerzo físico real y gratificante.</a:t>
            </a:r>
            <a:endParaRPr sz="1100">
              <a:solidFill>
                <a:schemeClr val="dk1"/>
              </a:solidFill>
              <a:latin typeface="Archivo ExtraLight"/>
              <a:ea typeface="Archivo ExtraLight"/>
              <a:cs typeface="Archivo ExtraLight"/>
              <a:sym typeface="Archivo ExtraLight"/>
            </a:endParaRPr>
          </a:p>
          <a:p>
            <a:pPr indent="0" lvl="0" marL="0" rtl="0" algn="l">
              <a:lnSpc>
                <a:spcPct val="115000"/>
              </a:lnSpc>
              <a:spcBef>
                <a:spcPts val="1200"/>
              </a:spcBef>
              <a:spcAft>
                <a:spcPts val="0"/>
              </a:spcAft>
              <a:buNone/>
            </a:pPr>
            <a:r>
              <a:t/>
            </a:r>
            <a:endParaRPr sz="1100">
              <a:latin typeface="Archivo Light"/>
              <a:ea typeface="Archivo Light"/>
              <a:cs typeface="Archivo Light"/>
              <a:sym typeface="Archivo Light"/>
            </a:endParaRPr>
          </a:p>
          <a:p>
            <a:pPr indent="0" lvl="0" marL="0" rtl="0" algn="l">
              <a:lnSpc>
                <a:spcPct val="115000"/>
              </a:lnSpc>
              <a:spcBef>
                <a:spcPts val="1200"/>
              </a:spcBef>
              <a:spcAft>
                <a:spcPts val="0"/>
              </a:spcAft>
              <a:buNone/>
            </a:pPr>
            <a:r>
              <a:t/>
            </a:r>
            <a:endParaRPr b="1" sz="1100">
              <a:solidFill>
                <a:srgbClr val="303030"/>
              </a:solidFill>
              <a:highlight>
                <a:srgbClr val="FFFFFF"/>
              </a:highlight>
              <a:latin typeface="Archivo"/>
              <a:ea typeface="Archivo"/>
              <a:cs typeface="Archivo"/>
              <a:sym typeface="Archivo"/>
            </a:endParaRPr>
          </a:p>
          <a:p>
            <a:pPr indent="0" lvl="0" marL="457200" rtl="0" algn="l">
              <a:lnSpc>
                <a:spcPct val="115000"/>
              </a:lnSpc>
              <a:spcBef>
                <a:spcPts val="900"/>
              </a:spcBef>
              <a:spcAft>
                <a:spcPts val="0"/>
              </a:spcAft>
              <a:buNone/>
            </a:pPr>
            <a:r>
              <a:t/>
            </a:r>
            <a:endParaRPr sz="1100">
              <a:solidFill>
                <a:srgbClr val="000000"/>
              </a:solidFill>
              <a:latin typeface="Archivo"/>
              <a:ea typeface="Archivo"/>
              <a:cs typeface="Archivo"/>
              <a:sym typeface="Archivo"/>
            </a:endParaRPr>
          </a:p>
        </p:txBody>
      </p:sp>
      <p:pic>
        <p:nvPicPr>
          <p:cNvPr id="210" name="Google Shape;210;p22"/>
          <p:cNvPicPr preferRelativeResize="0"/>
          <p:nvPr/>
        </p:nvPicPr>
        <p:blipFill>
          <a:blip r:embed="rId4">
            <a:alphaModFix/>
          </a:blip>
          <a:stretch>
            <a:fillRect/>
          </a:stretch>
        </p:blipFill>
        <p:spPr>
          <a:xfrm>
            <a:off x="6531394" y="1035675"/>
            <a:ext cx="1819201" cy="2726324"/>
          </a:xfrm>
          <a:prstGeom prst="rect">
            <a:avLst/>
          </a:prstGeom>
          <a:noFill/>
          <a:ln>
            <a:noFill/>
          </a:ln>
        </p:spPr>
      </p:pic>
      <p:pic>
        <p:nvPicPr>
          <p:cNvPr id="211" name="Google Shape;211;p22"/>
          <p:cNvPicPr preferRelativeResize="0"/>
          <p:nvPr/>
        </p:nvPicPr>
        <p:blipFill>
          <a:blip r:embed="rId5">
            <a:alphaModFix/>
          </a:blip>
          <a:stretch>
            <a:fillRect/>
          </a:stretch>
        </p:blipFill>
        <p:spPr>
          <a:xfrm>
            <a:off x="5384149" y="2684925"/>
            <a:ext cx="1263175" cy="1684251"/>
          </a:xfrm>
          <a:prstGeom prst="rect">
            <a:avLst/>
          </a:prstGeom>
          <a:noFill/>
          <a:ln>
            <a:noFill/>
          </a:ln>
        </p:spPr>
      </p:pic>
      <p:pic>
        <p:nvPicPr>
          <p:cNvPr id="212" name="Google Shape;212;p22"/>
          <p:cNvPicPr preferRelativeResize="0"/>
          <p:nvPr/>
        </p:nvPicPr>
        <p:blipFill>
          <a:blip r:embed="rId6">
            <a:alphaModFix/>
          </a:blip>
          <a:stretch>
            <a:fillRect/>
          </a:stretch>
        </p:blipFill>
        <p:spPr>
          <a:xfrm>
            <a:off x="5693447" y="1293388"/>
            <a:ext cx="1049649" cy="13995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4EF"/>
        </a:solidFill>
      </p:bgPr>
    </p:bg>
    <p:spTree>
      <p:nvGrpSpPr>
        <p:cNvPr id="216" name="Shape 216"/>
        <p:cNvGrpSpPr/>
        <p:nvPr/>
      </p:nvGrpSpPr>
      <p:grpSpPr>
        <a:xfrm>
          <a:off x="0" y="0"/>
          <a:ext cx="0" cy="0"/>
          <a:chOff x="0" y="0"/>
          <a:chExt cx="0" cy="0"/>
        </a:xfrm>
      </p:grpSpPr>
      <p:sp>
        <p:nvSpPr>
          <p:cNvPr id="217" name="Google Shape;217;p23"/>
          <p:cNvSpPr txBox="1"/>
          <p:nvPr/>
        </p:nvSpPr>
        <p:spPr>
          <a:xfrm>
            <a:off x="919622" y="154500"/>
            <a:ext cx="24444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 sz="900">
                <a:latin typeface="Archivo"/>
                <a:ea typeface="Archivo"/>
                <a:cs typeface="Archivo"/>
                <a:sym typeface="Archivo"/>
              </a:rPr>
              <a:t>Planificación segundo semestre</a:t>
            </a:r>
            <a:endParaRPr b="1" sz="700">
              <a:solidFill>
                <a:srgbClr val="000000"/>
              </a:solidFill>
              <a:latin typeface="Archivo"/>
              <a:ea typeface="Archivo"/>
              <a:cs typeface="Archivo"/>
              <a:sym typeface="Archivo"/>
            </a:endParaRPr>
          </a:p>
        </p:txBody>
      </p:sp>
      <p:sp>
        <p:nvSpPr>
          <p:cNvPr id="218" name="Google Shape;218;p23"/>
          <p:cNvSpPr txBox="1"/>
          <p:nvPr/>
        </p:nvSpPr>
        <p:spPr>
          <a:xfrm>
            <a:off x="73355" y="4652225"/>
            <a:ext cx="2369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900">
                <a:solidFill>
                  <a:srgbClr val="000000"/>
                </a:solidFill>
                <a:latin typeface="Archivo ExtraLight"/>
                <a:ea typeface="Archivo ExtraLight"/>
                <a:cs typeface="Archivo ExtraLight"/>
                <a:sym typeface="Archivo ExtraLight"/>
              </a:rPr>
              <a:t>UDP / FAAD / Escuela Diseño</a:t>
            </a:r>
            <a:endParaRPr sz="900">
              <a:solidFill>
                <a:srgbClr val="000000"/>
              </a:solidFill>
              <a:latin typeface="Archivo ExtraLight"/>
              <a:ea typeface="Archivo ExtraLight"/>
              <a:cs typeface="Archivo ExtraLight"/>
              <a:sym typeface="Archivo ExtraLight"/>
            </a:endParaRPr>
          </a:p>
        </p:txBody>
      </p:sp>
      <p:sp>
        <p:nvSpPr>
          <p:cNvPr id="219" name="Google Shape;219;p23"/>
          <p:cNvSpPr txBox="1"/>
          <p:nvPr/>
        </p:nvSpPr>
        <p:spPr>
          <a:xfrm>
            <a:off x="5895563" y="154498"/>
            <a:ext cx="2975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900">
                <a:solidFill>
                  <a:srgbClr val="000000"/>
                </a:solidFill>
                <a:latin typeface="Archivo ExtraLight"/>
                <a:ea typeface="Archivo ExtraLight"/>
                <a:cs typeface="Archivo ExtraLight"/>
                <a:sym typeface="Archivo ExtraLight"/>
              </a:rPr>
              <a:t>Martin Césped </a:t>
            </a:r>
            <a:endParaRPr sz="900">
              <a:solidFill>
                <a:srgbClr val="000000"/>
              </a:solidFill>
              <a:latin typeface="Archivo ExtraLight"/>
              <a:ea typeface="Archivo ExtraLight"/>
              <a:cs typeface="Archivo ExtraLight"/>
              <a:sym typeface="Archivo ExtraLight"/>
            </a:endParaRPr>
          </a:p>
        </p:txBody>
      </p:sp>
      <p:sp>
        <p:nvSpPr>
          <p:cNvPr id="220" name="Google Shape;220;p23"/>
          <p:cNvSpPr txBox="1"/>
          <p:nvPr/>
        </p:nvSpPr>
        <p:spPr>
          <a:xfrm>
            <a:off x="5541575" y="4665900"/>
            <a:ext cx="33291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s" sz="900">
                <a:solidFill>
                  <a:srgbClr val="000000"/>
                </a:solidFill>
                <a:latin typeface="Archivo"/>
                <a:ea typeface="Archivo"/>
                <a:cs typeface="Archivo"/>
                <a:sym typeface="Archivo"/>
              </a:rPr>
              <a:t>Seminario de título / </a:t>
            </a:r>
            <a:r>
              <a:rPr lang="es" sz="900">
                <a:solidFill>
                  <a:srgbClr val="000000"/>
                </a:solidFill>
                <a:latin typeface="Archivo ExtraLight"/>
                <a:ea typeface="Archivo ExtraLight"/>
                <a:cs typeface="Archivo ExtraLight"/>
                <a:sym typeface="Archivo ExtraLight"/>
              </a:rPr>
              <a:t>Sergio Majluf - Simón Gallardo</a:t>
            </a:r>
            <a:endParaRPr sz="900">
              <a:solidFill>
                <a:srgbClr val="000000"/>
              </a:solidFill>
              <a:latin typeface="Archivo ExtraLight"/>
              <a:ea typeface="Archivo ExtraLight"/>
              <a:cs typeface="Archivo ExtraLight"/>
              <a:sym typeface="Archivo ExtraLight"/>
            </a:endParaRPr>
          </a:p>
        </p:txBody>
      </p:sp>
      <p:pic>
        <p:nvPicPr>
          <p:cNvPr id="221" name="Google Shape;221;p23"/>
          <p:cNvPicPr preferRelativeResize="0"/>
          <p:nvPr/>
        </p:nvPicPr>
        <p:blipFill>
          <a:blip r:embed="rId3">
            <a:alphaModFix/>
          </a:blip>
          <a:stretch>
            <a:fillRect/>
          </a:stretch>
        </p:blipFill>
        <p:spPr>
          <a:xfrm>
            <a:off x="137600" y="80275"/>
            <a:ext cx="782025" cy="383450"/>
          </a:xfrm>
          <a:prstGeom prst="rect">
            <a:avLst/>
          </a:prstGeom>
          <a:noFill/>
          <a:ln>
            <a:noFill/>
          </a:ln>
        </p:spPr>
      </p:pic>
      <p:graphicFrame>
        <p:nvGraphicFramePr>
          <p:cNvPr id="222" name="Google Shape;222;p23"/>
          <p:cNvGraphicFramePr/>
          <p:nvPr/>
        </p:nvGraphicFramePr>
        <p:xfrm>
          <a:off x="891700" y="646113"/>
          <a:ext cx="3000000" cy="3000000"/>
        </p:xfrm>
        <a:graphic>
          <a:graphicData uri="http://schemas.openxmlformats.org/drawingml/2006/table">
            <a:tbl>
              <a:tblPr>
                <a:noFill/>
                <a:tableStyleId>{40479EF9-A30F-49B2-BF91-3BEF2DDFF63E}</a:tableStyleId>
              </a:tblPr>
              <a:tblGrid>
                <a:gridCol w="1326675"/>
                <a:gridCol w="2304100"/>
                <a:gridCol w="2257525"/>
                <a:gridCol w="1472300"/>
              </a:tblGrid>
              <a:tr h="644525">
                <a:tc>
                  <a:txBody>
                    <a:bodyPr/>
                    <a:lstStyle/>
                    <a:p>
                      <a:pPr indent="0" lvl="0" marL="0" rtl="0" algn="l">
                        <a:lnSpc>
                          <a:spcPct val="115000"/>
                        </a:lnSpc>
                        <a:spcBef>
                          <a:spcPts val="0"/>
                        </a:spcBef>
                        <a:spcAft>
                          <a:spcPts val="0"/>
                        </a:spcAft>
                        <a:buNone/>
                      </a:pPr>
                      <a:r>
                        <a:rPr b="1" lang="es" sz="900">
                          <a:solidFill>
                            <a:srgbClr val="1F1F1F"/>
                          </a:solidFill>
                        </a:rPr>
                        <a:t>Etapa</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900">
                          <a:solidFill>
                            <a:srgbClr val="1F1F1F"/>
                          </a:solidFill>
                        </a:rPr>
                        <a:t>Tareas Clave</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900">
                          <a:solidFill>
                            <a:srgbClr val="1F1F1F"/>
                          </a:solidFill>
                        </a:rPr>
                        <a:t>Resultado Esperado</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s" sz="900">
                          <a:solidFill>
                            <a:srgbClr val="1F1F1F"/>
                          </a:solidFill>
                        </a:rPr>
                        <a:t>Semanas</a:t>
                      </a:r>
                      <a:endParaRPr b="1"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solidFill>
                      <a:srgbClr val="EFEFEF"/>
                    </a:solidFill>
                  </a:tcPr>
                </a:tc>
              </a:tr>
              <a:tr h="626625">
                <a:tc>
                  <a:txBody>
                    <a:bodyPr/>
                    <a:lstStyle/>
                    <a:p>
                      <a:pPr indent="0" lvl="0" marL="0" rtl="0" algn="l">
                        <a:lnSpc>
                          <a:spcPct val="115000"/>
                        </a:lnSpc>
                        <a:spcBef>
                          <a:spcPts val="0"/>
                        </a:spcBef>
                        <a:spcAft>
                          <a:spcPts val="0"/>
                        </a:spcAft>
                        <a:buNone/>
                      </a:pPr>
                      <a:r>
                        <a:rPr b="1" lang="es" sz="900">
                          <a:solidFill>
                            <a:srgbClr val="1F1F1F"/>
                          </a:solidFill>
                        </a:rPr>
                        <a:t>1. Investigación</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Entrevistas a profesionales y levantamiento </a:t>
                      </a:r>
                      <a:r>
                        <a:rPr lang="es" sz="900">
                          <a:solidFill>
                            <a:srgbClr val="1F1F1F"/>
                          </a:solidFill>
                        </a:rPr>
                        <a:t>crítico</a:t>
                      </a:r>
                      <a:r>
                        <a:rPr lang="es" sz="900">
                          <a:solidFill>
                            <a:srgbClr val="1F1F1F"/>
                          </a:solidFill>
                        </a:rPr>
                        <a:t>.</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Matriz de requerimientos técnicos.</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1 - 3</a:t>
                      </a:r>
                      <a:endParaRPr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4525">
                <a:tc>
                  <a:txBody>
                    <a:bodyPr/>
                    <a:lstStyle/>
                    <a:p>
                      <a:pPr indent="0" lvl="0" marL="0" rtl="0" algn="l">
                        <a:lnSpc>
                          <a:spcPct val="115000"/>
                        </a:lnSpc>
                        <a:spcBef>
                          <a:spcPts val="0"/>
                        </a:spcBef>
                        <a:spcAft>
                          <a:spcPts val="0"/>
                        </a:spcAft>
                        <a:buNone/>
                      </a:pPr>
                      <a:r>
                        <a:rPr b="1" lang="es" sz="900">
                          <a:solidFill>
                            <a:srgbClr val="1F1F1F"/>
                          </a:solidFill>
                        </a:rPr>
                        <a:t>2. Ideación Avanzada</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Ideación avanzada y </a:t>
                      </a:r>
                      <a:r>
                        <a:rPr lang="es" sz="900">
                          <a:solidFill>
                            <a:srgbClr val="1F1F1F"/>
                          </a:solidFill>
                        </a:rPr>
                        <a:t>definición</a:t>
                      </a:r>
                      <a:r>
                        <a:rPr lang="es" sz="900">
                          <a:solidFill>
                            <a:srgbClr val="1F1F1F"/>
                          </a:solidFill>
                        </a:rPr>
                        <a:t> material</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Iteraciones de formas del objeto, p</a:t>
                      </a:r>
                      <a:r>
                        <a:rPr lang="es" sz="900">
                          <a:solidFill>
                            <a:srgbClr val="1F1F1F"/>
                          </a:solidFill>
                        </a:rPr>
                        <a:t>lanos de ensamble y esquemas de circuitos.</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4 - 6</a:t>
                      </a:r>
                      <a:endParaRPr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4525">
                <a:tc>
                  <a:txBody>
                    <a:bodyPr/>
                    <a:lstStyle/>
                    <a:p>
                      <a:pPr indent="0" lvl="0" marL="0" rtl="0" algn="l">
                        <a:lnSpc>
                          <a:spcPct val="115000"/>
                        </a:lnSpc>
                        <a:spcBef>
                          <a:spcPts val="0"/>
                        </a:spcBef>
                        <a:spcAft>
                          <a:spcPts val="0"/>
                        </a:spcAft>
                        <a:buNone/>
                      </a:pPr>
                      <a:r>
                        <a:rPr b="1" lang="es" sz="900">
                          <a:solidFill>
                            <a:srgbClr val="1F1F1F"/>
                          </a:solidFill>
                        </a:rPr>
                        <a:t>3. Prototipado</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Programación Arduino y maquetas de estudio de baja fidelidad.</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Prototipo funcional.</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7 - 10</a:t>
                      </a:r>
                      <a:endParaRPr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4525">
                <a:tc>
                  <a:txBody>
                    <a:bodyPr/>
                    <a:lstStyle/>
                    <a:p>
                      <a:pPr indent="0" lvl="0" marL="0" rtl="0" algn="l">
                        <a:lnSpc>
                          <a:spcPct val="115000"/>
                        </a:lnSpc>
                        <a:spcBef>
                          <a:spcPts val="0"/>
                        </a:spcBef>
                        <a:spcAft>
                          <a:spcPts val="0"/>
                        </a:spcAft>
                        <a:buNone/>
                      </a:pPr>
                      <a:r>
                        <a:rPr b="1" lang="es" sz="900">
                          <a:solidFill>
                            <a:srgbClr val="1F1F1F"/>
                          </a:solidFill>
                        </a:rPr>
                        <a:t>4. Testeo y Validación</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Sesiones de prueba con niños (3-8 años) en contexto real.</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Informe de validación y ajustes de umbrales.</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11 - 13</a:t>
                      </a:r>
                      <a:endParaRPr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r h="644525">
                <a:tc>
                  <a:txBody>
                    <a:bodyPr/>
                    <a:lstStyle/>
                    <a:p>
                      <a:pPr indent="0" lvl="0" marL="0" rtl="0" algn="l">
                        <a:lnSpc>
                          <a:spcPct val="115000"/>
                        </a:lnSpc>
                        <a:spcBef>
                          <a:spcPts val="0"/>
                        </a:spcBef>
                        <a:spcAft>
                          <a:spcPts val="0"/>
                        </a:spcAft>
                        <a:buNone/>
                      </a:pPr>
                      <a:r>
                        <a:rPr b="1" lang="es" sz="900">
                          <a:solidFill>
                            <a:srgbClr val="1F1F1F"/>
                          </a:solidFill>
                        </a:rPr>
                        <a:t>5. Desarrollo Final</a:t>
                      </a:r>
                      <a:endParaRPr b="1"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Fabricación de alta fidelidad y cierre de memoria técnica.</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Prototipo final para examen de semestre.</a:t>
                      </a:r>
                      <a:endParaRPr sz="900">
                        <a:solidFill>
                          <a:srgbClr val="1F1F1F"/>
                        </a:solidFill>
                      </a:endParaRPr>
                    </a:p>
                  </a:txBody>
                  <a:tcPr marT="152400" marB="152400" marR="114300"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900">
                          <a:solidFill>
                            <a:srgbClr val="1F1F1F"/>
                          </a:solidFill>
                        </a:rPr>
                        <a:t>14 - 16</a:t>
                      </a:r>
                      <a:endParaRPr sz="900">
                        <a:solidFill>
                          <a:srgbClr val="1F1F1F"/>
                        </a:solidFill>
                      </a:endParaRPr>
                    </a:p>
                  </a:txBody>
                  <a:tcPr marT="152400" marB="152400" marR="91425" marL="91425">
                    <a:lnL cap="flat" cmpd="sng" w="7625">
                      <a:solidFill>
                        <a:srgbClr val="1F1F1F"/>
                      </a:solidFill>
                      <a:prstDash val="solid"/>
                      <a:round/>
                      <a:headEnd len="sm" w="sm" type="none"/>
                      <a:tailEnd len="sm" w="sm" type="none"/>
                    </a:lnL>
                    <a:lnR cap="flat" cmpd="sng" w="7625">
                      <a:solidFill>
                        <a:srgbClr val="1F1F1F"/>
                      </a:solidFill>
                      <a:prstDash val="solid"/>
                      <a:round/>
                      <a:headEnd len="sm" w="sm" type="none"/>
                      <a:tailEnd len="sm" w="sm" type="none"/>
                    </a:lnR>
                    <a:lnT cap="flat" cmpd="sng" w="7625">
                      <a:solidFill>
                        <a:srgbClr val="1F1F1F"/>
                      </a:solidFill>
                      <a:prstDash val="solid"/>
                      <a:round/>
                      <a:headEnd len="sm" w="sm" type="none"/>
                      <a:tailEnd len="sm" w="sm" type="none"/>
                    </a:lnT>
                    <a:lnB cap="flat" cmpd="sng" w="7625">
                      <a:solidFill>
                        <a:srgbClr val="1F1F1F"/>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