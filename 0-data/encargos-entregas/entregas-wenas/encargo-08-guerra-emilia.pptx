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y="5143500" cx="9144000"/>
  <p:notesSz cx="5143500" cy="9144000"/>
  <p:embeddedFontLst>
    <p:embeddedFont>
      <p:font typeface="Google Sans Code"/>
      <p:regular r:id="rId14"/>
      <p:bold r:id="rId15"/>
      <p:italic r:id="rId16"/>
      <p:boldItalic r:id="rId17"/>
    </p:embeddedFont>
    <p:embeddedFont>
      <p:font typeface="Google Sans Code Medium"/>
      <p:regular r:id="rId18"/>
      <p:bold r:id="rId19"/>
      <p:italic r:id="rId20"/>
      <p:boldItalic r:id="rId21"/>
    </p:embeddedFont>
    <p:embeddedFont>
      <p:font typeface="Google Sans Code SemiBold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215">
          <p15:clr>
            <a:srgbClr val="747775"/>
          </p15:clr>
        </p15:guide>
      </p15:sldGuideLst>
    </p:ext>
    <p:ext uri="GoogleSlidesCustomDataVersion2">
      <go:slidesCustomData xmlns:go="http://customooxmlschemas.google.com/" r:id="rId26" roundtripDataSignature="AMtx7mjL6AGOqPaLNo9tTSsIWgNiIM0mNA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3" name="MANUEL GALLARDO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5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GoogleSansCodeMedium-italic.fntdata"/><Relationship Id="rId22" Type="http://schemas.openxmlformats.org/officeDocument/2006/relationships/font" Target="fonts/GoogleSansCodeSemiBold-regular.fntdata"/><Relationship Id="rId21" Type="http://schemas.openxmlformats.org/officeDocument/2006/relationships/font" Target="fonts/GoogleSansCodeMedium-boldItalic.fntdata"/><Relationship Id="rId24" Type="http://schemas.openxmlformats.org/officeDocument/2006/relationships/font" Target="fonts/GoogleSansCodeSemiBold-italic.fntdata"/><Relationship Id="rId23" Type="http://schemas.openxmlformats.org/officeDocument/2006/relationships/font" Target="fonts/GoogleSansCodeSemiBold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commentAuthors" Target="commentAuthors.xml"/><Relationship Id="rId9" Type="http://schemas.openxmlformats.org/officeDocument/2006/relationships/slide" Target="slides/slide3.xml"/><Relationship Id="rId26" Type="http://customschemas.google.com/relationships/presentationmetadata" Target="metadata"/><Relationship Id="rId25" Type="http://schemas.openxmlformats.org/officeDocument/2006/relationships/font" Target="fonts/GoogleSansCodeSemiBold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font" Target="fonts/GoogleSansCode-bold.fntdata"/><Relationship Id="rId14" Type="http://schemas.openxmlformats.org/officeDocument/2006/relationships/font" Target="fonts/GoogleSansCode-regular.fntdata"/><Relationship Id="rId17" Type="http://schemas.openxmlformats.org/officeDocument/2006/relationships/font" Target="fonts/GoogleSansCode-boldItalic.fntdata"/><Relationship Id="rId16" Type="http://schemas.openxmlformats.org/officeDocument/2006/relationships/font" Target="fonts/GoogleSansCode-italic.fntdata"/><Relationship Id="rId19" Type="http://schemas.openxmlformats.org/officeDocument/2006/relationships/font" Target="fonts/GoogleSansCodeMedium-bold.fntdata"/><Relationship Id="rId18" Type="http://schemas.openxmlformats.org/officeDocument/2006/relationships/font" Target="fonts/GoogleSansCodeMedium-regular.fntdata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6-04-01T14:22:32.403">
    <p:pos x="6000" y="0"/>
    <p:text>Faltan datos de politica legislativa en chile.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25gtOS0"/>
      </p:ext>
    </p:extLst>
  </p:cm>
  <p:cm authorId="0" idx="2" dt="2026-04-01T14:20:05.841">
    <p:pos x="6000" y="0"/>
    <p:text>enfoque historiográfico.</p:text>
    <p:extLst>
      <p:ext uri="{C676402C-5697-4E1C-873F-D02D1690AC5C}">
        <p15:threadingInfo timeZoneBias="0">
          <p15:parentCm authorId="0" idx="1"/>
        </p15:threadingInfo>
      </p:ext>
      <p:ext uri="http://customooxmlschemas.google.com/">
        <go:slidesCustomData xmlns:go="http://customooxmlschemas.google.com/" commentPostId="AAAB25guDuE"/>
      </p:ext>
    </p:extLst>
  </p:cm>
  <p:cm authorId="0" idx="3" dt="2026-04-01T14:22:32.403">
    <p:pos x="6000" y="0"/>
    <p:text>exposiciones que lo han tratado</p:text>
    <p:extLst>
      <p:ext uri="{C676402C-5697-4E1C-873F-D02D1690AC5C}">
        <p15:threadingInfo timeZoneBias="0">
          <p15:parentCm authorId="0" idx="1"/>
        </p15:threadingInfo>
      </p:ext>
      <p:ext uri="http://customooxmlschemas.google.com/">
        <go:slidesCustomData xmlns:go="http://customooxmlschemas.google.com/" commentPostId="AAAB25guDuI"/>
      </p:ext>
    </p:extLs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g396abedea2a_0_9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" name="Google Shape;24;g396abedea2a_0_9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" name="Google Shape;25;g396abedea2a_0_9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3e16b8a9a1b_0_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" name="Google Shape;39;g3e16b8a9a1b_0_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" name="Google Shape;40;g3e16b8a9a1b_0_2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e16b8a9a1b_0_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g3e16b8a9a1b_0_4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" name="Google Shape;53;g3e16b8a9a1b_0_4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96abedea2a_0_2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g396abedea2a_0_2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4" name="Google Shape;84;g396abedea2a_0_21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e16b8a9a1b_0_1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g3e16b8a9a1b_0_13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3" name="Google Shape;93;g3e16b8a9a1b_0_13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e16b8a9a1b_0_1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e16b8a9a1b_0_14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g3e16b8a9a1b_0_14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comments" Target="../comments/comment1.xml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1005825" y="1700075"/>
            <a:ext cx="59436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5200"/>
              <a:buFont typeface="Arial Black"/>
              <a:buNone/>
            </a:pPr>
            <a:r>
              <a:rPr b="1" lang="en-US" sz="5200">
                <a:solidFill>
                  <a:srgbClr val="111111"/>
                </a:solidFill>
                <a:highlight>
                  <a:srgbClr val="D4F53C"/>
                </a:highlight>
                <a:latin typeface="Google Sans Code"/>
                <a:ea typeface="Google Sans Code"/>
                <a:cs typeface="Google Sans Code"/>
                <a:sym typeface="Google Sans Code"/>
              </a:rPr>
              <a:t>RASTRO</a:t>
            </a:r>
            <a:endParaRPr b="1" i="0" sz="5200" u="none" cap="none" strike="noStrike">
              <a:solidFill>
                <a:schemeClr val="dk1"/>
              </a:solidFill>
              <a:highlight>
                <a:srgbClr val="D4F53C"/>
              </a:highlight>
              <a:latin typeface="Google Sans Code"/>
              <a:ea typeface="Google Sans Code"/>
              <a:cs typeface="Google Sans Code"/>
              <a:sym typeface="Google Sans Code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236400" y="176365"/>
            <a:ext cx="2103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111111"/>
                </a:solidFill>
                <a:latin typeface="Google Sans Code"/>
                <a:ea typeface="Google Sans Code"/>
                <a:cs typeface="Google Sans Code"/>
                <a:sym typeface="Google Sans Code"/>
              </a:rPr>
              <a:t>E0</a:t>
            </a:r>
            <a:r>
              <a:rPr lang="en-US" sz="1000">
                <a:solidFill>
                  <a:srgbClr val="111111"/>
                </a:solidFill>
                <a:latin typeface="Google Sans Code"/>
                <a:ea typeface="Google Sans Code"/>
                <a:cs typeface="Google Sans Code"/>
                <a:sym typeface="Google Sans Code"/>
              </a:rPr>
              <a:t>8</a:t>
            </a:r>
            <a:endParaRPr b="0" i="0" sz="1000" u="none" cap="none" strike="noStrike">
              <a:solidFill>
                <a:schemeClr val="dk1"/>
              </a:solidFill>
              <a:latin typeface="Google Sans Code"/>
              <a:ea typeface="Google Sans Code"/>
              <a:cs typeface="Google Sans Code"/>
              <a:sym typeface="Google Sans Code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1054550" y="2527934"/>
            <a:ext cx="4221300" cy="10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111111"/>
                </a:solidFill>
                <a:latin typeface="Google Sans Code Medium"/>
                <a:ea typeface="Google Sans Code Medium"/>
                <a:cs typeface="Google Sans Code Medium"/>
                <a:sym typeface="Google Sans Code Medium"/>
              </a:rPr>
              <a:t>ARQUEOLOGÍA DE MEDIOS PHYGITAL PARA LA CONCIENCIA CORPORAL SOBRE LA EXTRACCIÓN INVISIBLE DE DATOS</a:t>
            </a:r>
            <a:endParaRPr i="0" sz="1000" u="none" cap="none" strike="noStrike">
              <a:solidFill>
                <a:schemeClr val="dk1"/>
              </a:solidFill>
              <a:latin typeface="Google Sans Code Medium"/>
              <a:ea typeface="Google Sans Code Medium"/>
              <a:cs typeface="Google Sans Code Medium"/>
              <a:sym typeface="Google Sans Code Medium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6800625" y="4709340"/>
            <a:ext cx="2103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111111"/>
                </a:solidFill>
                <a:latin typeface="Google Sans Code"/>
                <a:ea typeface="Google Sans Code"/>
                <a:cs typeface="Google Sans Code"/>
                <a:sym typeface="Google Sans Code"/>
              </a:rPr>
              <a:t>EMILIA GUERRA</a:t>
            </a:r>
            <a:endParaRPr b="0" i="0" sz="1000" u="none" cap="none" strike="noStrike">
              <a:solidFill>
                <a:schemeClr val="dk1"/>
              </a:solidFill>
              <a:latin typeface="Google Sans Code"/>
              <a:ea typeface="Google Sans Code"/>
              <a:cs typeface="Google Sans Code"/>
              <a:sym typeface="Google Sans Code"/>
            </a:endParaRPr>
          </a:p>
        </p:txBody>
      </p:sp>
      <p:pic>
        <p:nvPicPr>
          <p:cNvPr id="20" name="Google Shape;20;p1" title="faad_lockupsArtboard 1@2x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26754" y="277600"/>
            <a:ext cx="1003397" cy="34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1"/>
          <p:cNvSpPr/>
          <p:nvPr/>
        </p:nvSpPr>
        <p:spPr>
          <a:xfrm>
            <a:off x="236400" y="4709340"/>
            <a:ext cx="2103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111111"/>
                </a:solidFill>
                <a:latin typeface="Google Sans Code"/>
                <a:ea typeface="Google Sans Code"/>
                <a:cs typeface="Google Sans Code"/>
                <a:sym typeface="Google Sans Code"/>
              </a:rPr>
              <a:t>SEMINARIO DE TÍTULO</a:t>
            </a:r>
            <a:endParaRPr b="0" i="0" sz="1000" u="none" cap="none" strike="noStrike">
              <a:solidFill>
                <a:schemeClr val="dk1"/>
              </a:solidFill>
              <a:latin typeface="Google Sans Code"/>
              <a:ea typeface="Google Sans Code"/>
              <a:cs typeface="Google Sans Code"/>
              <a:sym typeface="Google Sans Cod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g396abedea2a_0_90"/>
          <p:cNvSpPr/>
          <p:nvPr/>
        </p:nvSpPr>
        <p:spPr>
          <a:xfrm>
            <a:off x="6082725" y="1159200"/>
            <a:ext cx="2818800" cy="2825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11111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g396abedea2a_0_90"/>
          <p:cNvSpPr/>
          <p:nvPr/>
        </p:nvSpPr>
        <p:spPr>
          <a:xfrm>
            <a:off x="3167150" y="1159200"/>
            <a:ext cx="2818800" cy="2825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11111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g396abedea2a_0_90"/>
          <p:cNvSpPr/>
          <p:nvPr/>
        </p:nvSpPr>
        <p:spPr>
          <a:xfrm>
            <a:off x="242475" y="1159200"/>
            <a:ext cx="2818800" cy="2825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11111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g396abedea2a_0_90"/>
          <p:cNvSpPr/>
          <p:nvPr/>
        </p:nvSpPr>
        <p:spPr>
          <a:xfrm>
            <a:off x="417613" y="1331650"/>
            <a:ext cx="2069100" cy="33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9025" lIns="138125" spcFirstLastPara="1" rIns="138125" wrap="square" tIns="69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F53C"/>
              </a:buClr>
              <a:buSzPts val="1133"/>
              <a:buFont typeface="Arial"/>
              <a:buNone/>
            </a:pPr>
            <a:r>
              <a:rPr b="1" lang="en-US" sz="1233">
                <a:solidFill>
                  <a:schemeClr val="dk1"/>
                </a:solidFill>
                <a:highlight>
                  <a:srgbClr val="D4F53C"/>
                </a:highlight>
                <a:latin typeface="Google Sans Code"/>
                <a:ea typeface="Google Sans Code"/>
                <a:cs typeface="Google Sans Code"/>
                <a:sym typeface="Google Sans Code"/>
              </a:rPr>
              <a:t>POV (POINT OF VIEW)</a:t>
            </a:r>
            <a:endParaRPr b="0" i="0" sz="1233" u="none" cap="none" strike="noStrike">
              <a:solidFill>
                <a:schemeClr val="dk1"/>
              </a:solidFill>
              <a:latin typeface="Google Sans Code"/>
              <a:ea typeface="Google Sans Code"/>
              <a:cs typeface="Google Sans Code"/>
              <a:sym typeface="Google Sans Code"/>
            </a:endParaRPr>
          </a:p>
        </p:txBody>
      </p:sp>
      <p:sp>
        <p:nvSpPr>
          <p:cNvPr id="31" name="Google Shape;31;g396abedea2a_0_90"/>
          <p:cNvSpPr/>
          <p:nvPr/>
        </p:nvSpPr>
        <p:spPr>
          <a:xfrm>
            <a:off x="5857666" y="1331651"/>
            <a:ext cx="2208600" cy="33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9000" lIns="138050" spcFirstLastPara="1" rIns="138050" wrap="square" tIns="69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F53C"/>
              </a:buClr>
              <a:buSzPts val="1132"/>
              <a:buFont typeface="Arial"/>
              <a:buNone/>
            </a:pPr>
            <a:r>
              <a:rPr b="1" lang="en-US" sz="1232">
                <a:solidFill>
                  <a:schemeClr val="dk1"/>
                </a:solidFill>
                <a:highlight>
                  <a:srgbClr val="D4F53C"/>
                </a:highlight>
                <a:latin typeface="Google Sans Code"/>
                <a:ea typeface="Google Sans Code"/>
                <a:cs typeface="Google Sans Code"/>
                <a:sym typeface="Google Sans Code"/>
              </a:rPr>
              <a:t>OBJ. GENERAL</a:t>
            </a:r>
            <a:endParaRPr b="0" i="0" sz="1232" u="none" cap="none" strike="noStrike">
              <a:solidFill>
                <a:schemeClr val="dk1"/>
              </a:solidFill>
              <a:latin typeface="Google Sans Code"/>
              <a:ea typeface="Google Sans Code"/>
              <a:cs typeface="Google Sans Code"/>
              <a:sym typeface="Google Sans Code"/>
            </a:endParaRPr>
          </a:p>
        </p:txBody>
      </p:sp>
      <p:sp>
        <p:nvSpPr>
          <p:cNvPr id="32" name="Google Shape;32;g396abedea2a_0_90"/>
          <p:cNvSpPr/>
          <p:nvPr/>
        </p:nvSpPr>
        <p:spPr>
          <a:xfrm>
            <a:off x="2835735" y="1331658"/>
            <a:ext cx="2208600" cy="33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9000" lIns="138050" spcFirstLastPara="1" rIns="138050" wrap="square" tIns="69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F53C"/>
              </a:buClr>
              <a:buSzPts val="1132"/>
              <a:buFont typeface="Arial"/>
              <a:buNone/>
            </a:pPr>
            <a:r>
              <a:rPr b="1" lang="en-US" sz="1232">
                <a:solidFill>
                  <a:schemeClr val="dk1"/>
                </a:solidFill>
                <a:highlight>
                  <a:srgbClr val="D4F53C"/>
                </a:highlight>
                <a:latin typeface="Google Sans Code"/>
                <a:ea typeface="Google Sans Code"/>
                <a:cs typeface="Google Sans Code"/>
                <a:sym typeface="Google Sans Code"/>
              </a:rPr>
              <a:t>HIPÓTESIS</a:t>
            </a:r>
            <a:endParaRPr b="0" i="0" sz="1232" u="none" cap="none" strike="noStrike">
              <a:solidFill>
                <a:schemeClr val="dk1"/>
              </a:solidFill>
              <a:latin typeface="Google Sans Code"/>
              <a:ea typeface="Google Sans Code"/>
              <a:cs typeface="Google Sans Code"/>
              <a:sym typeface="Google Sans Code"/>
            </a:endParaRPr>
          </a:p>
        </p:txBody>
      </p:sp>
      <p:pic>
        <p:nvPicPr>
          <p:cNvPr id="33" name="Google Shape;33;g396abedea2a_0_90" title="faad_lockupsArtboard 1@2x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26754" y="277600"/>
            <a:ext cx="1003397" cy="34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g396abedea2a_0_90"/>
          <p:cNvSpPr txBox="1"/>
          <p:nvPr/>
        </p:nvSpPr>
        <p:spPr>
          <a:xfrm>
            <a:off x="479075" y="1771200"/>
            <a:ext cx="2439300" cy="21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Google Sans Code"/>
                <a:ea typeface="Google Sans Code"/>
                <a:cs typeface="Google Sans Code"/>
                <a:sym typeface="Google Sans Code"/>
              </a:rPr>
              <a:t>Un joven adulto, que ha </a:t>
            </a:r>
            <a:r>
              <a:rPr lang="en-US" sz="1000">
                <a:latin typeface="Google Sans Code SemiBold"/>
                <a:ea typeface="Google Sans Code SemiBold"/>
                <a:cs typeface="Google Sans Code SemiBold"/>
                <a:sym typeface="Google Sans Code SemiBold"/>
              </a:rPr>
              <a:t>normalizado la entrega de datos como condición de existencia digital</a:t>
            </a:r>
            <a:r>
              <a:rPr lang="en-US" sz="1000">
                <a:latin typeface="Google Sans Code"/>
                <a:ea typeface="Google Sans Code"/>
                <a:cs typeface="Google Sans Code"/>
                <a:sym typeface="Google Sans Code"/>
              </a:rPr>
              <a:t>, debe percibir físicamente ésta extracción irreversible, ya que </a:t>
            </a:r>
            <a:r>
              <a:rPr lang="en-US" sz="1000">
                <a:latin typeface="Google Sans Code SemiBold"/>
                <a:ea typeface="Google Sans Code SemiBold"/>
                <a:cs typeface="Google Sans Code SemiBold"/>
                <a:sym typeface="Google Sans Code SemiBold"/>
              </a:rPr>
              <a:t>los sistemas están diseñados para operar sin generar estímulos corporales.</a:t>
            </a:r>
            <a:r>
              <a:rPr lang="en-US" sz="1000">
                <a:latin typeface="Google Sans Code"/>
                <a:ea typeface="Google Sans Code"/>
                <a:cs typeface="Google Sans Code"/>
                <a:sym typeface="Google Sans Code"/>
              </a:rPr>
              <a:t> Lo que no se siente, no puede confrontarse ni recuperarse. </a:t>
            </a:r>
            <a:endParaRPr>
              <a:latin typeface="Google Sans Code"/>
              <a:ea typeface="Google Sans Code"/>
              <a:cs typeface="Google Sans Code"/>
              <a:sym typeface="Google Sans Code"/>
            </a:endParaRPr>
          </a:p>
        </p:txBody>
      </p:sp>
      <p:sp>
        <p:nvSpPr>
          <p:cNvPr id="35" name="Google Shape;35;g396abedea2a_0_90"/>
          <p:cNvSpPr txBox="1"/>
          <p:nvPr/>
        </p:nvSpPr>
        <p:spPr>
          <a:xfrm>
            <a:off x="3418375" y="1771200"/>
            <a:ext cx="24393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Google Sans Code"/>
                <a:ea typeface="Google Sans Code"/>
                <a:cs typeface="Google Sans Code"/>
                <a:sym typeface="Google Sans Code"/>
              </a:rPr>
              <a:t>Si la extracción de datos se traduce en estímulos corporales perceptibles mediante un objeto phygital situado en la vida cotidiana del usuario, </a:t>
            </a:r>
            <a:r>
              <a:rPr lang="en-US" sz="1000">
                <a:latin typeface="Google Sans Code SemiBold"/>
                <a:ea typeface="Google Sans Code SemiBold"/>
                <a:cs typeface="Google Sans Code SemiBold"/>
                <a:sym typeface="Google Sans Code SemiBold"/>
              </a:rPr>
              <a:t>entonces este transitará de la resignación informada hacia una conciencia corporal activa</a:t>
            </a:r>
            <a:endParaRPr>
              <a:latin typeface="Google Sans Code SemiBold"/>
              <a:ea typeface="Google Sans Code SemiBold"/>
              <a:cs typeface="Google Sans Code SemiBold"/>
              <a:sym typeface="Google Sans Code SemiBold"/>
            </a:endParaRPr>
          </a:p>
        </p:txBody>
      </p:sp>
      <p:sp>
        <p:nvSpPr>
          <p:cNvPr id="36" name="Google Shape;36;g396abedea2a_0_90"/>
          <p:cNvSpPr txBox="1"/>
          <p:nvPr/>
        </p:nvSpPr>
        <p:spPr>
          <a:xfrm>
            <a:off x="6295375" y="1771200"/>
            <a:ext cx="24393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Google Sans Code"/>
                <a:ea typeface="Google Sans Code"/>
                <a:cs typeface="Google Sans Code"/>
                <a:sym typeface="Google Sans Code"/>
              </a:rPr>
              <a:t>Transformar la relación del usuario con la vigilancia digital; de resignación informada a conciencia corporal activa mediante un </a:t>
            </a:r>
            <a:r>
              <a:rPr lang="en-US" sz="1000">
                <a:latin typeface="Google Sans Code SemiBold"/>
                <a:ea typeface="Google Sans Code SemiBold"/>
                <a:cs typeface="Google Sans Code SemiBold"/>
                <a:sym typeface="Google Sans Code SemiBold"/>
              </a:rPr>
              <a:t>objeto phygital que devuelva al cuerpo la información que el sistema mantiene deliberadamente invisible</a:t>
            </a:r>
            <a:endParaRPr sz="1000">
              <a:latin typeface="Google Sans Code SemiBold"/>
              <a:ea typeface="Google Sans Code SemiBold"/>
              <a:cs typeface="Google Sans Code SemiBold"/>
              <a:sym typeface="Google Sans Code Semi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3e16b8a9a1b_0_26"/>
          <p:cNvSpPr/>
          <p:nvPr/>
        </p:nvSpPr>
        <p:spPr>
          <a:xfrm>
            <a:off x="515613" y="1288350"/>
            <a:ext cx="2069100" cy="33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9025" lIns="138125" spcFirstLastPara="1" rIns="138125" wrap="square" tIns="69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F53C"/>
              </a:buClr>
              <a:buSzPts val="1133"/>
              <a:buFont typeface="Arial"/>
              <a:buNone/>
            </a:pPr>
            <a:r>
              <a:rPr b="1" lang="en-US" sz="1933">
                <a:solidFill>
                  <a:schemeClr val="dk1"/>
                </a:solidFill>
                <a:highlight>
                  <a:srgbClr val="D4F53C"/>
                </a:highlight>
                <a:latin typeface="Google Sans Code"/>
                <a:ea typeface="Google Sans Code"/>
                <a:cs typeface="Google Sans Code"/>
                <a:sym typeface="Google Sans Code"/>
              </a:rPr>
              <a:t>01</a:t>
            </a:r>
            <a:endParaRPr b="0" i="0" sz="1933" u="none" cap="none" strike="noStrike">
              <a:solidFill>
                <a:schemeClr val="dk1"/>
              </a:solidFill>
              <a:latin typeface="Google Sans Code"/>
              <a:ea typeface="Google Sans Code"/>
              <a:cs typeface="Google Sans Code"/>
              <a:sym typeface="Google Sans Code"/>
            </a:endParaRPr>
          </a:p>
        </p:txBody>
      </p:sp>
      <p:pic>
        <p:nvPicPr>
          <p:cNvPr id="43" name="Google Shape;43;g3e16b8a9a1b_0_26" title="faad_lockupsArtboard 1@2x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26754" y="277600"/>
            <a:ext cx="1003397" cy="348600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g3e16b8a9a1b_0_26"/>
          <p:cNvSpPr txBox="1"/>
          <p:nvPr/>
        </p:nvSpPr>
        <p:spPr>
          <a:xfrm>
            <a:off x="515625" y="1684625"/>
            <a:ext cx="24393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Google Sans Code Medium"/>
                <a:ea typeface="Google Sans Code Medium"/>
                <a:cs typeface="Google Sans Code Medium"/>
                <a:sym typeface="Google Sans Code Medium"/>
              </a:rPr>
              <a:t>¿Cómo podríamos hacer que una persona experimente en su propio cuerpo la pérdida de control sobre algo que le pertenece pero que ya no puede recuperar?</a:t>
            </a:r>
            <a:endParaRPr i="0" sz="1100" u="none" cap="none" strike="noStrike">
              <a:solidFill>
                <a:srgbClr val="000000"/>
              </a:solidFill>
              <a:latin typeface="Google Sans Code Medium"/>
              <a:ea typeface="Google Sans Code Medium"/>
              <a:cs typeface="Google Sans Code Medium"/>
              <a:sym typeface="Google Sans Code Medium"/>
            </a:endParaRPr>
          </a:p>
        </p:txBody>
      </p:sp>
      <p:sp>
        <p:nvSpPr>
          <p:cNvPr id="45" name="Google Shape;45;g3e16b8a9a1b_0_26"/>
          <p:cNvSpPr/>
          <p:nvPr/>
        </p:nvSpPr>
        <p:spPr>
          <a:xfrm>
            <a:off x="232527" y="465775"/>
            <a:ext cx="2439300" cy="33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9025" lIns="138125" spcFirstLastPara="1" rIns="138125" wrap="square" tIns="69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F53C"/>
              </a:buClr>
              <a:buSzPts val="1133"/>
              <a:buFont typeface="Arial"/>
              <a:buNone/>
            </a:pPr>
            <a:r>
              <a:rPr b="1" lang="en-US" sz="1833">
                <a:solidFill>
                  <a:schemeClr val="dk1"/>
                </a:solidFill>
                <a:highlight>
                  <a:srgbClr val="D4F53C"/>
                </a:highlight>
                <a:latin typeface="Google Sans Code"/>
                <a:ea typeface="Google Sans Code"/>
                <a:cs typeface="Google Sans Code"/>
                <a:sym typeface="Google Sans Code"/>
              </a:rPr>
              <a:t>HOW MIGHT WE?</a:t>
            </a:r>
            <a:endParaRPr b="0" i="0" sz="1833" u="none" cap="none" strike="noStrike">
              <a:solidFill>
                <a:schemeClr val="dk1"/>
              </a:solidFill>
              <a:latin typeface="Google Sans Code"/>
              <a:ea typeface="Google Sans Code"/>
              <a:cs typeface="Google Sans Code"/>
              <a:sym typeface="Google Sans Code"/>
            </a:endParaRPr>
          </a:p>
        </p:txBody>
      </p:sp>
      <p:sp>
        <p:nvSpPr>
          <p:cNvPr id="46" name="Google Shape;46;g3e16b8a9a1b_0_26"/>
          <p:cNvSpPr/>
          <p:nvPr/>
        </p:nvSpPr>
        <p:spPr>
          <a:xfrm>
            <a:off x="3336538" y="2146450"/>
            <a:ext cx="2069100" cy="33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9025" lIns="138125" spcFirstLastPara="1" rIns="138125" wrap="square" tIns="69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F53C"/>
              </a:buClr>
              <a:buSzPts val="1133"/>
              <a:buFont typeface="Arial"/>
              <a:buNone/>
            </a:pPr>
            <a:r>
              <a:rPr b="1" lang="en-US" sz="1900">
                <a:solidFill>
                  <a:schemeClr val="dk1"/>
                </a:solidFill>
                <a:highlight>
                  <a:srgbClr val="D4F53C"/>
                </a:highlight>
                <a:latin typeface="Google Sans Code"/>
                <a:ea typeface="Google Sans Code"/>
                <a:cs typeface="Google Sans Code"/>
                <a:sym typeface="Google Sans Code"/>
              </a:rPr>
              <a:t>02</a:t>
            </a:r>
            <a:endParaRPr b="0" i="0" sz="1900" u="none" cap="none" strike="noStrike">
              <a:solidFill>
                <a:schemeClr val="dk1"/>
              </a:solidFill>
              <a:latin typeface="Google Sans Code"/>
              <a:ea typeface="Google Sans Code"/>
              <a:cs typeface="Google Sans Code"/>
              <a:sym typeface="Google Sans Code"/>
            </a:endParaRPr>
          </a:p>
        </p:txBody>
      </p:sp>
      <p:sp>
        <p:nvSpPr>
          <p:cNvPr id="47" name="Google Shape;47;g3e16b8a9a1b_0_26"/>
          <p:cNvSpPr txBox="1"/>
          <p:nvPr/>
        </p:nvSpPr>
        <p:spPr>
          <a:xfrm>
            <a:off x="3398000" y="2586000"/>
            <a:ext cx="2439300" cy="13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Google Sans Code Medium"/>
                <a:ea typeface="Google Sans Code Medium"/>
                <a:cs typeface="Google Sans Code Medium"/>
                <a:sym typeface="Google Sans Code Medium"/>
              </a:rPr>
              <a:t>¿Cómo podríamos convertir un proceso imperceptible en una experiencia que active una respuesta emocional antes de que la mente lo procese intelectualmente?</a:t>
            </a:r>
            <a:endParaRPr sz="1100">
              <a:latin typeface="Google Sans Code Medium"/>
              <a:ea typeface="Google Sans Code Medium"/>
              <a:cs typeface="Google Sans Code Medium"/>
              <a:sym typeface="Google Sans Code Medium"/>
            </a:endParaRPr>
          </a:p>
        </p:txBody>
      </p:sp>
      <p:sp>
        <p:nvSpPr>
          <p:cNvPr id="48" name="Google Shape;48;g3e16b8a9a1b_0_26"/>
          <p:cNvSpPr/>
          <p:nvPr/>
        </p:nvSpPr>
        <p:spPr>
          <a:xfrm>
            <a:off x="6127613" y="2885225"/>
            <a:ext cx="2069100" cy="33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9025" lIns="138125" spcFirstLastPara="1" rIns="138125" wrap="square" tIns="69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F53C"/>
              </a:buClr>
              <a:buSzPts val="1133"/>
              <a:buFont typeface="Arial"/>
              <a:buNone/>
            </a:pPr>
            <a:r>
              <a:rPr b="1" lang="en-US" sz="1900">
                <a:solidFill>
                  <a:schemeClr val="dk1"/>
                </a:solidFill>
                <a:highlight>
                  <a:srgbClr val="D4F53C"/>
                </a:highlight>
                <a:latin typeface="Google Sans Code"/>
                <a:ea typeface="Google Sans Code"/>
                <a:cs typeface="Google Sans Code"/>
                <a:sym typeface="Google Sans Code"/>
              </a:rPr>
              <a:t>03</a:t>
            </a:r>
            <a:endParaRPr b="0" i="0" sz="1900" u="none" cap="none" strike="noStrike">
              <a:solidFill>
                <a:schemeClr val="dk1"/>
              </a:solidFill>
              <a:latin typeface="Google Sans Code"/>
              <a:ea typeface="Google Sans Code"/>
              <a:cs typeface="Google Sans Code"/>
              <a:sym typeface="Google Sans Code"/>
            </a:endParaRPr>
          </a:p>
        </p:txBody>
      </p:sp>
      <p:sp>
        <p:nvSpPr>
          <p:cNvPr id="49" name="Google Shape;49;g3e16b8a9a1b_0_26"/>
          <p:cNvSpPr txBox="1"/>
          <p:nvPr/>
        </p:nvSpPr>
        <p:spPr>
          <a:xfrm>
            <a:off x="6189075" y="3324775"/>
            <a:ext cx="24393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Google Sans Code Medium"/>
                <a:ea typeface="Google Sans Code Medium"/>
                <a:cs typeface="Google Sans Code Medium"/>
                <a:sym typeface="Google Sans Code Medium"/>
              </a:rPr>
              <a:t>¿Cómo resignificar las mismas herramientas de extracción para devolver al usuario información sobre lo que el sistema hace con él?</a:t>
            </a:r>
            <a:endParaRPr sz="1100">
              <a:latin typeface="Google Sans Code Medium"/>
              <a:ea typeface="Google Sans Code Medium"/>
              <a:cs typeface="Google Sans Code Medium"/>
              <a:sym typeface="Google Sans Code Medium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g3e16b8a9a1b_0_49" title="faad_lockupsArtboard 1@2x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26754" y="277600"/>
            <a:ext cx="1003397" cy="34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g3e16b8a9a1b_0_49"/>
          <p:cNvSpPr/>
          <p:nvPr/>
        </p:nvSpPr>
        <p:spPr>
          <a:xfrm>
            <a:off x="342027" y="465775"/>
            <a:ext cx="2439300" cy="33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9025" lIns="138125" spcFirstLastPara="1" rIns="138125" wrap="square" tIns="69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F53C"/>
              </a:buClr>
              <a:buSzPts val="1133"/>
              <a:buFont typeface="Arial"/>
              <a:buNone/>
            </a:pPr>
            <a:r>
              <a:rPr b="1" lang="en-US" sz="1833">
                <a:solidFill>
                  <a:schemeClr val="dk1"/>
                </a:solidFill>
                <a:highlight>
                  <a:srgbClr val="D4F53C"/>
                </a:highlight>
                <a:latin typeface="Google Sans Code"/>
                <a:ea typeface="Google Sans Code"/>
                <a:cs typeface="Google Sans Code"/>
                <a:sym typeface="Google Sans Code"/>
              </a:rPr>
              <a:t>CAMPO DE IDEAS</a:t>
            </a:r>
            <a:endParaRPr b="0" i="0" sz="1833" u="none" cap="none" strike="noStrike">
              <a:solidFill>
                <a:schemeClr val="dk1"/>
              </a:solidFill>
              <a:latin typeface="Google Sans Code"/>
              <a:ea typeface="Google Sans Code"/>
              <a:cs typeface="Google Sans Code"/>
              <a:sym typeface="Google Sans Code"/>
            </a:endParaRPr>
          </a:p>
        </p:txBody>
      </p:sp>
      <p:sp>
        <p:nvSpPr>
          <p:cNvPr id="57" name="Google Shape;57;g3e16b8a9a1b_0_49"/>
          <p:cNvSpPr/>
          <p:nvPr/>
        </p:nvSpPr>
        <p:spPr>
          <a:xfrm>
            <a:off x="5581324" y="1195950"/>
            <a:ext cx="2030100" cy="3566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g3e16b8a9a1b_0_49"/>
          <p:cNvSpPr/>
          <p:nvPr/>
        </p:nvSpPr>
        <p:spPr>
          <a:xfrm>
            <a:off x="3551224" y="1195950"/>
            <a:ext cx="2030100" cy="3566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Google Sans Code"/>
              <a:ea typeface="Google Sans Code"/>
              <a:cs typeface="Google Sans Code"/>
              <a:sym typeface="Google Sans Code"/>
            </a:endParaRPr>
          </a:p>
        </p:txBody>
      </p:sp>
      <p:sp>
        <p:nvSpPr>
          <p:cNvPr id="59" name="Google Shape;59;g3e16b8a9a1b_0_49"/>
          <p:cNvSpPr/>
          <p:nvPr/>
        </p:nvSpPr>
        <p:spPr>
          <a:xfrm>
            <a:off x="1521124" y="1195950"/>
            <a:ext cx="2030100" cy="3566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g3e16b8a9a1b_0_49"/>
          <p:cNvSpPr/>
          <p:nvPr/>
        </p:nvSpPr>
        <p:spPr>
          <a:xfrm>
            <a:off x="8503920" y="4846320"/>
            <a:ext cx="5487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999990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g3e16b8a9a1b_0_49"/>
          <p:cNvSpPr txBox="1"/>
          <p:nvPr/>
        </p:nvSpPr>
        <p:spPr>
          <a:xfrm>
            <a:off x="1524875" y="1195950"/>
            <a:ext cx="1876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lang="en-US" sz="900">
                <a:solidFill>
                  <a:schemeClr val="dk1"/>
                </a:solidFill>
                <a:highlight>
                  <a:srgbClr val="D4F53C"/>
                </a:highlight>
                <a:latin typeface="Google Sans Code"/>
                <a:ea typeface="Google Sans Code"/>
                <a:cs typeface="Google Sans Code"/>
                <a:sym typeface="Google Sans Code"/>
              </a:rPr>
              <a:t>ACUMULACIÓN IRREVERSIBLE</a:t>
            </a:r>
            <a:endParaRPr b="0" i="0" sz="1200" u="none" cap="none" strike="noStrike">
              <a:solidFill>
                <a:srgbClr val="000000"/>
              </a:solidFill>
              <a:latin typeface="Google Sans Code"/>
              <a:ea typeface="Google Sans Code"/>
              <a:cs typeface="Google Sans Code"/>
              <a:sym typeface="Google Sans Code"/>
            </a:endParaRPr>
          </a:p>
        </p:txBody>
      </p:sp>
      <p:cxnSp>
        <p:nvCxnSpPr>
          <p:cNvPr id="62" name="Google Shape;62;g3e16b8a9a1b_0_49"/>
          <p:cNvCxnSpPr/>
          <p:nvPr/>
        </p:nvCxnSpPr>
        <p:spPr>
          <a:xfrm>
            <a:off x="1524875" y="2337701"/>
            <a:ext cx="6082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63" name="Google Shape;63;g3e16b8a9a1b_0_49"/>
          <p:cNvCxnSpPr/>
          <p:nvPr/>
        </p:nvCxnSpPr>
        <p:spPr>
          <a:xfrm>
            <a:off x="1518875" y="3589800"/>
            <a:ext cx="6094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64" name="Google Shape;64;g3e16b8a9a1b_0_49"/>
          <p:cNvSpPr txBox="1"/>
          <p:nvPr/>
        </p:nvSpPr>
        <p:spPr>
          <a:xfrm>
            <a:off x="3553100" y="1195950"/>
            <a:ext cx="1876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lang="en-US" sz="900">
                <a:solidFill>
                  <a:schemeClr val="dk1"/>
                </a:solidFill>
                <a:highlight>
                  <a:srgbClr val="D4F53C"/>
                </a:highlight>
                <a:latin typeface="Google Sans Code"/>
                <a:ea typeface="Google Sans Code"/>
                <a:cs typeface="Google Sans Code"/>
                <a:sym typeface="Google Sans Code"/>
              </a:rPr>
              <a:t>PULSO</a:t>
            </a:r>
            <a:endParaRPr b="0" i="0" sz="1200" u="none" cap="none" strike="noStrike">
              <a:solidFill>
                <a:srgbClr val="000000"/>
              </a:solidFill>
              <a:latin typeface="Google Sans Code"/>
              <a:ea typeface="Google Sans Code"/>
              <a:cs typeface="Google Sans Code"/>
              <a:sym typeface="Google Sans Code"/>
            </a:endParaRPr>
          </a:p>
        </p:txBody>
      </p:sp>
      <p:sp>
        <p:nvSpPr>
          <p:cNvPr id="65" name="Google Shape;65;g3e16b8a9a1b_0_49"/>
          <p:cNvSpPr txBox="1"/>
          <p:nvPr/>
        </p:nvSpPr>
        <p:spPr>
          <a:xfrm>
            <a:off x="5581325" y="1195950"/>
            <a:ext cx="1876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lang="en-US" sz="900">
                <a:solidFill>
                  <a:schemeClr val="dk1"/>
                </a:solidFill>
                <a:highlight>
                  <a:srgbClr val="D4F53C"/>
                </a:highlight>
                <a:latin typeface="Google Sans Code"/>
                <a:ea typeface="Google Sans Code"/>
                <a:cs typeface="Google Sans Code"/>
                <a:sym typeface="Google Sans Code"/>
              </a:rPr>
              <a:t>VISIBLE GRENADE</a:t>
            </a:r>
            <a:endParaRPr b="0" i="0" sz="1200" u="none" cap="none" strike="noStrike">
              <a:solidFill>
                <a:srgbClr val="000000"/>
              </a:solidFill>
              <a:latin typeface="Google Sans Code"/>
              <a:ea typeface="Google Sans Code"/>
              <a:cs typeface="Google Sans Code"/>
              <a:sym typeface="Google Sans Code"/>
            </a:endParaRPr>
          </a:p>
        </p:txBody>
      </p:sp>
      <p:sp>
        <p:nvSpPr>
          <p:cNvPr id="66" name="Google Shape;66;g3e16b8a9a1b_0_49"/>
          <p:cNvSpPr txBox="1"/>
          <p:nvPr/>
        </p:nvSpPr>
        <p:spPr>
          <a:xfrm>
            <a:off x="1524875" y="2337700"/>
            <a:ext cx="1876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lang="en-US" sz="900">
                <a:solidFill>
                  <a:schemeClr val="dk1"/>
                </a:solidFill>
                <a:highlight>
                  <a:srgbClr val="D4F53C"/>
                </a:highlight>
                <a:latin typeface="Google Sans Code"/>
                <a:ea typeface="Google Sans Code"/>
                <a:cs typeface="Google Sans Code"/>
                <a:sym typeface="Google Sans Code"/>
              </a:rPr>
              <a:t>ARCHIVO INVERTIDO</a:t>
            </a:r>
            <a:endParaRPr b="0" i="0" sz="1200" u="none" cap="none" strike="noStrike">
              <a:solidFill>
                <a:srgbClr val="000000"/>
              </a:solidFill>
              <a:latin typeface="Google Sans Code"/>
              <a:ea typeface="Google Sans Code"/>
              <a:cs typeface="Google Sans Code"/>
              <a:sym typeface="Google Sans Code"/>
            </a:endParaRPr>
          </a:p>
        </p:txBody>
      </p:sp>
      <p:sp>
        <p:nvSpPr>
          <p:cNvPr id="67" name="Google Shape;67;g3e16b8a9a1b_0_49"/>
          <p:cNvSpPr txBox="1"/>
          <p:nvPr/>
        </p:nvSpPr>
        <p:spPr>
          <a:xfrm>
            <a:off x="3553100" y="2337700"/>
            <a:ext cx="1876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lang="en-US" sz="900">
                <a:solidFill>
                  <a:schemeClr val="dk1"/>
                </a:solidFill>
                <a:highlight>
                  <a:srgbClr val="D4F53C"/>
                </a:highlight>
                <a:latin typeface="Google Sans Code"/>
                <a:ea typeface="Google Sans Code"/>
                <a:cs typeface="Google Sans Code"/>
                <a:sym typeface="Google Sans Code"/>
              </a:rPr>
              <a:t>T° DE VIGILANCIA</a:t>
            </a:r>
            <a:endParaRPr b="0" i="0" sz="1200" u="none" cap="none" strike="noStrike">
              <a:solidFill>
                <a:srgbClr val="000000"/>
              </a:solidFill>
              <a:latin typeface="Google Sans Code"/>
              <a:ea typeface="Google Sans Code"/>
              <a:cs typeface="Google Sans Code"/>
              <a:sym typeface="Google Sans Code"/>
            </a:endParaRPr>
          </a:p>
        </p:txBody>
      </p:sp>
      <p:sp>
        <p:nvSpPr>
          <p:cNvPr id="68" name="Google Shape;68;g3e16b8a9a1b_0_49"/>
          <p:cNvSpPr txBox="1"/>
          <p:nvPr/>
        </p:nvSpPr>
        <p:spPr>
          <a:xfrm>
            <a:off x="5581325" y="2337700"/>
            <a:ext cx="1876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lang="en-US" sz="900">
                <a:solidFill>
                  <a:schemeClr val="dk1"/>
                </a:solidFill>
                <a:highlight>
                  <a:srgbClr val="D4F53C"/>
                </a:highlight>
                <a:latin typeface="Google Sans Code"/>
                <a:ea typeface="Google Sans Code"/>
                <a:cs typeface="Google Sans Code"/>
                <a:sym typeface="Google Sans Code"/>
              </a:rPr>
              <a:t>DATA MIRROR</a:t>
            </a:r>
            <a:endParaRPr b="0" i="0" sz="1200" u="none" cap="none" strike="noStrike">
              <a:solidFill>
                <a:srgbClr val="000000"/>
              </a:solidFill>
              <a:latin typeface="Google Sans Code"/>
              <a:ea typeface="Google Sans Code"/>
              <a:cs typeface="Google Sans Code"/>
              <a:sym typeface="Google Sans Code"/>
            </a:endParaRPr>
          </a:p>
        </p:txBody>
      </p:sp>
      <p:sp>
        <p:nvSpPr>
          <p:cNvPr id="69" name="Google Shape;69;g3e16b8a9a1b_0_49"/>
          <p:cNvSpPr txBox="1"/>
          <p:nvPr/>
        </p:nvSpPr>
        <p:spPr>
          <a:xfrm>
            <a:off x="1524875" y="3589800"/>
            <a:ext cx="1876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lang="en-US" sz="900">
                <a:solidFill>
                  <a:schemeClr val="dk1"/>
                </a:solidFill>
                <a:highlight>
                  <a:srgbClr val="D4F53C"/>
                </a:highlight>
                <a:latin typeface="Google Sans Code"/>
                <a:ea typeface="Google Sans Code"/>
                <a:cs typeface="Google Sans Code"/>
                <a:sym typeface="Google Sans Code"/>
              </a:rPr>
              <a:t>JOHATSU INTO THIN AIR</a:t>
            </a:r>
            <a:endParaRPr b="0" i="0" sz="1200" u="none" cap="none" strike="noStrike">
              <a:solidFill>
                <a:srgbClr val="000000"/>
              </a:solidFill>
              <a:latin typeface="Google Sans Code"/>
              <a:ea typeface="Google Sans Code"/>
              <a:cs typeface="Google Sans Code"/>
              <a:sym typeface="Google Sans Code"/>
            </a:endParaRPr>
          </a:p>
        </p:txBody>
      </p:sp>
      <p:sp>
        <p:nvSpPr>
          <p:cNvPr id="70" name="Google Shape;70;g3e16b8a9a1b_0_49"/>
          <p:cNvSpPr txBox="1"/>
          <p:nvPr/>
        </p:nvSpPr>
        <p:spPr>
          <a:xfrm>
            <a:off x="3553100" y="3589800"/>
            <a:ext cx="1876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lang="en-US" sz="900">
                <a:solidFill>
                  <a:schemeClr val="dk1"/>
                </a:solidFill>
                <a:highlight>
                  <a:srgbClr val="D4F53C"/>
                </a:highlight>
                <a:latin typeface="Google Sans Code"/>
                <a:ea typeface="Google Sans Code"/>
                <a:cs typeface="Google Sans Code"/>
                <a:sym typeface="Google Sans Code"/>
              </a:rPr>
              <a:t>SONIFICACIÓN</a:t>
            </a:r>
            <a:endParaRPr b="0" i="0" sz="1200" u="none" cap="none" strike="noStrike">
              <a:solidFill>
                <a:srgbClr val="000000"/>
              </a:solidFill>
              <a:latin typeface="Google Sans Code"/>
              <a:ea typeface="Google Sans Code"/>
              <a:cs typeface="Google Sans Code"/>
              <a:sym typeface="Google Sans Code"/>
            </a:endParaRPr>
          </a:p>
        </p:txBody>
      </p:sp>
      <p:sp>
        <p:nvSpPr>
          <p:cNvPr id="71" name="Google Shape;71;g3e16b8a9a1b_0_49"/>
          <p:cNvSpPr txBox="1"/>
          <p:nvPr/>
        </p:nvSpPr>
        <p:spPr>
          <a:xfrm>
            <a:off x="5581325" y="3589800"/>
            <a:ext cx="1876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lang="en-US" sz="900">
                <a:solidFill>
                  <a:schemeClr val="dk1"/>
                </a:solidFill>
                <a:highlight>
                  <a:srgbClr val="D4F53C"/>
                </a:highlight>
                <a:latin typeface="Google Sans Code"/>
                <a:ea typeface="Google Sans Code"/>
                <a:cs typeface="Google Sans Code"/>
                <a:sym typeface="Google Sans Code"/>
              </a:rPr>
              <a:t>RUIDO</a:t>
            </a:r>
            <a:endParaRPr b="0" i="0" sz="1200" u="none" cap="none" strike="noStrike">
              <a:solidFill>
                <a:srgbClr val="000000"/>
              </a:solidFill>
              <a:latin typeface="Google Sans Code"/>
              <a:ea typeface="Google Sans Code"/>
              <a:cs typeface="Google Sans Code"/>
              <a:sym typeface="Google Sans Code"/>
            </a:endParaRPr>
          </a:p>
        </p:txBody>
      </p:sp>
      <p:sp>
        <p:nvSpPr>
          <p:cNvPr id="72" name="Google Shape;72;g3e16b8a9a1b_0_49"/>
          <p:cNvSpPr/>
          <p:nvPr/>
        </p:nvSpPr>
        <p:spPr>
          <a:xfrm>
            <a:off x="1541974" y="1605150"/>
            <a:ext cx="1842600" cy="49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700">
                <a:latin typeface="Google Sans Code"/>
                <a:ea typeface="Google Sans Code"/>
                <a:cs typeface="Google Sans Code"/>
                <a:sym typeface="Google Sans Code"/>
              </a:rPr>
              <a:t>Objeto que registra físicamente cada extracción sin posibilidad de borrado. Al cabo de días, el objeto es irreconocible. Análogo a los datos absorbidos por modelos</a:t>
            </a:r>
            <a:endParaRPr sz="700">
              <a:latin typeface="Google Sans Code"/>
              <a:ea typeface="Google Sans Code"/>
              <a:cs typeface="Google Sans Code"/>
              <a:sym typeface="Google Sans Code"/>
            </a:endParaRPr>
          </a:p>
        </p:txBody>
      </p:sp>
      <p:sp>
        <p:nvSpPr>
          <p:cNvPr id="73" name="Google Shape;73;g3e16b8a9a1b_0_49"/>
          <p:cNvSpPr/>
          <p:nvPr/>
        </p:nvSpPr>
        <p:spPr>
          <a:xfrm>
            <a:off x="1541974" y="2794125"/>
            <a:ext cx="1842600" cy="49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700">
                <a:latin typeface="Google Sans Code"/>
                <a:ea typeface="Google Sans Code"/>
                <a:cs typeface="Google Sans Code"/>
                <a:sym typeface="Google Sans Code"/>
              </a:rPr>
              <a:t>Instalación-archivo con la lógica de las fichas de la DINA: línea de tiempo de la huella digital del usuario, materializada como objeto editorial o espacial.</a:t>
            </a:r>
            <a:endParaRPr sz="700">
              <a:latin typeface="Google Sans Code"/>
              <a:ea typeface="Google Sans Code"/>
              <a:cs typeface="Google Sans Code"/>
              <a:sym typeface="Google Sans Code"/>
            </a:endParaRPr>
          </a:p>
        </p:txBody>
      </p:sp>
      <p:sp>
        <p:nvSpPr>
          <p:cNvPr id="74" name="Google Shape;74;g3e16b8a9a1b_0_49"/>
          <p:cNvSpPr/>
          <p:nvPr/>
        </p:nvSpPr>
        <p:spPr>
          <a:xfrm>
            <a:off x="3644974" y="1605150"/>
            <a:ext cx="1842600" cy="49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700">
                <a:latin typeface="Google Sans Code"/>
                <a:ea typeface="Google Sans Code"/>
                <a:cs typeface="Google Sans Code"/>
                <a:sym typeface="Google Sans Code"/>
              </a:rPr>
              <a:t>Objeto portátil que traduce la extracción en un pulso rítmico parecido al latido cardíaco. El cuerpo no distingue su ritmo del ritmo del sistema que lo extrae.</a:t>
            </a:r>
            <a:endParaRPr sz="700">
              <a:latin typeface="Google Sans Code"/>
              <a:ea typeface="Google Sans Code"/>
              <a:cs typeface="Google Sans Code"/>
              <a:sym typeface="Google Sans Code"/>
            </a:endParaRPr>
          </a:p>
        </p:txBody>
      </p:sp>
      <p:sp>
        <p:nvSpPr>
          <p:cNvPr id="75" name="Google Shape;75;g3e16b8a9a1b_0_49"/>
          <p:cNvSpPr/>
          <p:nvPr/>
        </p:nvSpPr>
        <p:spPr>
          <a:xfrm>
            <a:off x="5675074" y="1605150"/>
            <a:ext cx="1842600" cy="49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700">
                <a:latin typeface="Google Sans Code"/>
                <a:ea typeface="Google Sans Code"/>
                <a:cs typeface="Google Sans Code"/>
                <a:sym typeface="Google Sans Code"/>
              </a:rPr>
              <a:t>Dispositivo portátil que, al activarse en un espacio público, intercepta y expone el tráfico de red del entorno. La extracción invisible se vuelve visible para quien la sufre.</a:t>
            </a:r>
            <a:endParaRPr sz="700">
              <a:latin typeface="Google Sans Code"/>
              <a:ea typeface="Google Sans Code"/>
              <a:cs typeface="Google Sans Code"/>
              <a:sym typeface="Google Sans Code"/>
            </a:endParaRPr>
          </a:p>
        </p:txBody>
      </p:sp>
      <p:sp>
        <p:nvSpPr>
          <p:cNvPr id="76" name="Google Shape;76;g3e16b8a9a1b_0_49"/>
          <p:cNvSpPr/>
          <p:nvPr/>
        </p:nvSpPr>
        <p:spPr>
          <a:xfrm>
            <a:off x="3644974" y="2730000"/>
            <a:ext cx="1842600" cy="49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700">
                <a:latin typeface="Google Sans Code"/>
                <a:ea typeface="Google Sans Code"/>
                <a:cs typeface="Google Sans Code"/>
                <a:sym typeface="Google Sans Code"/>
              </a:rPr>
              <a:t>Objeto que se calienta con extracción activa y se enfría con inactividad o privacidad. Sin pantalla, sin texto. El cuerpo aprende a leer la vigilancia como calor.</a:t>
            </a:r>
            <a:endParaRPr sz="700">
              <a:latin typeface="Google Sans Code"/>
              <a:ea typeface="Google Sans Code"/>
              <a:cs typeface="Google Sans Code"/>
              <a:sym typeface="Google Sans Code"/>
            </a:endParaRPr>
          </a:p>
        </p:txBody>
      </p:sp>
      <p:sp>
        <p:nvSpPr>
          <p:cNvPr id="77" name="Google Shape;77;g3e16b8a9a1b_0_49"/>
          <p:cNvSpPr/>
          <p:nvPr/>
        </p:nvSpPr>
        <p:spPr>
          <a:xfrm>
            <a:off x="5675074" y="2730000"/>
            <a:ext cx="1842600" cy="49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700">
                <a:latin typeface="Google Sans Code"/>
                <a:ea typeface="Google Sans Code"/>
                <a:cs typeface="Google Sans Code"/>
                <a:sym typeface="Google Sans Code"/>
              </a:rPr>
              <a:t>Interfaz que reconstruye el perfil algorítmico del usuario con sus propios datos de sesión y revela qué parte ya no puede borrarse aunque lo solicite formalmente.</a:t>
            </a:r>
            <a:endParaRPr sz="700">
              <a:latin typeface="Google Sans Code"/>
              <a:ea typeface="Google Sans Code"/>
              <a:cs typeface="Google Sans Code"/>
              <a:sym typeface="Google Sans Code"/>
            </a:endParaRPr>
          </a:p>
        </p:txBody>
      </p:sp>
      <p:sp>
        <p:nvSpPr>
          <p:cNvPr id="78" name="Google Shape;78;g3e16b8a9a1b_0_49"/>
          <p:cNvSpPr/>
          <p:nvPr/>
        </p:nvSpPr>
        <p:spPr>
          <a:xfrm>
            <a:off x="1541974" y="3983100"/>
            <a:ext cx="1842600" cy="49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700">
                <a:latin typeface="Google Sans Code"/>
                <a:ea typeface="Google Sans Code"/>
                <a:cs typeface="Google Sans Code"/>
                <a:sym typeface="Google Sans Code"/>
              </a:rPr>
              <a:t>Objeto que simula el borrado voluntario: cuando el usuario intenta apagarlo o destruirlo, revela que parte de su información ya fue replicada y no puede eliminarse.</a:t>
            </a:r>
            <a:endParaRPr sz="700">
              <a:latin typeface="Google Sans Code"/>
              <a:ea typeface="Google Sans Code"/>
              <a:cs typeface="Google Sans Code"/>
              <a:sym typeface="Google Sans Code"/>
            </a:endParaRPr>
          </a:p>
        </p:txBody>
      </p:sp>
      <p:sp>
        <p:nvSpPr>
          <p:cNvPr id="79" name="Google Shape;79;g3e16b8a9a1b_0_49"/>
          <p:cNvSpPr/>
          <p:nvPr/>
        </p:nvSpPr>
        <p:spPr>
          <a:xfrm>
            <a:off x="3644974" y="4047525"/>
            <a:ext cx="1842600" cy="49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700">
                <a:latin typeface="Google Sans Code"/>
                <a:ea typeface="Google Sans Code"/>
                <a:cs typeface="Google Sans Code"/>
                <a:sym typeface="Google Sans Code"/>
              </a:rPr>
              <a:t>Objeto que convierte en tiempo real el tráfico WiFi/Bluetooth/celular que atraviesa el cuerpo en una composición sonora continua. El paisaje sonoro de la propia vigilancia.</a:t>
            </a:r>
            <a:endParaRPr sz="700">
              <a:latin typeface="Google Sans Code"/>
              <a:ea typeface="Google Sans Code"/>
              <a:cs typeface="Google Sans Code"/>
              <a:sym typeface="Google Sans Code"/>
            </a:endParaRPr>
          </a:p>
        </p:txBody>
      </p:sp>
      <p:sp>
        <p:nvSpPr>
          <p:cNvPr id="80" name="Google Shape;80;g3e16b8a9a1b_0_49"/>
          <p:cNvSpPr/>
          <p:nvPr/>
        </p:nvSpPr>
        <p:spPr>
          <a:xfrm>
            <a:off x="5675074" y="3951600"/>
            <a:ext cx="1842600" cy="49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700">
                <a:latin typeface="Google Sans Code"/>
                <a:ea typeface="Google Sans Code"/>
                <a:cs typeface="Google Sans Code"/>
                <a:sym typeface="Google Sans Code"/>
              </a:rPr>
              <a:t>Dispositivo que genera ruido algorítmico en el comportamiento digital del usuario: patrones contradictorios para los sistemas de perfilado. </a:t>
            </a:r>
            <a:endParaRPr sz="700">
              <a:latin typeface="Google Sans Code"/>
              <a:ea typeface="Google Sans Code"/>
              <a:cs typeface="Google Sans Code"/>
              <a:sym typeface="Google Sans Cod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96abedea2a_0_218"/>
          <p:cNvSpPr/>
          <p:nvPr/>
        </p:nvSpPr>
        <p:spPr>
          <a:xfrm>
            <a:off x="8503920" y="4846320"/>
            <a:ext cx="5487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7" name="Google Shape;87;g396abedea2a_0_218" title="faad_lockupsArtboard 1@2x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26754" y="277600"/>
            <a:ext cx="1003397" cy="3486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g396abedea2a_0_218"/>
          <p:cNvSpPr txBox="1"/>
          <p:nvPr/>
        </p:nvSpPr>
        <p:spPr>
          <a:xfrm>
            <a:off x="425700" y="985000"/>
            <a:ext cx="1876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highlight>
                  <a:srgbClr val="D4F53C"/>
                </a:highlight>
                <a:latin typeface="Google Sans Code"/>
                <a:ea typeface="Google Sans Code"/>
                <a:cs typeface="Google Sans Code"/>
                <a:sym typeface="Google Sans Code"/>
              </a:rPr>
              <a:t>PULSO</a:t>
            </a:r>
            <a:endParaRPr b="0" i="0" sz="1900" u="none" cap="none" strike="noStrike">
              <a:solidFill>
                <a:srgbClr val="000000"/>
              </a:solidFill>
              <a:latin typeface="Google Sans Code"/>
              <a:ea typeface="Google Sans Code"/>
              <a:cs typeface="Google Sans Code"/>
              <a:sym typeface="Google Sans Code"/>
            </a:endParaRPr>
          </a:p>
        </p:txBody>
      </p:sp>
      <p:sp>
        <p:nvSpPr>
          <p:cNvPr id="89" name="Google Shape;89;g396abedea2a_0_218"/>
          <p:cNvSpPr txBox="1"/>
          <p:nvPr/>
        </p:nvSpPr>
        <p:spPr>
          <a:xfrm>
            <a:off x="425700" y="1597625"/>
            <a:ext cx="54714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Google Sans Code Medium"/>
                <a:ea typeface="Google Sans Code Medium"/>
                <a:cs typeface="Google Sans Code Medium"/>
                <a:sym typeface="Google Sans Code Medium"/>
              </a:rPr>
              <a:t>Objeto portátil de tamaño contenido, diseñado para ser sostenido en la mano o llevado cerca del cuerpo durante el día. </a:t>
            </a:r>
            <a:r>
              <a:rPr b="1" i="1" lang="en-US" sz="1200">
                <a:latin typeface="Google Sans Code"/>
                <a:ea typeface="Google Sans Code"/>
                <a:cs typeface="Google Sans Code"/>
                <a:sym typeface="Google Sans Code"/>
              </a:rPr>
              <a:t>Sin pantalla. Sin texto. Sin sonido.</a:t>
            </a:r>
            <a:br>
              <a:rPr b="1" i="1" lang="en-US" sz="1200">
                <a:latin typeface="Google Sans Code"/>
                <a:ea typeface="Google Sans Code"/>
                <a:cs typeface="Google Sans Code"/>
                <a:sym typeface="Google Sans Code"/>
              </a:rPr>
            </a:br>
            <a:br>
              <a:rPr lang="en-US" sz="1200">
                <a:latin typeface="Google Sans Code Medium"/>
                <a:ea typeface="Google Sans Code Medium"/>
                <a:cs typeface="Google Sans Code Medium"/>
                <a:sym typeface="Google Sans Code Medium"/>
              </a:rPr>
            </a:br>
            <a:r>
              <a:rPr lang="en-US" sz="1200">
                <a:solidFill>
                  <a:schemeClr val="dk1"/>
                </a:solidFill>
                <a:latin typeface="Google Sans Code Medium"/>
                <a:ea typeface="Google Sans Code Medium"/>
                <a:cs typeface="Google Sans Code Medium"/>
                <a:sym typeface="Google Sans Code Medium"/>
              </a:rPr>
              <a:t>Sensores detectan el tráfico de red del dispositivo del usuario </a:t>
            </a:r>
            <a:r>
              <a:rPr lang="en-US" sz="1200">
                <a:solidFill>
                  <a:schemeClr val="dk1"/>
                </a:solidFill>
                <a:highlight>
                  <a:srgbClr val="D4F53C"/>
                </a:highlight>
                <a:latin typeface="Google Sans Code Medium"/>
                <a:ea typeface="Google Sans Code Medium"/>
                <a:cs typeface="Google Sans Code Medium"/>
                <a:sym typeface="Google Sans Code Medium"/>
              </a:rPr>
              <a:t>→</a:t>
            </a:r>
            <a:r>
              <a:rPr lang="en-US" sz="1200">
                <a:solidFill>
                  <a:schemeClr val="dk1"/>
                </a:solidFill>
                <a:latin typeface="Google Sans Code Medium"/>
                <a:ea typeface="Google Sans Code Medium"/>
                <a:cs typeface="Google Sans Code Medium"/>
                <a:sym typeface="Google Sans Code Medium"/>
              </a:rPr>
              <a:t> actuadores hápticos lo traducen en pulso rítmico. </a:t>
            </a:r>
            <a:br>
              <a:rPr lang="en-US" sz="1200">
                <a:solidFill>
                  <a:schemeClr val="dk1"/>
                </a:solidFill>
                <a:latin typeface="Google Sans Code Medium"/>
                <a:ea typeface="Google Sans Code Medium"/>
                <a:cs typeface="Google Sans Code Medium"/>
                <a:sym typeface="Google Sans Code Medium"/>
              </a:rPr>
            </a:br>
            <a:r>
              <a:rPr lang="en-US" sz="1200">
                <a:solidFill>
                  <a:schemeClr val="dk1"/>
                </a:solidFill>
                <a:latin typeface="Google Sans Code Medium"/>
                <a:ea typeface="Google Sans Code Medium"/>
                <a:cs typeface="Google Sans Code Medium"/>
                <a:sym typeface="Google Sans Code Medium"/>
              </a:rPr>
              <a:t>En reposo: pulso lento, casi indistinguible de un latido. </a:t>
            </a:r>
            <a:br>
              <a:rPr lang="en-US" sz="1200">
                <a:solidFill>
                  <a:schemeClr val="dk1"/>
                </a:solidFill>
                <a:latin typeface="Google Sans Code Medium"/>
                <a:ea typeface="Google Sans Code Medium"/>
                <a:cs typeface="Google Sans Code Medium"/>
                <a:sym typeface="Google Sans Code Medium"/>
              </a:rPr>
            </a:br>
            <a:r>
              <a:rPr lang="en-US" sz="1200">
                <a:solidFill>
                  <a:schemeClr val="dk1"/>
                </a:solidFill>
                <a:latin typeface="Google Sans Code Medium"/>
                <a:ea typeface="Google Sans Code Medium"/>
                <a:cs typeface="Google Sans Code Medium"/>
                <a:sym typeface="Google Sans Code Medium"/>
              </a:rPr>
              <a:t>Con extracción activa: ritmo se acelera e intensifica. El único canal es el tacto.</a:t>
            </a:r>
            <a:br>
              <a:rPr lang="en-US" sz="1200">
                <a:solidFill>
                  <a:schemeClr val="dk1"/>
                </a:solidFill>
                <a:latin typeface="Google Sans Code Medium"/>
                <a:ea typeface="Google Sans Code Medium"/>
                <a:cs typeface="Google Sans Code Medium"/>
                <a:sym typeface="Google Sans Code Medium"/>
              </a:rPr>
            </a:br>
            <a:br>
              <a:rPr lang="en-US" sz="1200">
                <a:solidFill>
                  <a:schemeClr val="dk1"/>
                </a:solidFill>
                <a:latin typeface="Google Sans Code Medium"/>
                <a:ea typeface="Google Sans Code Medium"/>
                <a:cs typeface="Google Sans Code Medium"/>
                <a:sym typeface="Google Sans Code Medium"/>
              </a:rPr>
            </a:br>
            <a:r>
              <a:rPr lang="en-US" sz="1200">
                <a:latin typeface="Google Sans Code Medium"/>
                <a:ea typeface="Google Sans Code Medium"/>
                <a:cs typeface="Google Sans Code Medium"/>
                <a:sym typeface="Google Sans Code Medium"/>
              </a:rPr>
              <a:t>El usuario percibe la vigilancia como algo que coexiste con sus propios ritmos biológicos. La pérdida de soberanía se vuelve literal: ya no puede distinguir su propio latido del latido del sistema que lo extrae.</a:t>
            </a:r>
            <a:endParaRPr sz="1000">
              <a:latin typeface="Google Sans Code Medium"/>
              <a:ea typeface="Google Sans Code Medium"/>
              <a:cs typeface="Google Sans Code Medium"/>
              <a:sym typeface="Google Sans Code Medium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e16b8a9a1b_0_136"/>
          <p:cNvSpPr/>
          <p:nvPr/>
        </p:nvSpPr>
        <p:spPr>
          <a:xfrm>
            <a:off x="8503920" y="4846320"/>
            <a:ext cx="5487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6" name="Google Shape;96;g3e16b8a9a1b_0_136" title="faad_lockupsArtboard 1@2x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26754" y="277600"/>
            <a:ext cx="1003397" cy="3486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g3e16b8a9a1b_0_136"/>
          <p:cNvSpPr txBox="1"/>
          <p:nvPr/>
        </p:nvSpPr>
        <p:spPr>
          <a:xfrm>
            <a:off x="425700" y="985000"/>
            <a:ext cx="1876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highlight>
                  <a:srgbClr val="D4F53C"/>
                </a:highlight>
                <a:latin typeface="Google Sans Code"/>
                <a:ea typeface="Google Sans Code"/>
                <a:cs typeface="Google Sans Code"/>
                <a:sym typeface="Google Sans Code"/>
              </a:rPr>
              <a:t>DATA MIRROR</a:t>
            </a:r>
            <a:endParaRPr b="0" i="0" sz="1900" u="none" cap="none" strike="noStrike">
              <a:solidFill>
                <a:srgbClr val="000000"/>
              </a:solidFill>
              <a:latin typeface="Google Sans Code"/>
              <a:ea typeface="Google Sans Code"/>
              <a:cs typeface="Google Sans Code"/>
              <a:sym typeface="Google Sans Code"/>
            </a:endParaRPr>
          </a:p>
        </p:txBody>
      </p:sp>
      <p:sp>
        <p:nvSpPr>
          <p:cNvPr id="98" name="Google Shape;98;g3e16b8a9a1b_0_136"/>
          <p:cNvSpPr txBox="1"/>
          <p:nvPr/>
        </p:nvSpPr>
        <p:spPr>
          <a:xfrm>
            <a:off x="425700" y="1597625"/>
            <a:ext cx="5471400" cy="31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latin typeface="Google Sans Code Medium"/>
                <a:ea typeface="Google Sans Code Medium"/>
                <a:cs typeface="Google Sans Code Medium"/>
                <a:sym typeface="Google Sans Code Medium"/>
              </a:rPr>
              <a:t>Interfaz de retroalimentación que, al final de una sesión de uso del dispositivo, reconstruye el perfil algorítmico del usuario usando exclusivamente los datos que generó en esa sesión.</a:t>
            </a:r>
            <a:endParaRPr sz="1200">
              <a:latin typeface="Google Sans Code Medium"/>
              <a:ea typeface="Google Sans Code Medium"/>
              <a:cs typeface="Google Sans Code Medium"/>
              <a:sym typeface="Google Sans Code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Google Sans Code Medium"/>
              <a:ea typeface="Google Sans Code Medium"/>
              <a:cs typeface="Google Sans Code Medium"/>
              <a:sym typeface="Google Sans Code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latin typeface="Google Sans Code Medium"/>
                <a:ea typeface="Google Sans Code Medium"/>
                <a:cs typeface="Google Sans Code Medium"/>
                <a:sym typeface="Google Sans Code Medium"/>
              </a:rPr>
              <a:t>Toma apps usadas, búsquedas, ubicación, patrones de tiempo </a:t>
            </a:r>
            <a:r>
              <a:rPr lang="en-US" sz="1200">
                <a:highlight>
                  <a:srgbClr val="D4F53C"/>
                </a:highlight>
                <a:latin typeface="Google Sans Code Medium"/>
                <a:ea typeface="Google Sans Code Medium"/>
                <a:cs typeface="Google Sans Code Medium"/>
                <a:sym typeface="Google Sans Code Medium"/>
              </a:rPr>
              <a:t>→</a:t>
            </a:r>
            <a:r>
              <a:rPr lang="en-US" sz="1200">
                <a:latin typeface="Google Sans Code Medium"/>
                <a:ea typeface="Google Sans Code Medium"/>
                <a:cs typeface="Google Sans Code Medium"/>
                <a:sym typeface="Google Sans Code Medium"/>
              </a:rPr>
              <a:t> construye una representación no gráfica del perfil. En un segundo momento, señala qué parte ya fue incorporada a modelos y no puede eliminarse aunque se solicite formalmente.</a:t>
            </a:r>
            <a:endParaRPr sz="1200">
              <a:latin typeface="Google Sans Code Medium"/>
              <a:ea typeface="Google Sans Code Medium"/>
              <a:cs typeface="Google Sans Code Medium"/>
              <a:sym typeface="Google Sans Code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Google Sans Code Medium"/>
              <a:ea typeface="Google Sans Code Medium"/>
              <a:cs typeface="Google Sans Code Medium"/>
              <a:sym typeface="Google Sans Code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latin typeface="Google Sans Code Medium"/>
                <a:ea typeface="Google Sans Code Medium"/>
                <a:cs typeface="Google Sans Code Medium"/>
                <a:sym typeface="Google Sans Code Medium"/>
              </a:rPr>
              <a:t>El usuario ve su reflejo desde los ojos del sistema. Descubre que parte de ese reflejo ya no le pertenece. La grieta entre identidad y perfil es el momento de conciencia que el proyecto busca generar.</a:t>
            </a:r>
            <a:endParaRPr sz="1200">
              <a:latin typeface="Google Sans Code Medium"/>
              <a:ea typeface="Google Sans Code Medium"/>
              <a:cs typeface="Google Sans Code Medium"/>
              <a:sym typeface="Google Sans Code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Google Sans Code Medium"/>
              <a:ea typeface="Google Sans Code Medium"/>
              <a:cs typeface="Google Sans Code Medium"/>
              <a:sym typeface="Google Sans Code Medium"/>
            </a:endParaRPr>
          </a:p>
        </p:txBody>
      </p:sp>
      <p:sp>
        <p:nvSpPr>
          <p:cNvPr id="99" name="Google Shape;99;g3e16b8a9a1b_0_136"/>
          <p:cNvSpPr txBox="1"/>
          <p:nvPr/>
        </p:nvSpPr>
        <p:spPr>
          <a:xfrm>
            <a:off x="4924175" y="428250"/>
            <a:ext cx="1876800" cy="55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como se manipula la informaci</a:t>
            </a:r>
            <a:r>
              <a:rPr lang="en-US"/>
              <a:t>ón, 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g3e16b8a9a1b_0_145" title="rastro-lamina-07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6150" y="139025"/>
            <a:ext cx="9356324" cy="4865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2026-03-25T12:23:28Z</dcterms:created>
  <dc:creator>PptxGenJS</dc:creator>
</cp:coreProperties>
</file>