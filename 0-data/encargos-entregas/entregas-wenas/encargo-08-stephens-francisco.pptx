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IBM Plex Sans"/>
      <p:regular r:id="rId40"/>
      <p:bold r:id="rId41"/>
      <p:italic r:id="rId42"/>
      <p:boldItalic r:id="rId43"/>
    </p:embeddedFont>
    <p:embeddedFont>
      <p:font typeface="Helvetica Neue"/>
      <p:regular r:id="rId44"/>
      <p:bold r:id="rId45"/>
      <p:italic r:id="rId46"/>
      <p:boldItalic r:id="rId47"/>
    </p:embeddedFont>
    <p:embeddedFont>
      <p:font typeface="Helvetica Neue Light"/>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EEE6B07-B520-4A86-8C4B-9EED803D83E4}">
  <a:tblStyle styleId="{CEEE6B07-B520-4A86-8C4B-9EED803D83E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A021A84-8BBD-486D-A789-BF6277C520F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regular.fntdata"/><Relationship Id="rId42" Type="http://schemas.openxmlformats.org/officeDocument/2006/relationships/font" Target="fonts/IBMPlexSans-italic.fntdata"/><Relationship Id="rId41" Type="http://schemas.openxmlformats.org/officeDocument/2006/relationships/font" Target="fonts/IBMPlexSans-bold.fntdata"/><Relationship Id="rId44" Type="http://schemas.openxmlformats.org/officeDocument/2006/relationships/font" Target="fonts/HelveticaNeue-regular.fntdata"/><Relationship Id="rId43" Type="http://schemas.openxmlformats.org/officeDocument/2006/relationships/font" Target="fonts/IBMPlexSans-boldItalic.fntdata"/><Relationship Id="rId46" Type="http://schemas.openxmlformats.org/officeDocument/2006/relationships/font" Target="fonts/HelveticaNeue-italic.fntdata"/><Relationship Id="rId45" Type="http://schemas.openxmlformats.org/officeDocument/2006/relationships/font" Target="fonts/HelveticaNeue-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HelveticaNeueLight-regular.fntdata"/><Relationship Id="rId47" Type="http://schemas.openxmlformats.org/officeDocument/2006/relationships/font" Target="fonts/HelveticaNeue-boldItalic.fntdata"/><Relationship Id="rId49" Type="http://schemas.openxmlformats.org/officeDocument/2006/relationships/font" Target="fonts/HelveticaNeueLigh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Light-boldItalic.fntdata"/><Relationship Id="rId50" Type="http://schemas.openxmlformats.org/officeDocument/2006/relationships/font" Target="fonts/HelveticaNeueLight-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66f694821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966f694821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66f69482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966f69482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17385615a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17385615a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17385615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e17385615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17385615a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17385615a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17385615a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17385615a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769f536f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769f536f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15fe110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15fe110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769f536f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769f536f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aa2c68036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daa2c68036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aa2c68036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daa2c68036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aa2c68036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daa2c68036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daa2c68036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daa2c68036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aa2c68036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aa2c68036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aa2c68036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daa2c68036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aa2c68036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daa2c68036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769f536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d769f536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37b7ef14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37b7ef14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d37b7ef144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d37b7ef14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37b7ef14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d37b7ef14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37b7ef14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d37b7ef14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d37b7ef144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d37b7ef144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d37b7ef14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d37b7ef14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966f694821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966f694821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37b7ef14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d37b7ef14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966f69482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966f69482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d37b7ef144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d37b7ef144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d37b7ef144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d37b7ef144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966f694821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966f694821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966f694821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966f694821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966f69482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966f69482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966f69482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966f69482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966f694821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966f694821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27.png"/><Relationship Id="rId7" Type="http://schemas.openxmlformats.org/officeDocument/2006/relationships/image" Target="../media/image25.png"/><Relationship Id="rId8"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23.png"/><Relationship Id="rId5"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9.jpg"/><Relationship Id="rId4" Type="http://schemas.openxmlformats.org/officeDocument/2006/relationships/image" Target="../media/image2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55CC"/>
        </a:solidFill>
      </p:bgPr>
    </p:bg>
    <p:spTree>
      <p:nvGrpSpPr>
        <p:cNvPr id="53" name="Shape 53"/>
        <p:cNvGrpSpPr/>
        <p:nvPr/>
      </p:nvGrpSpPr>
      <p:grpSpPr>
        <a:xfrm>
          <a:off x="0" y="0"/>
          <a:ext cx="0" cy="0"/>
          <a:chOff x="0" y="0"/>
          <a:chExt cx="0" cy="0"/>
        </a:xfrm>
      </p:grpSpPr>
      <p:sp>
        <p:nvSpPr>
          <p:cNvPr id="54" name="Google Shape;54;p13"/>
          <p:cNvSpPr txBox="1"/>
          <p:nvPr/>
        </p:nvSpPr>
        <p:spPr>
          <a:xfrm>
            <a:off x="316000" y="3557700"/>
            <a:ext cx="7743300" cy="10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FFFFFF"/>
                </a:solidFill>
                <a:latin typeface="Helvetica Neue"/>
                <a:ea typeface="Helvetica Neue"/>
                <a:cs typeface="Helvetica Neue"/>
                <a:sym typeface="Helvetica Neue"/>
              </a:rPr>
              <a:t>Plataforma Figital de Manufactura Abierta: Soberanía Tecnológica y Resiliencia Operativa para la Microempresa. </a:t>
            </a:r>
            <a:endParaRPr b="1" sz="1800">
              <a:solidFill>
                <a:srgbClr val="FFFFFF"/>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FFFFFF"/>
              </a:solidFill>
              <a:latin typeface="Helvetica Neue Light"/>
              <a:ea typeface="Helvetica Neue Light"/>
              <a:cs typeface="Helvetica Neue Light"/>
              <a:sym typeface="Helvetica Neue Light"/>
            </a:endParaRPr>
          </a:p>
        </p:txBody>
      </p:sp>
      <p:sp>
        <p:nvSpPr>
          <p:cNvPr id="55" name="Google Shape;55;p13"/>
          <p:cNvSpPr txBox="1"/>
          <p:nvPr/>
        </p:nvSpPr>
        <p:spPr>
          <a:xfrm>
            <a:off x="4970550" y="4536900"/>
            <a:ext cx="3759600" cy="323100"/>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chemeClr val="dk1"/>
              </a:buClr>
              <a:buSzPts val="1100"/>
              <a:buFont typeface="Arial"/>
              <a:buNone/>
            </a:pPr>
            <a:r>
              <a:rPr lang="es" sz="900">
                <a:solidFill>
                  <a:schemeClr val="lt1"/>
                </a:solidFill>
                <a:latin typeface="Helvetica Neue Light"/>
                <a:ea typeface="Helvetica Neue Light"/>
                <a:cs typeface="Helvetica Neue Light"/>
                <a:sym typeface="Helvetica Neue Light"/>
              </a:rPr>
              <a:t>Sergio Majluf Jadue - Simón Gallardo Ban</a:t>
            </a:r>
            <a:endParaRPr sz="900">
              <a:solidFill>
                <a:srgbClr val="FFFFFF"/>
              </a:solidFill>
              <a:latin typeface="IBM Plex Sans"/>
              <a:ea typeface="IBM Plex Sans"/>
              <a:cs typeface="IBM Plex Sans"/>
              <a:sym typeface="IBM Plex Sans"/>
            </a:endParaRPr>
          </a:p>
        </p:txBody>
      </p:sp>
      <p:sp>
        <p:nvSpPr>
          <p:cNvPr id="56" name="Google Shape;56;p13"/>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FFFFFF"/>
                </a:solidFill>
                <a:latin typeface="Helvetica Neue Light"/>
                <a:ea typeface="Helvetica Neue Light"/>
                <a:cs typeface="Helvetica Neue Light"/>
                <a:sym typeface="Helvetica Neue Light"/>
              </a:rPr>
              <a:t>Seminario de Título</a:t>
            </a:r>
            <a:endParaRPr sz="900">
              <a:solidFill>
                <a:srgbClr val="FFFFFF"/>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s" sz="900">
                <a:solidFill>
                  <a:srgbClr val="FFFFFF"/>
                </a:solidFill>
                <a:latin typeface="Helvetica Neue Light"/>
                <a:ea typeface="Helvetica Neue Light"/>
                <a:cs typeface="Helvetica Neue Light"/>
                <a:sym typeface="Helvetica Neue Light"/>
              </a:rPr>
              <a:t>13.05.26</a:t>
            </a:r>
            <a:endParaRPr sz="900">
              <a:solidFill>
                <a:srgbClr val="FFFFFF"/>
              </a:solidFill>
              <a:latin typeface="Helvetica Neue Light"/>
              <a:ea typeface="Helvetica Neue Light"/>
              <a:cs typeface="Helvetica Neue Light"/>
              <a:sym typeface="Helvetica Neue Light"/>
            </a:endParaRPr>
          </a:p>
        </p:txBody>
      </p:sp>
      <p:sp>
        <p:nvSpPr>
          <p:cNvPr id="57" name="Google Shape;57;p13"/>
          <p:cNvSpPr txBox="1"/>
          <p:nvPr/>
        </p:nvSpPr>
        <p:spPr>
          <a:xfrm>
            <a:off x="316000" y="4536900"/>
            <a:ext cx="3759600" cy="323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s" sz="900">
                <a:solidFill>
                  <a:schemeClr val="lt1"/>
                </a:solidFill>
                <a:latin typeface="Helvetica Neue Light"/>
                <a:ea typeface="Helvetica Neue Light"/>
                <a:cs typeface="Helvetica Neue Light"/>
                <a:sym typeface="Helvetica Neue Light"/>
              </a:rPr>
              <a:t>Francisco Stephens</a:t>
            </a:r>
            <a:r>
              <a:rPr lang="es" sz="900">
                <a:solidFill>
                  <a:schemeClr val="lt1"/>
                </a:solidFill>
                <a:latin typeface="Helvetica Neue Light"/>
                <a:ea typeface="Helvetica Neue Light"/>
                <a:cs typeface="Helvetica Neue Light"/>
                <a:sym typeface="Helvetica Neue Light"/>
              </a:rPr>
              <a:t> </a:t>
            </a:r>
            <a:endParaRPr sz="900">
              <a:solidFill>
                <a:srgbClr val="FFFFFF"/>
              </a:solidFill>
              <a:latin typeface="IBM Plex Sans"/>
              <a:ea typeface="IBM Plex Sans"/>
              <a:cs typeface="IBM Plex Sans"/>
              <a:sym typeface="IBM Plex Sans"/>
            </a:endParaRPr>
          </a:p>
        </p:txBody>
      </p:sp>
      <p:sp>
        <p:nvSpPr>
          <p:cNvPr id="58" name="Google Shape;58;p13"/>
          <p:cNvSpPr txBox="1"/>
          <p:nvPr/>
        </p:nvSpPr>
        <p:spPr>
          <a:xfrm>
            <a:off x="3727500" y="244750"/>
            <a:ext cx="1689000" cy="34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900">
                <a:solidFill>
                  <a:srgbClr val="FFFFFF"/>
                </a:solidFill>
                <a:latin typeface="Helvetica Neue"/>
                <a:ea typeface="Helvetica Neue"/>
                <a:cs typeface="Helvetica Neue"/>
                <a:sym typeface="Helvetica Neue"/>
              </a:rPr>
              <a:t>Encargo 08</a:t>
            </a:r>
            <a:endParaRPr sz="900">
              <a:solidFill>
                <a:srgbClr val="FFFFFF"/>
              </a:solidFill>
              <a:latin typeface="Helvetica Neue"/>
              <a:ea typeface="Helvetica Neue"/>
              <a:cs typeface="Helvetica Neue"/>
              <a:sym typeface="Helvetica Neue"/>
            </a:endParaRPr>
          </a:p>
        </p:txBody>
      </p:sp>
      <p:pic>
        <p:nvPicPr>
          <p:cNvPr id="59" name="Google Shape;59;p13" title="faad_lockupsArtboard 1@2x.png"/>
          <p:cNvPicPr preferRelativeResize="0"/>
          <p:nvPr/>
        </p:nvPicPr>
        <p:blipFill>
          <a:blip r:embed="rId3">
            <a:alphaModFix/>
          </a:blip>
          <a:stretch>
            <a:fillRect/>
          </a:stretch>
        </p:blipFill>
        <p:spPr>
          <a:xfrm>
            <a:off x="7726754" y="244750"/>
            <a:ext cx="1003397" cy="348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65" name="Google Shape;65;p14"/>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66" name="Google Shape;66;p14"/>
          <p:cNvSpPr txBox="1"/>
          <p:nvPr/>
        </p:nvSpPr>
        <p:spPr>
          <a:xfrm>
            <a:off x="152275" y="430300"/>
            <a:ext cx="3185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Síntesis</a:t>
            </a:r>
            <a:r>
              <a:rPr b="1" lang="es">
                <a:latin typeface="Helvetica Neue"/>
                <a:ea typeface="Helvetica Neue"/>
                <a:cs typeface="Helvetica Neue"/>
                <a:sym typeface="Helvetica Neue"/>
              </a:rPr>
              <a:t> de F</a:t>
            </a:r>
            <a:r>
              <a:rPr b="1" lang="es">
                <a:latin typeface="Helvetica Neue"/>
                <a:ea typeface="Helvetica Neue"/>
                <a:cs typeface="Helvetica Neue"/>
                <a:sym typeface="Helvetica Neue"/>
              </a:rPr>
              <a:t>ormulación</a:t>
            </a:r>
            <a:endParaRPr b="1">
              <a:solidFill>
                <a:srgbClr val="000000"/>
              </a:solidFill>
              <a:latin typeface="Helvetica Neue"/>
              <a:ea typeface="Helvetica Neue"/>
              <a:cs typeface="Helvetica Neue"/>
              <a:sym typeface="Helvetica Neue"/>
            </a:endParaRPr>
          </a:p>
        </p:txBody>
      </p:sp>
      <p:sp>
        <p:nvSpPr>
          <p:cNvPr id="67" name="Google Shape;67;p14"/>
          <p:cNvSpPr/>
          <p:nvPr/>
        </p:nvSpPr>
        <p:spPr>
          <a:xfrm>
            <a:off x="722050" y="1120175"/>
            <a:ext cx="7778400" cy="908100"/>
          </a:xfrm>
          <a:prstGeom prst="round2DiagRect">
            <a:avLst>
              <a:gd fmla="val 16667" name="adj1"/>
              <a:gd fmla="val 0" name="adj2"/>
            </a:avLst>
          </a:prstGeom>
          <a:solidFill>
            <a:srgbClr val="DBE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263">
                <a:solidFill>
                  <a:schemeClr val="dk1"/>
                </a:solidFill>
                <a:latin typeface="Helvetica Neue"/>
                <a:ea typeface="Helvetica Neue"/>
                <a:cs typeface="Helvetica Neue"/>
                <a:sym typeface="Helvetica Neue"/>
              </a:rPr>
              <a:t>El micro-emprendedor necesita impresión multimaterial accesible, pero el mercado lo obliga a elegir entre el secuestro tecnológico o una enorme carga cognitiva.</a:t>
            </a:r>
            <a:endParaRPr sz="1263">
              <a:solidFill>
                <a:schemeClr val="dk1"/>
              </a:solidFill>
              <a:latin typeface="Helvetica Neue"/>
              <a:ea typeface="Helvetica Neue"/>
              <a:cs typeface="Helvetica Neue"/>
              <a:sym typeface="Helvetica Neue"/>
            </a:endParaRPr>
          </a:p>
        </p:txBody>
      </p:sp>
      <p:sp>
        <p:nvSpPr>
          <p:cNvPr id="68" name="Google Shape;68;p14"/>
          <p:cNvSpPr/>
          <p:nvPr/>
        </p:nvSpPr>
        <p:spPr>
          <a:xfrm>
            <a:off x="722050" y="2426377"/>
            <a:ext cx="7778400" cy="859200"/>
          </a:xfrm>
          <a:prstGeom prst="round2DiagRect">
            <a:avLst>
              <a:gd fmla="val 16667" name="adj1"/>
              <a:gd fmla="val 0" name="adj2"/>
            </a:avLst>
          </a:prstGeom>
          <a:solidFill>
            <a:srgbClr val="9ABAEE">
              <a:alpha val="55350"/>
            </a:srgbClr>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lang="es" sz="1200">
                <a:solidFill>
                  <a:schemeClr val="dk1"/>
                </a:solidFill>
              </a:rPr>
              <a:t>Integrar una interfaz figital de autodiagnóstico en una arquitectura abierta suprimirá la carga de supervisión, otorgando autonomía productiva sin sacrificar la soberanía de la Pyme.</a:t>
            </a:r>
            <a:endParaRPr sz="1200">
              <a:solidFill>
                <a:schemeClr val="dk1"/>
              </a:solidFill>
            </a:endParaRPr>
          </a:p>
        </p:txBody>
      </p:sp>
      <p:sp>
        <p:nvSpPr>
          <p:cNvPr id="69" name="Google Shape;69;p14"/>
          <p:cNvSpPr/>
          <p:nvPr/>
        </p:nvSpPr>
        <p:spPr>
          <a:xfrm>
            <a:off x="722050" y="3692800"/>
            <a:ext cx="7778400" cy="908100"/>
          </a:xfrm>
          <a:prstGeom prst="round2DiagRect">
            <a:avLst>
              <a:gd fmla="val 16667" name="adj1"/>
              <a:gd fmla="val 0" name="adj2"/>
            </a:avLst>
          </a:prstGeom>
          <a:solidFill>
            <a:srgbClr val="DBE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263">
                <a:solidFill>
                  <a:schemeClr val="dk1"/>
                </a:solidFill>
                <a:latin typeface="Helvetica Neue"/>
                <a:ea typeface="Helvetica Neue"/>
                <a:cs typeface="Helvetica Neue"/>
                <a:sym typeface="Helvetica Neue"/>
              </a:rPr>
              <a:t>Transformar la usabilidad de la manufactura abierta mediante una plataforma figital multimaterial de alta accesibilidad económica, erradicando el "babysitting" y garantizando la resiliencia operativa.</a:t>
            </a:r>
            <a:endParaRPr sz="1263">
              <a:solidFill>
                <a:schemeClr val="dk1"/>
              </a:solidFill>
              <a:latin typeface="Helvetica Neue"/>
              <a:ea typeface="Helvetica Neue"/>
              <a:cs typeface="Helvetica Neue"/>
              <a:sym typeface="Helvetica Neue"/>
            </a:endParaRPr>
          </a:p>
        </p:txBody>
      </p:sp>
      <p:sp>
        <p:nvSpPr>
          <p:cNvPr id="70" name="Google Shape;70;p14"/>
          <p:cNvSpPr txBox="1"/>
          <p:nvPr/>
        </p:nvSpPr>
        <p:spPr>
          <a:xfrm>
            <a:off x="758050" y="852550"/>
            <a:ext cx="1003500" cy="31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863">
                <a:solidFill>
                  <a:schemeClr val="dk1"/>
                </a:solidFill>
                <a:latin typeface="Helvetica Neue"/>
                <a:ea typeface="Helvetica Neue"/>
                <a:cs typeface="Helvetica Neue"/>
                <a:sym typeface="Helvetica Neue"/>
              </a:rPr>
              <a:t>POV</a:t>
            </a:r>
            <a:r>
              <a:rPr b="1" lang="es" sz="863">
                <a:solidFill>
                  <a:schemeClr val="dk1"/>
                </a:solidFill>
                <a:latin typeface="Helvetica Neue"/>
                <a:ea typeface="Helvetica Neue"/>
                <a:cs typeface="Helvetica Neue"/>
                <a:sym typeface="Helvetica Neue"/>
              </a:rPr>
              <a:t>:</a:t>
            </a:r>
            <a:endParaRPr/>
          </a:p>
        </p:txBody>
      </p:sp>
      <p:sp>
        <p:nvSpPr>
          <p:cNvPr id="71" name="Google Shape;71;p14"/>
          <p:cNvSpPr txBox="1"/>
          <p:nvPr/>
        </p:nvSpPr>
        <p:spPr>
          <a:xfrm>
            <a:off x="758050" y="2160813"/>
            <a:ext cx="1075500" cy="31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863">
                <a:solidFill>
                  <a:schemeClr val="dk1"/>
                </a:solidFill>
                <a:latin typeface="Helvetica Neue"/>
                <a:ea typeface="Helvetica Neue"/>
                <a:cs typeface="Helvetica Neue"/>
                <a:sym typeface="Helvetica Neue"/>
              </a:rPr>
              <a:t>Hipótesis</a:t>
            </a:r>
            <a:r>
              <a:rPr b="1" lang="es" sz="863">
                <a:solidFill>
                  <a:schemeClr val="dk1"/>
                </a:solidFill>
                <a:latin typeface="Helvetica Neue"/>
                <a:ea typeface="Helvetica Neue"/>
                <a:cs typeface="Helvetica Neue"/>
                <a:sym typeface="Helvetica Neue"/>
              </a:rPr>
              <a:t>:</a:t>
            </a:r>
            <a:endParaRPr/>
          </a:p>
        </p:txBody>
      </p:sp>
      <p:sp>
        <p:nvSpPr>
          <p:cNvPr id="72" name="Google Shape;72;p14"/>
          <p:cNvSpPr txBox="1"/>
          <p:nvPr/>
        </p:nvSpPr>
        <p:spPr>
          <a:xfrm>
            <a:off x="722050" y="3439813"/>
            <a:ext cx="1425600" cy="31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863">
                <a:solidFill>
                  <a:schemeClr val="dk1"/>
                </a:solidFill>
                <a:latin typeface="Helvetica Neue"/>
                <a:ea typeface="Helvetica Neue"/>
                <a:cs typeface="Helvetica Neue"/>
                <a:sym typeface="Helvetica Neue"/>
              </a:rPr>
              <a:t>Objetivo General</a:t>
            </a:r>
            <a:r>
              <a:rPr b="1" lang="es" sz="863">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5"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78" name="Google Shape;78;p15"/>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79" name="Google Shape;79;p15"/>
          <p:cNvSpPr txBox="1"/>
          <p:nvPr/>
        </p:nvSpPr>
        <p:spPr>
          <a:xfrm>
            <a:off x="152275" y="430300"/>
            <a:ext cx="3185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¿Cómo Podríamos…?</a:t>
            </a:r>
            <a:endParaRPr b="1">
              <a:solidFill>
                <a:srgbClr val="000000"/>
              </a:solidFill>
              <a:latin typeface="Helvetica Neue"/>
              <a:ea typeface="Helvetica Neue"/>
              <a:cs typeface="Helvetica Neue"/>
              <a:sym typeface="Helvetica Neue"/>
            </a:endParaRPr>
          </a:p>
        </p:txBody>
      </p:sp>
      <p:sp>
        <p:nvSpPr>
          <p:cNvPr id="80" name="Google Shape;80;p15"/>
          <p:cNvSpPr/>
          <p:nvPr/>
        </p:nvSpPr>
        <p:spPr>
          <a:xfrm>
            <a:off x="234625" y="922600"/>
            <a:ext cx="2694600" cy="2237700"/>
          </a:xfrm>
          <a:prstGeom prst="round2DiagRect">
            <a:avLst>
              <a:gd fmla="val 16667" name="adj1"/>
              <a:gd fmla="val 0" name="adj2"/>
            </a:avLst>
          </a:prstGeom>
          <a:solidFill>
            <a:srgbClr val="66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1100">
                <a:solidFill>
                  <a:schemeClr val="lt1"/>
                </a:solidFill>
              </a:rPr>
              <a:t>¿Cómo podríamos hacer que una máquina de alta complejidad comunique su estado y sus fallas de m</a:t>
            </a:r>
            <a:r>
              <a:rPr b="1" lang="es" sz="1100">
                <a:solidFill>
                  <a:schemeClr val="lt1"/>
                </a:solidFill>
              </a:rPr>
              <a:t>anera</a:t>
            </a:r>
            <a:r>
              <a:rPr b="1" lang="es" sz="1100">
                <a:solidFill>
                  <a:schemeClr val="lt1"/>
                </a:solidFill>
              </a:rPr>
              <a:t> intuitiva para que el operario pueda confiar en ella sin necesidad de vigilarla ni entender su código?</a:t>
            </a:r>
            <a:endParaRPr sz="900">
              <a:solidFill>
                <a:schemeClr val="lt1"/>
              </a:solidFill>
              <a:latin typeface="Helvetica Neue"/>
              <a:ea typeface="Helvetica Neue"/>
              <a:cs typeface="Helvetica Neue"/>
              <a:sym typeface="Helvetica Neue"/>
            </a:endParaRPr>
          </a:p>
        </p:txBody>
      </p:sp>
      <p:sp>
        <p:nvSpPr>
          <p:cNvPr id="81" name="Google Shape;81;p15"/>
          <p:cNvSpPr/>
          <p:nvPr/>
        </p:nvSpPr>
        <p:spPr>
          <a:xfrm>
            <a:off x="6168875" y="2514300"/>
            <a:ext cx="2694600" cy="2237700"/>
          </a:xfrm>
          <a:prstGeom prst="round2DiagRect">
            <a:avLst>
              <a:gd fmla="val 16667" name="adj1"/>
              <a:gd fmla="val 0" name="adj2"/>
            </a:avLst>
          </a:prstGeom>
          <a:solidFill>
            <a:srgbClr val="3D85C6"/>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b="1" lang="es" sz="1100">
                <a:solidFill>
                  <a:schemeClr val="lt1"/>
                </a:solidFill>
              </a:rPr>
              <a:t>¿Cómo podríamos entregarle al emprendedor una experiencia de uso libre de fricciones, de modo que no pierda el control y la propiedad sobre su herramienta?</a:t>
            </a:r>
            <a:endParaRPr sz="900">
              <a:solidFill>
                <a:schemeClr val="lt1"/>
              </a:solidFill>
            </a:endParaRPr>
          </a:p>
        </p:txBody>
      </p:sp>
      <p:sp>
        <p:nvSpPr>
          <p:cNvPr id="82" name="Google Shape;82;p15"/>
          <p:cNvSpPr/>
          <p:nvPr/>
        </p:nvSpPr>
        <p:spPr>
          <a:xfrm>
            <a:off x="3239838" y="1483325"/>
            <a:ext cx="2618400" cy="2237700"/>
          </a:xfrm>
          <a:prstGeom prst="round2DiagRect">
            <a:avLst>
              <a:gd fmla="val 16667" name="adj1"/>
              <a:gd fmla="val 0" name="adj2"/>
            </a:avLst>
          </a:prstGeom>
          <a:solidFill>
            <a:srgbClr val="45818E"/>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b="1" lang="es" sz="1100">
                <a:solidFill>
                  <a:schemeClr val="lt1"/>
                </a:solidFill>
              </a:rPr>
              <a:t>¿Cómo podríamos acercar capacidades de manufactura multimaterial a un micro-taller, garantizando que el proceso sea fluido para un usuario que busca producir?</a:t>
            </a:r>
            <a:endParaRPr sz="11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6"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88" name="Google Shape;88;p16"/>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89" name="Google Shape;89;p16"/>
          <p:cNvSpPr txBox="1"/>
          <p:nvPr/>
        </p:nvSpPr>
        <p:spPr>
          <a:xfrm>
            <a:off x="152275" y="430300"/>
            <a:ext cx="3185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Ideas</a:t>
            </a:r>
            <a:endParaRPr b="1">
              <a:solidFill>
                <a:srgbClr val="000000"/>
              </a:solidFill>
              <a:latin typeface="Helvetica Neue"/>
              <a:ea typeface="Helvetica Neue"/>
              <a:cs typeface="Helvetica Neue"/>
              <a:sym typeface="Helvetica Neue"/>
            </a:endParaRPr>
          </a:p>
        </p:txBody>
      </p:sp>
      <p:sp>
        <p:nvSpPr>
          <p:cNvPr id="90" name="Google Shape;90;p16"/>
          <p:cNvSpPr/>
          <p:nvPr/>
        </p:nvSpPr>
        <p:spPr>
          <a:xfrm>
            <a:off x="234625" y="922600"/>
            <a:ext cx="2694600" cy="3800100"/>
          </a:xfrm>
          <a:prstGeom prst="round2DiagRect">
            <a:avLst>
              <a:gd fmla="val 16667" name="adj1"/>
              <a:gd fmla="val 0" name="adj2"/>
            </a:avLst>
          </a:prstGeom>
          <a:solidFill>
            <a:srgbClr val="66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1000">
                <a:solidFill>
                  <a:schemeClr val="lt1"/>
                </a:solidFill>
              </a:rPr>
              <a:t>-Matriz lumínica visible a distancia (estado general) combinada con una interfase gráfica para cuando el operario está frente al equipo.</a:t>
            </a:r>
            <a:endParaRPr b="1" sz="1000">
              <a:solidFill>
                <a:schemeClr val="lt1"/>
              </a:solidFill>
            </a:endParaRPr>
          </a:p>
          <a:p>
            <a:pPr indent="0" lvl="0" marL="0" rtl="0" algn="l">
              <a:spcBef>
                <a:spcPts val="0"/>
              </a:spcBef>
              <a:spcAft>
                <a:spcPts val="0"/>
              </a:spcAft>
              <a:buNone/>
            </a:pPr>
            <a:r>
              <a:t/>
            </a:r>
            <a:endParaRPr b="1" sz="1000">
              <a:solidFill>
                <a:schemeClr val="lt1"/>
              </a:solidFill>
            </a:endParaRPr>
          </a:p>
          <a:p>
            <a:pPr indent="0" lvl="0" marL="0" rtl="0" algn="l">
              <a:spcBef>
                <a:spcPts val="0"/>
              </a:spcBef>
              <a:spcAft>
                <a:spcPts val="0"/>
              </a:spcAft>
              <a:buNone/>
            </a:pPr>
            <a:r>
              <a:t/>
            </a:r>
            <a:endParaRPr b="1" sz="1000">
              <a:solidFill>
                <a:schemeClr val="lt1"/>
              </a:solidFill>
            </a:endParaRPr>
          </a:p>
          <a:p>
            <a:pPr indent="0" lvl="0" marL="0" rtl="0" algn="l">
              <a:spcBef>
                <a:spcPts val="0"/>
              </a:spcBef>
              <a:spcAft>
                <a:spcPts val="0"/>
              </a:spcAft>
              <a:buNone/>
            </a:pPr>
            <a:r>
              <a:t/>
            </a:r>
            <a:endParaRPr b="1" sz="1000">
              <a:solidFill>
                <a:schemeClr val="lt1"/>
              </a:solidFill>
            </a:endParaRPr>
          </a:p>
          <a:p>
            <a:pPr indent="0" lvl="0" marL="0" rtl="0" algn="l">
              <a:spcBef>
                <a:spcPts val="0"/>
              </a:spcBef>
              <a:spcAft>
                <a:spcPts val="0"/>
              </a:spcAft>
              <a:buNone/>
            </a:pPr>
            <a:r>
              <a:rPr b="1" lang="es" sz="1000">
                <a:solidFill>
                  <a:schemeClr val="lt1"/>
                </a:solidFill>
              </a:rPr>
              <a:t>-La máquina envía notificaciones al smartphone del operario, informando status e instrucciones paso a paso.</a:t>
            </a:r>
            <a:endParaRPr b="1" sz="1000">
              <a:solidFill>
                <a:schemeClr val="lt1"/>
              </a:solidFill>
            </a:endParaRPr>
          </a:p>
          <a:p>
            <a:pPr indent="0" lvl="0" marL="0" rtl="0" algn="l">
              <a:spcBef>
                <a:spcPts val="0"/>
              </a:spcBef>
              <a:spcAft>
                <a:spcPts val="0"/>
              </a:spcAft>
              <a:buNone/>
            </a:pPr>
            <a:r>
              <a:t/>
            </a:r>
            <a:endParaRPr b="1" sz="1000">
              <a:solidFill>
                <a:schemeClr val="lt1"/>
              </a:solidFill>
            </a:endParaRPr>
          </a:p>
          <a:p>
            <a:pPr indent="0" lvl="0" marL="0" rtl="0" algn="l">
              <a:spcBef>
                <a:spcPts val="0"/>
              </a:spcBef>
              <a:spcAft>
                <a:spcPts val="0"/>
              </a:spcAft>
              <a:buNone/>
            </a:pPr>
            <a:r>
              <a:rPr b="1" lang="es" sz="1000">
                <a:solidFill>
                  <a:schemeClr val="lt1"/>
                </a:solidFill>
              </a:rPr>
              <a:t> </a:t>
            </a:r>
            <a:endParaRPr b="1" sz="1000">
              <a:solidFill>
                <a:schemeClr val="lt1"/>
              </a:solidFill>
            </a:endParaRPr>
          </a:p>
          <a:p>
            <a:pPr indent="0" lvl="0" marL="0" rtl="0" algn="l">
              <a:spcBef>
                <a:spcPts val="0"/>
              </a:spcBef>
              <a:spcAft>
                <a:spcPts val="0"/>
              </a:spcAft>
              <a:buNone/>
            </a:pPr>
            <a:r>
              <a:t/>
            </a:r>
            <a:endParaRPr b="1" sz="1000">
              <a:solidFill>
                <a:schemeClr val="lt1"/>
              </a:solidFill>
            </a:endParaRPr>
          </a:p>
          <a:p>
            <a:pPr indent="0" lvl="0" marL="0" rtl="0" algn="l">
              <a:spcBef>
                <a:spcPts val="0"/>
              </a:spcBef>
              <a:spcAft>
                <a:spcPts val="0"/>
              </a:spcAft>
              <a:buNone/>
            </a:pPr>
            <a:r>
              <a:rPr b="1" lang="es" sz="1000">
                <a:solidFill>
                  <a:schemeClr val="lt1"/>
                </a:solidFill>
              </a:rPr>
              <a:t>-Utilizar las frecuencias de los motores paso a paso para emitir melodías de éxito, atasco, alerta, etc. Que comuniquen el estado acústicamente.</a:t>
            </a:r>
            <a:endParaRPr b="1" sz="1000">
              <a:solidFill>
                <a:schemeClr val="lt1"/>
              </a:solidFill>
            </a:endParaRPr>
          </a:p>
        </p:txBody>
      </p:sp>
      <p:sp>
        <p:nvSpPr>
          <p:cNvPr id="91" name="Google Shape;91;p16"/>
          <p:cNvSpPr/>
          <p:nvPr/>
        </p:nvSpPr>
        <p:spPr>
          <a:xfrm>
            <a:off x="6168875" y="922600"/>
            <a:ext cx="2694600" cy="3800100"/>
          </a:xfrm>
          <a:prstGeom prst="round2DiagRect">
            <a:avLst>
              <a:gd fmla="val 16667" name="adj1"/>
              <a:gd fmla="val 0" name="adj2"/>
            </a:avLst>
          </a:prstGeom>
          <a:solidFill>
            <a:srgbClr val="3D85C6"/>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0"/>
              </a:spcAft>
              <a:buNone/>
            </a:pPr>
            <a:r>
              <a:rPr b="1" lang="es" sz="1000">
                <a:solidFill>
                  <a:schemeClr val="lt1"/>
                </a:solidFill>
              </a:rPr>
              <a:t>-Producto compuesto totalmente de partes “off-the-shelf”, equipado con rutinas de auto calibración.</a:t>
            </a:r>
            <a:endParaRPr b="1" sz="1000">
              <a:solidFill>
                <a:schemeClr val="lt1"/>
              </a:solidFill>
            </a:endParaRPr>
          </a:p>
          <a:p>
            <a:pPr indent="0" lvl="0" marL="0" rtl="0" algn="l">
              <a:lnSpc>
                <a:spcPct val="115000"/>
              </a:lnSpc>
              <a:spcBef>
                <a:spcPts val="777"/>
              </a:spcBef>
              <a:spcAft>
                <a:spcPts val="0"/>
              </a:spcAft>
              <a:buNone/>
            </a:pPr>
            <a:r>
              <a:t/>
            </a:r>
            <a:endParaRPr b="1" sz="1000">
              <a:solidFill>
                <a:schemeClr val="lt1"/>
              </a:solidFill>
            </a:endParaRPr>
          </a:p>
          <a:p>
            <a:pPr indent="0" lvl="0" marL="0" rtl="0" algn="l">
              <a:lnSpc>
                <a:spcPct val="115000"/>
              </a:lnSpc>
              <a:spcBef>
                <a:spcPts val="777"/>
              </a:spcBef>
              <a:spcAft>
                <a:spcPts val="0"/>
              </a:spcAft>
              <a:buNone/>
            </a:pPr>
            <a:r>
              <a:t/>
            </a:r>
            <a:endParaRPr b="1" sz="1000">
              <a:solidFill>
                <a:schemeClr val="lt1"/>
              </a:solidFill>
            </a:endParaRPr>
          </a:p>
          <a:p>
            <a:pPr indent="0" lvl="0" marL="0" rtl="0" algn="l">
              <a:lnSpc>
                <a:spcPct val="115000"/>
              </a:lnSpc>
              <a:spcBef>
                <a:spcPts val="777"/>
              </a:spcBef>
              <a:spcAft>
                <a:spcPts val="0"/>
              </a:spcAft>
              <a:buNone/>
            </a:pPr>
            <a:r>
              <a:rPr b="1" lang="es" sz="1000">
                <a:solidFill>
                  <a:schemeClr val="lt1"/>
                </a:solidFill>
              </a:rPr>
              <a:t>-Reparación automática, detectando que pieza falló y entregando el código para imprimir un repuesto.</a:t>
            </a:r>
            <a:endParaRPr b="1" sz="1000">
              <a:solidFill>
                <a:schemeClr val="lt1"/>
              </a:solidFill>
            </a:endParaRPr>
          </a:p>
          <a:p>
            <a:pPr indent="0" lvl="0" marL="0" rtl="0" algn="l">
              <a:lnSpc>
                <a:spcPct val="115000"/>
              </a:lnSpc>
              <a:spcBef>
                <a:spcPts val="777"/>
              </a:spcBef>
              <a:spcAft>
                <a:spcPts val="0"/>
              </a:spcAft>
              <a:buNone/>
            </a:pPr>
            <a:r>
              <a:t/>
            </a:r>
            <a:endParaRPr b="1" sz="1000">
              <a:solidFill>
                <a:schemeClr val="lt1"/>
              </a:solidFill>
            </a:endParaRPr>
          </a:p>
          <a:p>
            <a:pPr indent="0" lvl="0" marL="0" rtl="0" algn="l">
              <a:lnSpc>
                <a:spcPct val="115000"/>
              </a:lnSpc>
              <a:spcBef>
                <a:spcPts val="777"/>
              </a:spcBef>
              <a:spcAft>
                <a:spcPts val="0"/>
              </a:spcAft>
              <a:buNone/>
            </a:pPr>
            <a:r>
              <a:t/>
            </a:r>
            <a:endParaRPr b="1" sz="1000">
              <a:solidFill>
                <a:schemeClr val="lt1"/>
              </a:solidFill>
            </a:endParaRPr>
          </a:p>
          <a:p>
            <a:pPr indent="0" lvl="0" marL="0" rtl="0" algn="l">
              <a:lnSpc>
                <a:spcPct val="115000"/>
              </a:lnSpc>
              <a:spcBef>
                <a:spcPts val="777"/>
              </a:spcBef>
              <a:spcAft>
                <a:spcPts val="777"/>
              </a:spcAft>
              <a:buNone/>
            </a:pPr>
            <a:r>
              <a:rPr b="1" lang="es" sz="1000">
                <a:solidFill>
                  <a:schemeClr val="lt1"/>
                </a:solidFill>
              </a:rPr>
              <a:t>-Arquitectura hyper-impresa, donde todas las piezas posibles son impresas</a:t>
            </a:r>
            <a:endParaRPr b="1" sz="1000">
              <a:solidFill>
                <a:schemeClr val="lt1"/>
              </a:solidFill>
            </a:endParaRPr>
          </a:p>
        </p:txBody>
      </p:sp>
      <p:sp>
        <p:nvSpPr>
          <p:cNvPr id="92" name="Google Shape;92;p16"/>
          <p:cNvSpPr/>
          <p:nvPr/>
        </p:nvSpPr>
        <p:spPr>
          <a:xfrm>
            <a:off x="3239850" y="922600"/>
            <a:ext cx="2618400" cy="3800100"/>
          </a:xfrm>
          <a:prstGeom prst="round2DiagRect">
            <a:avLst>
              <a:gd fmla="val 16667" name="adj1"/>
              <a:gd fmla="val 0" name="adj2"/>
            </a:avLst>
          </a:prstGeom>
          <a:solidFill>
            <a:srgbClr val="45818E"/>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0"/>
              </a:spcAft>
              <a:buNone/>
            </a:pPr>
            <a:r>
              <a:rPr b="1" lang="es" sz="1000">
                <a:solidFill>
                  <a:schemeClr val="lt1"/>
                </a:solidFill>
              </a:rPr>
              <a:t>-Arquitectura toolchanger que acopla y desacopla extrusores independientes</a:t>
            </a:r>
            <a:endParaRPr b="1" sz="1000">
              <a:solidFill>
                <a:schemeClr val="lt1"/>
              </a:solidFill>
            </a:endParaRPr>
          </a:p>
          <a:p>
            <a:pPr indent="0" lvl="0" marL="0" rtl="0" algn="l">
              <a:lnSpc>
                <a:spcPct val="115000"/>
              </a:lnSpc>
              <a:spcBef>
                <a:spcPts val="777"/>
              </a:spcBef>
              <a:spcAft>
                <a:spcPts val="0"/>
              </a:spcAft>
              <a:buNone/>
            </a:pPr>
            <a:r>
              <a:t/>
            </a:r>
            <a:endParaRPr b="1" sz="1000">
              <a:solidFill>
                <a:schemeClr val="lt1"/>
              </a:solidFill>
            </a:endParaRPr>
          </a:p>
          <a:p>
            <a:pPr indent="0" lvl="0" marL="0" rtl="0" algn="l">
              <a:lnSpc>
                <a:spcPct val="115000"/>
              </a:lnSpc>
              <a:spcBef>
                <a:spcPts val="777"/>
              </a:spcBef>
              <a:spcAft>
                <a:spcPts val="0"/>
              </a:spcAft>
              <a:buNone/>
            </a:pPr>
            <a:r>
              <a:t/>
            </a:r>
            <a:endParaRPr b="1" sz="1000">
              <a:solidFill>
                <a:schemeClr val="lt1"/>
              </a:solidFill>
            </a:endParaRPr>
          </a:p>
          <a:p>
            <a:pPr indent="0" lvl="0" marL="0" rtl="0" algn="l">
              <a:lnSpc>
                <a:spcPct val="115000"/>
              </a:lnSpc>
              <a:spcBef>
                <a:spcPts val="777"/>
              </a:spcBef>
              <a:spcAft>
                <a:spcPts val="0"/>
              </a:spcAft>
              <a:buNone/>
            </a:pPr>
            <a:r>
              <a:rPr b="1" lang="es" sz="1000">
                <a:solidFill>
                  <a:schemeClr val="lt1"/>
                </a:solidFill>
              </a:rPr>
              <a:t>-Cabezal rotativo con tambor giratorio (revólver) que posiciona el filamento sobre la boquilla.</a:t>
            </a:r>
            <a:endParaRPr b="1" sz="1000">
              <a:solidFill>
                <a:schemeClr val="lt1"/>
              </a:solidFill>
            </a:endParaRPr>
          </a:p>
          <a:p>
            <a:pPr indent="0" lvl="0" marL="0" rtl="0" algn="l">
              <a:lnSpc>
                <a:spcPct val="115000"/>
              </a:lnSpc>
              <a:spcBef>
                <a:spcPts val="777"/>
              </a:spcBef>
              <a:spcAft>
                <a:spcPts val="0"/>
              </a:spcAft>
              <a:buNone/>
            </a:pPr>
            <a:r>
              <a:t/>
            </a:r>
            <a:endParaRPr b="1" sz="1000">
              <a:solidFill>
                <a:schemeClr val="lt1"/>
              </a:solidFill>
            </a:endParaRPr>
          </a:p>
          <a:p>
            <a:pPr indent="0" lvl="0" marL="0" rtl="0" algn="l">
              <a:lnSpc>
                <a:spcPct val="115000"/>
              </a:lnSpc>
              <a:spcBef>
                <a:spcPts val="777"/>
              </a:spcBef>
              <a:spcAft>
                <a:spcPts val="0"/>
              </a:spcAft>
              <a:buNone/>
            </a:pPr>
            <a:r>
              <a:t/>
            </a:r>
            <a:endParaRPr b="1" sz="1000">
              <a:solidFill>
                <a:schemeClr val="lt1"/>
              </a:solidFill>
            </a:endParaRPr>
          </a:p>
          <a:p>
            <a:pPr indent="0" lvl="0" marL="0" rtl="0" algn="l">
              <a:lnSpc>
                <a:spcPct val="115000"/>
              </a:lnSpc>
              <a:spcBef>
                <a:spcPts val="777"/>
              </a:spcBef>
              <a:spcAft>
                <a:spcPts val="777"/>
              </a:spcAft>
              <a:buNone/>
            </a:pPr>
            <a:r>
              <a:rPr b="1" lang="es" sz="1000">
                <a:solidFill>
                  <a:schemeClr val="lt1"/>
                </a:solidFill>
              </a:rPr>
              <a:t>-Micro extrusión de pellets derritiéndolos y </a:t>
            </a:r>
            <a:r>
              <a:rPr b="1" lang="es" sz="1000">
                <a:solidFill>
                  <a:schemeClr val="lt1"/>
                </a:solidFill>
              </a:rPr>
              <a:t>mezclandolos</a:t>
            </a:r>
            <a:r>
              <a:rPr b="1" lang="es" sz="1000">
                <a:solidFill>
                  <a:schemeClr val="lt1"/>
                </a:solidFill>
              </a:rPr>
              <a:t> en tiempo real</a:t>
            </a:r>
            <a:endParaRPr b="1" sz="10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7"/>
          <p:cNvPicPr preferRelativeResize="0"/>
          <p:nvPr/>
        </p:nvPicPr>
        <p:blipFill>
          <a:blip r:embed="rId3">
            <a:alphaModFix/>
          </a:blip>
          <a:stretch>
            <a:fillRect/>
          </a:stretch>
        </p:blipFill>
        <p:spPr>
          <a:xfrm>
            <a:off x="4536675" y="916100"/>
            <a:ext cx="593375" cy="593375"/>
          </a:xfrm>
          <a:prstGeom prst="rect">
            <a:avLst/>
          </a:prstGeom>
          <a:noFill/>
          <a:ln>
            <a:noFill/>
          </a:ln>
        </p:spPr>
      </p:pic>
      <p:pic>
        <p:nvPicPr>
          <p:cNvPr id="98" name="Google Shape;98;p17" title="faad_lockupsArtboard 1@2x.png"/>
          <p:cNvPicPr preferRelativeResize="0"/>
          <p:nvPr/>
        </p:nvPicPr>
        <p:blipFill>
          <a:blip r:embed="rId4">
            <a:alphaModFix/>
          </a:blip>
          <a:stretch>
            <a:fillRect/>
          </a:stretch>
        </p:blipFill>
        <p:spPr>
          <a:xfrm>
            <a:off x="7720079" y="217525"/>
            <a:ext cx="1003397" cy="348600"/>
          </a:xfrm>
          <a:prstGeom prst="rect">
            <a:avLst/>
          </a:prstGeom>
          <a:noFill/>
          <a:ln>
            <a:noFill/>
          </a:ln>
        </p:spPr>
      </p:pic>
      <p:sp>
        <p:nvSpPr>
          <p:cNvPr id="99" name="Google Shape;99;p17"/>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100" name="Google Shape;100;p17"/>
          <p:cNvSpPr txBox="1"/>
          <p:nvPr/>
        </p:nvSpPr>
        <p:spPr>
          <a:xfrm>
            <a:off x="152275" y="430300"/>
            <a:ext cx="3185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Selección Razonada</a:t>
            </a:r>
            <a:endParaRPr b="1">
              <a:solidFill>
                <a:srgbClr val="000000"/>
              </a:solidFill>
              <a:latin typeface="Helvetica Neue"/>
              <a:ea typeface="Helvetica Neue"/>
              <a:cs typeface="Helvetica Neue"/>
              <a:sym typeface="Helvetica Neue"/>
            </a:endParaRPr>
          </a:p>
        </p:txBody>
      </p:sp>
      <p:sp>
        <p:nvSpPr>
          <p:cNvPr id="101" name="Google Shape;101;p17"/>
          <p:cNvSpPr/>
          <p:nvPr/>
        </p:nvSpPr>
        <p:spPr>
          <a:xfrm>
            <a:off x="914550" y="2637450"/>
            <a:ext cx="3121500" cy="1903800"/>
          </a:xfrm>
          <a:prstGeom prst="round2DiagRect">
            <a:avLst>
              <a:gd fmla="val 16667" name="adj1"/>
              <a:gd fmla="val 0" name="adj2"/>
            </a:avLst>
          </a:prstGeom>
          <a:solidFill>
            <a:srgbClr val="3D85C6"/>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b="1" lang="es" sz="1000">
                <a:solidFill>
                  <a:schemeClr val="lt1"/>
                </a:solidFill>
              </a:rPr>
              <a:t>transforma los datos invisibles del firmware en estímulos visuales. Y delega la supervisión a la máquina, suprimiendo la carga cognitiva del usuario. </a:t>
            </a:r>
            <a:endParaRPr b="1" sz="1000">
              <a:solidFill>
                <a:schemeClr val="lt1"/>
              </a:solidFill>
            </a:endParaRPr>
          </a:p>
        </p:txBody>
      </p:sp>
      <p:sp>
        <p:nvSpPr>
          <p:cNvPr id="102" name="Google Shape;102;p17"/>
          <p:cNvSpPr/>
          <p:nvPr/>
        </p:nvSpPr>
        <p:spPr>
          <a:xfrm>
            <a:off x="5055275" y="1224300"/>
            <a:ext cx="3121500" cy="1164000"/>
          </a:xfrm>
          <a:prstGeom prst="round2DiagRect">
            <a:avLst>
              <a:gd fmla="val 16667" name="adj1"/>
              <a:gd fmla="val 0" name="adj2"/>
            </a:avLst>
          </a:prstGeom>
          <a:solidFill>
            <a:srgbClr val="45818E"/>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b="1" lang="es" sz="1000">
                <a:solidFill>
                  <a:schemeClr val="lt1"/>
                </a:solidFill>
              </a:rPr>
              <a:t>-Cabezal rotativo con tambor giratorio (revólver) que posiciona el filamento sobre la boquilla.</a:t>
            </a:r>
            <a:endParaRPr b="1" sz="1000">
              <a:solidFill>
                <a:schemeClr val="lt1"/>
              </a:solidFill>
            </a:endParaRPr>
          </a:p>
        </p:txBody>
      </p:sp>
      <p:sp>
        <p:nvSpPr>
          <p:cNvPr id="103" name="Google Shape;103;p17"/>
          <p:cNvSpPr/>
          <p:nvPr/>
        </p:nvSpPr>
        <p:spPr>
          <a:xfrm>
            <a:off x="5055275" y="2670300"/>
            <a:ext cx="3121500" cy="1871100"/>
          </a:xfrm>
          <a:prstGeom prst="round2DiagRect">
            <a:avLst>
              <a:gd fmla="val 16667" name="adj1"/>
              <a:gd fmla="val 0" name="adj2"/>
            </a:avLst>
          </a:prstGeom>
          <a:solidFill>
            <a:srgbClr val="3D85C6"/>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b="1" lang="es" sz="1000">
                <a:solidFill>
                  <a:schemeClr val="lt1"/>
                </a:solidFill>
              </a:rPr>
              <a:t>Resuelve el cuello de botella físico acercando el intercambio directamente al cabezal. Logrando capacidades de manufactura multimaterial real.</a:t>
            </a:r>
            <a:endParaRPr b="1" sz="1000">
              <a:solidFill>
                <a:schemeClr val="lt1"/>
              </a:solidFill>
            </a:endParaRPr>
          </a:p>
        </p:txBody>
      </p:sp>
      <p:pic>
        <p:nvPicPr>
          <p:cNvPr id="104" name="Google Shape;104;p17"/>
          <p:cNvPicPr preferRelativeResize="0"/>
          <p:nvPr/>
        </p:nvPicPr>
        <p:blipFill>
          <a:blip r:embed="rId5">
            <a:alphaModFix/>
          </a:blip>
          <a:stretch>
            <a:fillRect/>
          </a:stretch>
        </p:blipFill>
        <p:spPr>
          <a:xfrm>
            <a:off x="399325" y="895900"/>
            <a:ext cx="633775" cy="633775"/>
          </a:xfrm>
          <a:prstGeom prst="rect">
            <a:avLst/>
          </a:prstGeom>
          <a:noFill/>
          <a:ln>
            <a:noFill/>
          </a:ln>
        </p:spPr>
      </p:pic>
      <p:sp>
        <p:nvSpPr>
          <p:cNvPr id="105" name="Google Shape;105;p17"/>
          <p:cNvSpPr/>
          <p:nvPr/>
        </p:nvSpPr>
        <p:spPr>
          <a:xfrm>
            <a:off x="891100" y="1224300"/>
            <a:ext cx="3121500" cy="1164000"/>
          </a:xfrm>
          <a:prstGeom prst="round2DiagRect">
            <a:avLst>
              <a:gd fmla="val 16667" name="adj1"/>
              <a:gd fmla="val 0" name="adj2"/>
            </a:avLst>
          </a:prstGeom>
          <a:solidFill>
            <a:srgbClr val="66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1000">
                <a:solidFill>
                  <a:schemeClr val="lt1"/>
                </a:solidFill>
              </a:rPr>
              <a:t>-Matriz lumínica visible a distancia (estado general) combinada con una interfase gráfica para cuando el operario está frente al equipo.</a:t>
            </a:r>
            <a:endParaRPr b="1" sz="10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8"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111" name="Google Shape;111;p18"/>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112" name="Google Shape;112;p18"/>
          <p:cNvSpPr txBox="1"/>
          <p:nvPr/>
        </p:nvSpPr>
        <p:spPr>
          <a:xfrm>
            <a:off x="152275" y="430300"/>
            <a:ext cx="3185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Selección Razonada</a:t>
            </a:r>
            <a:endParaRPr b="1">
              <a:solidFill>
                <a:srgbClr val="000000"/>
              </a:solidFill>
              <a:latin typeface="Helvetica Neue"/>
              <a:ea typeface="Helvetica Neue"/>
              <a:cs typeface="Helvetica Neue"/>
              <a:sym typeface="Helvetica Neue"/>
            </a:endParaRPr>
          </a:p>
        </p:txBody>
      </p:sp>
      <p:sp>
        <p:nvSpPr>
          <p:cNvPr id="113" name="Google Shape;113;p18"/>
          <p:cNvSpPr/>
          <p:nvPr/>
        </p:nvSpPr>
        <p:spPr>
          <a:xfrm>
            <a:off x="410850" y="922600"/>
            <a:ext cx="3831900" cy="750000"/>
          </a:xfrm>
          <a:prstGeom prst="round2DiagRect">
            <a:avLst>
              <a:gd fmla="val 16667" name="adj1"/>
              <a:gd fmla="val 0" name="adj2"/>
            </a:avLst>
          </a:prstGeom>
          <a:solidFill>
            <a:srgbClr val="66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1000">
                <a:solidFill>
                  <a:schemeClr val="lt1"/>
                </a:solidFill>
              </a:rPr>
              <a:t>-Matriz lumínica visible a distancia (estado general) combinada con una interfase gráfica para cuando el operario está frente al equipo.</a:t>
            </a:r>
            <a:endParaRPr b="1" sz="1000">
              <a:solidFill>
                <a:schemeClr val="lt1"/>
              </a:solidFill>
            </a:endParaRPr>
          </a:p>
        </p:txBody>
      </p:sp>
      <p:sp>
        <p:nvSpPr>
          <p:cNvPr id="114" name="Google Shape;114;p18"/>
          <p:cNvSpPr/>
          <p:nvPr/>
        </p:nvSpPr>
        <p:spPr>
          <a:xfrm>
            <a:off x="410850" y="1969675"/>
            <a:ext cx="2184900" cy="2817600"/>
          </a:xfrm>
          <a:prstGeom prst="round2DiagRect">
            <a:avLst>
              <a:gd fmla="val 16667" name="adj1"/>
              <a:gd fmla="val 0" name="adj2"/>
            </a:avLst>
          </a:prstGeom>
          <a:solidFill>
            <a:srgbClr val="999999"/>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0"/>
              </a:spcAft>
              <a:buNone/>
            </a:pPr>
            <a:r>
              <a:rPr b="1" lang="es" sz="1000">
                <a:solidFill>
                  <a:schemeClr val="lt1"/>
                </a:solidFill>
              </a:rPr>
              <a:t>Interfaz de comunicación visual que traduce en tiempo real datos como temperaturas, estado de impresión, errores, cambio de filamento, pureza del aire, etc.</a:t>
            </a:r>
            <a:endParaRPr b="1" sz="1000">
              <a:solidFill>
                <a:schemeClr val="lt1"/>
              </a:solidFill>
            </a:endParaRPr>
          </a:p>
          <a:p>
            <a:pPr indent="0" lvl="0" marL="0" rtl="0" algn="l">
              <a:lnSpc>
                <a:spcPct val="115000"/>
              </a:lnSpc>
              <a:spcBef>
                <a:spcPts val="777"/>
              </a:spcBef>
              <a:spcAft>
                <a:spcPts val="777"/>
              </a:spcAft>
              <a:buNone/>
            </a:pPr>
            <a:br>
              <a:rPr b="1" lang="es" sz="1000">
                <a:solidFill>
                  <a:schemeClr val="lt1"/>
                </a:solidFill>
              </a:rPr>
            </a:br>
            <a:r>
              <a:rPr b="1" lang="es" sz="1000">
                <a:solidFill>
                  <a:schemeClr val="lt1"/>
                </a:solidFill>
              </a:rPr>
              <a:t>Elimina el “babysitting” al permitir entender el estado de la </a:t>
            </a:r>
            <a:r>
              <a:rPr b="1" lang="es" sz="1000">
                <a:solidFill>
                  <a:schemeClr val="lt1"/>
                </a:solidFill>
              </a:rPr>
              <a:t>máquina</a:t>
            </a:r>
            <a:r>
              <a:rPr b="1" lang="es" sz="1000">
                <a:solidFill>
                  <a:schemeClr val="lt1"/>
                </a:solidFill>
              </a:rPr>
              <a:t> al usuario a metros de distancia con una rápida mirada.</a:t>
            </a:r>
            <a:endParaRPr b="1" sz="1000">
              <a:solidFill>
                <a:schemeClr val="lt1"/>
              </a:solidFill>
            </a:endParaRPr>
          </a:p>
        </p:txBody>
      </p:sp>
      <p:sp>
        <p:nvSpPr>
          <p:cNvPr id="115" name="Google Shape;115;p18"/>
          <p:cNvSpPr/>
          <p:nvPr/>
        </p:nvSpPr>
        <p:spPr>
          <a:xfrm>
            <a:off x="5055275" y="922600"/>
            <a:ext cx="3567900" cy="750000"/>
          </a:xfrm>
          <a:prstGeom prst="round2DiagRect">
            <a:avLst>
              <a:gd fmla="val 16667" name="adj1"/>
              <a:gd fmla="val 0" name="adj2"/>
            </a:avLst>
          </a:prstGeom>
          <a:solidFill>
            <a:srgbClr val="45818E"/>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b="1" lang="es" sz="1000">
                <a:solidFill>
                  <a:schemeClr val="lt1"/>
                </a:solidFill>
              </a:rPr>
              <a:t>-Cabezal rotativo con tambor giratorio (revólver) que posiciona el filamento sobre la boquilla.</a:t>
            </a:r>
            <a:endParaRPr b="1" sz="1000">
              <a:solidFill>
                <a:schemeClr val="lt1"/>
              </a:solidFill>
            </a:endParaRPr>
          </a:p>
        </p:txBody>
      </p:sp>
      <p:sp>
        <p:nvSpPr>
          <p:cNvPr id="116" name="Google Shape;116;p18"/>
          <p:cNvSpPr/>
          <p:nvPr/>
        </p:nvSpPr>
        <p:spPr>
          <a:xfrm>
            <a:off x="5055275" y="1969525"/>
            <a:ext cx="1839900" cy="2817600"/>
          </a:xfrm>
          <a:prstGeom prst="round2DiagRect">
            <a:avLst>
              <a:gd fmla="val 16667" name="adj1"/>
              <a:gd fmla="val 0" name="adj2"/>
            </a:avLst>
          </a:prstGeom>
          <a:solidFill>
            <a:srgbClr val="999999"/>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0"/>
              </a:spcAft>
              <a:buNone/>
            </a:pPr>
            <a:r>
              <a:rPr b="1" lang="es" sz="1000">
                <a:solidFill>
                  <a:schemeClr val="lt1"/>
                </a:solidFill>
              </a:rPr>
              <a:t>Módulo mecánico acoplado al cabezal, encargado de gestionar el cambio de filamentos mediante un sistema parasítico.</a:t>
            </a:r>
            <a:endParaRPr b="1" sz="1000">
              <a:solidFill>
                <a:schemeClr val="lt1"/>
              </a:solidFill>
            </a:endParaRPr>
          </a:p>
          <a:p>
            <a:pPr indent="0" lvl="0" marL="0" rtl="0" algn="l">
              <a:lnSpc>
                <a:spcPct val="115000"/>
              </a:lnSpc>
              <a:spcBef>
                <a:spcPts val="777"/>
              </a:spcBef>
              <a:spcAft>
                <a:spcPts val="0"/>
              </a:spcAft>
              <a:buNone/>
            </a:pPr>
            <a:r>
              <a:t/>
            </a:r>
            <a:endParaRPr b="1" sz="1000">
              <a:solidFill>
                <a:schemeClr val="lt1"/>
              </a:solidFill>
            </a:endParaRPr>
          </a:p>
          <a:p>
            <a:pPr indent="0" lvl="0" marL="0" rtl="0" algn="l">
              <a:lnSpc>
                <a:spcPct val="115000"/>
              </a:lnSpc>
              <a:spcBef>
                <a:spcPts val="777"/>
              </a:spcBef>
              <a:spcAft>
                <a:spcPts val="777"/>
              </a:spcAft>
              <a:buNone/>
            </a:pPr>
            <a:r>
              <a:rPr b="1" lang="es" sz="1000">
                <a:solidFill>
                  <a:schemeClr val="lt1"/>
                </a:solidFill>
              </a:rPr>
              <a:t>Al cambiar el material en el cabezal</a:t>
            </a:r>
            <a:r>
              <a:rPr b="1" lang="es" sz="1000">
                <a:solidFill>
                  <a:schemeClr val="lt1"/>
                </a:solidFill>
              </a:rPr>
              <a:t> la retracción es mínima, evitando atascos con TPU y democratizando la manufactura multimaterial real.</a:t>
            </a:r>
            <a:endParaRPr b="1" sz="1000">
              <a:solidFill>
                <a:schemeClr val="lt1"/>
              </a:solidFill>
            </a:endParaRPr>
          </a:p>
        </p:txBody>
      </p:sp>
      <p:pic>
        <p:nvPicPr>
          <p:cNvPr id="117" name="Google Shape;117;p18"/>
          <p:cNvPicPr preferRelativeResize="0"/>
          <p:nvPr/>
        </p:nvPicPr>
        <p:blipFill>
          <a:blip r:embed="rId4">
            <a:alphaModFix/>
          </a:blip>
          <a:stretch>
            <a:fillRect/>
          </a:stretch>
        </p:blipFill>
        <p:spPr>
          <a:xfrm>
            <a:off x="2657875" y="1969525"/>
            <a:ext cx="1584876" cy="2817603"/>
          </a:xfrm>
          <a:prstGeom prst="rect">
            <a:avLst/>
          </a:prstGeom>
          <a:noFill/>
          <a:ln>
            <a:noFill/>
          </a:ln>
        </p:spPr>
      </p:pic>
      <p:pic>
        <p:nvPicPr>
          <p:cNvPr id="118" name="Google Shape;118;p18"/>
          <p:cNvPicPr preferRelativeResize="0"/>
          <p:nvPr/>
        </p:nvPicPr>
        <p:blipFill rotWithShape="1">
          <a:blip r:embed="rId5">
            <a:alphaModFix/>
          </a:blip>
          <a:srcRect b="0" l="23134" r="17897" t="0"/>
          <a:stretch/>
        </p:blipFill>
        <p:spPr>
          <a:xfrm>
            <a:off x="6961625" y="1969525"/>
            <a:ext cx="1661550" cy="2817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nvSpPr>
        <p:spPr>
          <a:xfrm>
            <a:off x="0" y="5389375"/>
            <a:ext cx="4254000" cy="180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100">
                <a:solidFill>
                  <a:schemeClr val="dk1"/>
                </a:solidFill>
              </a:rPr>
              <a:t>La implementación de una arquitectura ciberfísica, que delegue el diagnóstico y control sobre un ecosistema de hardware abierto a una red de sensorial  resolverá la fricción estructural de la manufactura aditiva técnica. Esta configuración anula el impuesto laboral de la supervisión manual constante, dotando al prosumidor de la resiliencia operativa necesaria para escalar hacia la producción multimaterial avanzada sin sacrificar su soberanía tecnológica ni su viabilidad económica</a:t>
            </a:r>
            <a:endParaRPr b="1" sz="1200">
              <a:solidFill>
                <a:srgbClr val="000000"/>
              </a:solidFill>
              <a:latin typeface="Helvetica Neue"/>
              <a:ea typeface="Helvetica Neue"/>
              <a:cs typeface="Helvetica Neue"/>
              <a:sym typeface="Helvetica Neue"/>
            </a:endParaRPr>
          </a:p>
        </p:txBody>
      </p:sp>
      <p:pic>
        <p:nvPicPr>
          <p:cNvPr id="124" name="Google Shape;124;p19"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125" name="Google Shape;125;p19"/>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graphicFrame>
        <p:nvGraphicFramePr>
          <p:cNvPr id="126" name="Google Shape;126;p19"/>
          <p:cNvGraphicFramePr/>
          <p:nvPr/>
        </p:nvGraphicFramePr>
        <p:xfrm>
          <a:off x="1857363" y="861013"/>
          <a:ext cx="3000000" cy="3000000"/>
        </p:xfrm>
        <a:graphic>
          <a:graphicData uri="http://schemas.openxmlformats.org/drawingml/2006/table">
            <a:tbl>
              <a:tblPr>
                <a:noFill/>
                <a:tableStyleId>{CEEE6B07-B520-4A86-8C4B-9EED803D83E4}</a:tableStyleId>
              </a:tblPr>
              <a:tblGrid>
                <a:gridCol w="904875"/>
                <a:gridCol w="904875"/>
                <a:gridCol w="904875"/>
                <a:gridCol w="904875"/>
                <a:gridCol w="904875"/>
                <a:gridCol w="904875"/>
              </a:tblGrid>
              <a:tr h="381000">
                <a:tc>
                  <a:txBody>
                    <a:bodyPr/>
                    <a:lstStyle/>
                    <a:p>
                      <a:pPr indent="0" lvl="0" marL="0" rtl="0" algn="l">
                        <a:spcBef>
                          <a:spcPts val="0"/>
                        </a:spcBef>
                        <a:spcAft>
                          <a:spcPts val="0"/>
                        </a:spcAft>
                        <a:buNone/>
                      </a:pPr>
                      <a:r>
                        <a:rPr lang="es" sz="800"/>
                        <a:t>Actividad</a:t>
                      </a:r>
                      <a:endParaRPr sz="800"/>
                    </a:p>
                  </a:txBody>
                  <a:tcPr marT="91425" marB="91425" marR="91425" marL="91425"/>
                </a:tc>
                <a:tc>
                  <a:txBody>
                    <a:bodyPr/>
                    <a:lstStyle/>
                    <a:p>
                      <a:pPr indent="0" lvl="0" marL="0" rtl="0" algn="l">
                        <a:spcBef>
                          <a:spcPts val="0"/>
                        </a:spcBef>
                        <a:spcAft>
                          <a:spcPts val="0"/>
                        </a:spcAft>
                        <a:buNone/>
                      </a:pPr>
                      <a:r>
                        <a:rPr lang="es" sz="800"/>
                        <a:t>Agosto</a:t>
                      </a:r>
                      <a:endParaRPr sz="800"/>
                    </a:p>
                  </a:txBody>
                  <a:tcPr marT="91425" marB="91425" marR="91425" marL="91425"/>
                </a:tc>
                <a:tc>
                  <a:txBody>
                    <a:bodyPr/>
                    <a:lstStyle/>
                    <a:p>
                      <a:pPr indent="0" lvl="0" marL="0" rtl="0" algn="l">
                        <a:spcBef>
                          <a:spcPts val="0"/>
                        </a:spcBef>
                        <a:spcAft>
                          <a:spcPts val="0"/>
                        </a:spcAft>
                        <a:buNone/>
                      </a:pPr>
                      <a:r>
                        <a:rPr lang="es" sz="800"/>
                        <a:t>Septiembre</a:t>
                      </a:r>
                      <a:endParaRPr sz="800"/>
                    </a:p>
                  </a:txBody>
                  <a:tcPr marT="91425" marB="91425" marR="91425" marL="91425"/>
                </a:tc>
                <a:tc>
                  <a:txBody>
                    <a:bodyPr/>
                    <a:lstStyle/>
                    <a:p>
                      <a:pPr indent="0" lvl="0" marL="0" rtl="0" algn="l">
                        <a:spcBef>
                          <a:spcPts val="0"/>
                        </a:spcBef>
                        <a:spcAft>
                          <a:spcPts val="0"/>
                        </a:spcAft>
                        <a:buNone/>
                      </a:pPr>
                      <a:r>
                        <a:rPr lang="es" sz="800"/>
                        <a:t>Octubre</a:t>
                      </a:r>
                      <a:endParaRPr sz="800"/>
                    </a:p>
                  </a:txBody>
                  <a:tcPr marT="91425" marB="91425" marR="91425" marL="91425"/>
                </a:tc>
                <a:tc>
                  <a:txBody>
                    <a:bodyPr/>
                    <a:lstStyle/>
                    <a:p>
                      <a:pPr indent="0" lvl="0" marL="0" rtl="0" algn="l">
                        <a:spcBef>
                          <a:spcPts val="0"/>
                        </a:spcBef>
                        <a:spcAft>
                          <a:spcPts val="0"/>
                        </a:spcAft>
                        <a:buNone/>
                      </a:pPr>
                      <a:r>
                        <a:rPr lang="es" sz="800"/>
                        <a:t>Noviembre</a:t>
                      </a:r>
                      <a:endParaRPr sz="800"/>
                    </a:p>
                  </a:txBody>
                  <a:tcPr marT="91425" marB="91425" marR="91425" marL="91425"/>
                </a:tc>
                <a:tc>
                  <a:txBody>
                    <a:bodyPr/>
                    <a:lstStyle/>
                    <a:p>
                      <a:pPr indent="0" lvl="0" marL="0" rtl="0" algn="l">
                        <a:spcBef>
                          <a:spcPts val="0"/>
                        </a:spcBef>
                        <a:spcAft>
                          <a:spcPts val="0"/>
                        </a:spcAft>
                        <a:buNone/>
                      </a:pPr>
                      <a:r>
                        <a:rPr lang="es" sz="800"/>
                        <a:t>Diciembre</a:t>
                      </a:r>
                      <a:endParaRPr sz="800"/>
                    </a:p>
                  </a:txBody>
                  <a:tcPr marT="91425" marB="91425" marR="91425" marL="91425"/>
                </a:tc>
              </a:tr>
              <a:tr h="381000">
                <a:tc>
                  <a:txBody>
                    <a:bodyPr/>
                    <a:lstStyle/>
                    <a:p>
                      <a:pPr indent="0" lvl="0" marL="0" rtl="0" algn="l">
                        <a:spcBef>
                          <a:spcPts val="0"/>
                        </a:spcBef>
                        <a:spcAft>
                          <a:spcPts val="0"/>
                        </a:spcAft>
                        <a:buNone/>
                      </a:pPr>
                      <a:r>
                        <a:rPr lang="es" sz="800"/>
                        <a:t>testeo multimaterial</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rPr lang="es" sz="800"/>
                        <a:t>Definición de criterios y </a:t>
                      </a:r>
                      <a:r>
                        <a:rPr lang="es" sz="800"/>
                        <a:t>conceptualización ciberfísica</a:t>
                      </a:r>
                      <a:r>
                        <a:rPr lang="es" sz="800"/>
                        <a:t>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rPr lang="es" sz="800"/>
                        <a:t>Diseño, iteración y testeo modular de hardware y software</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rPr lang="es" sz="800"/>
                        <a:t>Prototipo final</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rPr lang="es" sz="800"/>
                        <a:t>Feedback usuarios</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rPr lang="es" sz="800"/>
                        <a:t>Documentación</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rPr lang="es" sz="800"/>
                        <a:t>Presentación título</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sp>
        <p:nvSpPr>
          <p:cNvPr id="127" name="Google Shape;127;p19"/>
          <p:cNvSpPr/>
          <p:nvPr/>
        </p:nvSpPr>
        <p:spPr>
          <a:xfrm>
            <a:off x="2762250" y="1242025"/>
            <a:ext cx="437100" cy="4266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9"/>
          <p:cNvSpPr/>
          <p:nvPr/>
        </p:nvSpPr>
        <p:spPr>
          <a:xfrm>
            <a:off x="2762250" y="1668625"/>
            <a:ext cx="208200" cy="6705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9"/>
          <p:cNvSpPr/>
          <p:nvPr/>
        </p:nvSpPr>
        <p:spPr>
          <a:xfrm>
            <a:off x="6381750" y="4320325"/>
            <a:ext cx="437100" cy="4266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9"/>
          <p:cNvSpPr/>
          <p:nvPr/>
        </p:nvSpPr>
        <p:spPr>
          <a:xfrm>
            <a:off x="4572000" y="3512650"/>
            <a:ext cx="1809600" cy="4266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19"/>
          <p:cNvSpPr/>
          <p:nvPr/>
        </p:nvSpPr>
        <p:spPr>
          <a:xfrm>
            <a:off x="4572000" y="3939325"/>
            <a:ext cx="2247000" cy="3810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9"/>
          <p:cNvSpPr/>
          <p:nvPr/>
        </p:nvSpPr>
        <p:spPr>
          <a:xfrm>
            <a:off x="2762250" y="2339125"/>
            <a:ext cx="3151800" cy="7926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9"/>
          <p:cNvSpPr/>
          <p:nvPr/>
        </p:nvSpPr>
        <p:spPr>
          <a:xfrm>
            <a:off x="5476950" y="3131575"/>
            <a:ext cx="437100" cy="3810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9"/>
          <p:cNvSpPr txBox="1"/>
          <p:nvPr/>
        </p:nvSpPr>
        <p:spPr>
          <a:xfrm>
            <a:off x="3727500" y="244750"/>
            <a:ext cx="1689000" cy="34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900">
                <a:solidFill>
                  <a:schemeClr val="dk1"/>
                </a:solidFill>
                <a:latin typeface="Helvetica Neue"/>
                <a:ea typeface="Helvetica Neue"/>
                <a:cs typeface="Helvetica Neue"/>
                <a:sym typeface="Helvetica Neue"/>
              </a:rPr>
              <a:t>Planificación Inicial</a:t>
            </a:r>
            <a:endParaRPr sz="900">
              <a:solidFill>
                <a:schemeClr val="dk1"/>
              </a:solidFill>
              <a:latin typeface="Helvetica Neue"/>
              <a:ea typeface="Helvetica Neue"/>
              <a:cs typeface="Helvetica Neue"/>
              <a:sym typeface="Helvetica Neue"/>
            </a:endParaRPr>
          </a:p>
        </p:txBody>
      </p:sp>
      <p:sp>
        <p:nvSpPr>
          <p:cNvPr id="135" name="Google Shape;135;p19"/>
          <p:cNvSpPr/>
          <p:nvPr/>
        </p:nvSpPr>
        <p:spPr>
          <a:xfrm>
            <a:off x="3102225" y="3512650"/>
            <a:ext cx="208200" cy="8076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 name="Shape 139"/>
        <p:cNvGrpSpPr/>
        <p:nvPr/>
      </p:nvGrpSpPr>
      <p:grpSpPr>
        <a:xfrm>
          <a:off x="0" y="0"/>
          <a:ext cx="0" cy="0"/>
          <a:chOff x="0" y="0"/>
          <a:chExt cx="0" cy="0"/>
        </a:xfrm>
      </p:grpSpPr>
      <p:pic>
        <p:nvPicPr>
          <p:cNvPr id="140" name="Google Shape;140;p20"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141" name="Google Shape;141;p20"/>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142" name="Google Shape;142;p20"/>
          <p:cNvSpPr txBox="1"/>
          <p:nvPr/>
        </p:nvSpPr>
        <p:spPr>
          <a:xfrm>
            <a:off x="152275" y="430300"/>
            <a:ext cx="3185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Point of View y Arbol de Problemas</a:t>
            </a:r>
            <a:endParaRPr b="1">
              <a:solidFill>
                <a:srgbClr val="000000"/>
              </a:solidFill>
              <a:latin typeface="Helvetica Neue"/>
              <a:ea typeface="Helvetica Neue"/>
              <a:cs typeface="Helvetica Neue"/>
              <a:sym typeface="Helvetica Neue"/>
            </a:endParaRPr>
          </a:p>
        </p:txBody>
      </p:sp>
      <p:sp>
        <p:nvSpPr>
          <p:cNvPr id="143" name="Google Shape;143;p20"/>
          <p:cNvSpPr/>
          <p:nvPr/>
        </p:nvSpPr>
        <p:spPr>
          <a:xfrm>
            <a:off x="175050" y="880475"/>
            <a:ext cx="3227400" cy="2293800"/>
          </a:xfrm>
          <a:prstGeom prst="round2DiagRect">
            <a:avLst>
              <a:gd fmla="val 16667" name="adj1"/>
              <a:gd fmla="val 0" name="adj2"/>
            </a:avLst>
          </a:prstGeom>
          <a:solidFill>
            <a:srgbClr val="9ABAEE">
              <a:alpha val="553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863">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s" sz="863">
                <a:solidFill>
                  <a:schemeClr val="dk1"/>
                </a:solidFill>
                <a:latin typeface="Helvetica Neue"/>
                <a:ea typeface="Helvetica Neue"/>
                <a:cs typeface="Helvetica Neue"/>
                <a:sym typeface="Helvetica Neue"/>
              </a:rPr>
              <a:t>Usuario:</a:t>
            </a:r>
            <a:endParaRPr b="1" sz="863">
              <a:solidFill>
                <a:schemeClr val="dk1"/>
              </a:solidFill>
              <a:latin typeface="Helvetica Neue"/>
              <a:ea typeface="Helvetica Neue"/>
              <a:cs typeface="Helvetica Neue"/>
              <a:sym typeface="Helvetica Neue"/>
            </a:endParaRPr>
          </a:p>
          <a:p>
            <a:pPr indent="0" lvl="0" marL="249220" rtl="0" algn="l">
              <a:spcBef>
                <a:spcPts val="0"/>
              </a:spcBef>
              <a:spcAft>
                <a:spcPts val="0"/>
              </a:spcAft>
              <a:buNone/>
            </a:pPr>
            <a:r>
              <a:rPr lang="es" sz="863">
                <a:solidFill>
                  <a:schemeClr val="dk1"/>
                </a:solidFill>
                <a:latin typeface="Helvetica Neue"/>
                <a:ea typeface="Helvetica Neue"/>
                <a:cs typeface="Helvetica Neue"/>
                <a:sym typeface="Helvetica Neue"/>
              </a:rPr>
              <a:t>Micro-emprendedores de manufactura digital (impresión 3D).</a:t>
            </a:r>
            <a:endParaRPr sz="863">
              <a:solidFill>
                <a:schemeClr val="dk1"/>
              </a:solidFill>
              <a:latin typeface="Helvetica Neue"/>
              <a:ea typeface="Helvetica Neue"/>
              <a:cs typeface="Helvetica Neue"/>
              <a:sym typeface="Helvetica Neue"/>
            </a:endParaRPr>
          </a:p>
          <a:p>
            <a:pPr indent="0" lvl="0" marL="249220" rtl="0" algn="l">
              <a:spcBef>
                <a:spcPts val="0"/>
              </a:spcBef>
              <a:spcAft>
                <a:spcPts val="0"/>
              </a:spcAft>
              <a:buNone/>
            </a:pPr>
            <a:r>
              <a:t/>
            </a:r>
            <a:endParaRPr sz="863">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s" sz="863">
                <a:solidFill>
                  <a:schemeClr val="dk1"/>
                </a:solidFill>
                <a:latin typeface="Helvetica Neue"/>
                <a:ea typeface="Helvetica Neue"/>
                <a:cs typeface="Helvetica Neue"/>
                <a:sym typeface="Helvetica Neue"/>
              </a:rPr>
              <a:t>Necesidad:</a:t>
            </a:r>
            <a:endParaRPr sz="863">
              <a:solidFill>
                <a:schemeClr val="dk1"/>
              </a:solidFill>
              <a:latin typeface="Helvetica Neue"/>
              <a:ea typeface="Helvetica Neue"/>
              <a:cs typeface="Helvetica Neue"/>
              <a:sym typeface="Helvetica Neue"/>
            </a:endParaRPr>
          </a:p>
          <a:p>
            <a:pPr indent="0" lvl="0" marL="249220" rtl="0" algn="l">
              <a:spcBef>
                <a:spcPts val="0"/>
              </a:spcBef>
              <a:spcAft>
                <a:spcPts val="0"/>
              </a:spcAft>
              <a:buNone/>
            </a:pPr>
            <a:r>
              <a:rPr lang="es" sz="863">
                <a:solidFill>
                  <a:schemeClr val="dk1"/>
                </a:solidFill>
                <a:latin typeface="Helvetica Neue"/>
                <a:ea typeface="Helvetica Neue"/>
                <a:cs typeface="Helvetica Neue"/>
                <a:sym typeface="Helvetica Neue"/>
              </a:rPr>
              <a:t>Producir piezas multimateriales con confiabilidad, manteniendo bajos costos y total control sobre sus herramientas. </a:t>
            </a:r>
            <a:endParaRPr sz="809">
              <a:solidFill>
                <a:schemeClr val="dk1"/>
              </a:solidFill>
              <a:latin typeface="Helvetica Neue"/>
              <a:ea typeface="Helvetica Neue"/>
              <a:cs typeface="Helvetica Neue"/>
              <a:sym typeface="Helvetica Neue"/>
            </a:endParaRPr>
          </a:p>
          <a:p>
            <a:pPr indent="0" lvl="0" marL="249220" rtl="0" algn="l">
              <a:spcBef>
                <a:spcPts val="0"/>
              </a:spcBef>
              <a:spcAft>
                <a:spcPts val="0"/>
              </a:spcAft>
              <a:buNone/>
            </a:pPr>
            <a:r>
              <a:t/>
            </a:r>
            <a:endParaRPr sz="863">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s" sz="863">
                <a:solidFill>
                  <a:schemeClr val="dk1"/>
                </a:solidFill>
                <a:latin typeface="Helvetica Neue"/>
                <a:ea typeface="Helvetica Neue"/>
                <a:cs typeface="Helvetica Neue"/>
                <a:sym typeface="Helvetica Neue"/>
              </a:rPr>
              <a:t>Insight:</a:t>
            </a:r>
            <a:endParaRPr sz="863">
              <a:solidFill>
                <a:schemeClr val="dk1"/>
              </a:solidFill>
              <a:latin typeface="Helvetica Neue"/>
              <a:ea typeface="Helvetica Neue"/>
              <a:cs typeface="Helvetica Neue"/>
              <a:sym typeface="Helvetica Neue"/>
            </a:endParaRPr>
          </a:p>
          <a:p>
            <a:pPr indent="0" lvl="0" marL="249220" rtl="0" algn="l">
              <a:spcBef>
                <a:spcPts val="0"/>
              </a:spcBef>
              <a:spcAft>
                <a:spcPts val="0"/>
              </a:spcAft>
              <a:buNone/>
            </a:pPr>
            <a:r>
              <a:rPr lang="es" sz="863">
                <a:solidFill>
                  <a:schemeClr val="dk1"/>
                </a:solidFill>
                <a:latin typeface="Helvetica Neue"/>
                <a:ea typeface="Helvetica Neue"/>
                <a:cs typeface="Helvetica Neue"/>
                <a:sym typeface="Helvetica Neue"/>
              </a:rPr>
              <a:t>El mercado hace al usuario elegir entre sacrificar su soberanía a cambio de confiabilidad y facilidad de uso en un ecosistema cerrado, o sacrificar su tiempo y “paz mental” a cambio de la libertad de ecosistemas abiertos.</a:t>
            </a:r>
            <a:endParaRPr sz="863">
              <a:solidFill>
                <a:schemeClr val="dk1"/>
              </a:solidFill>
              <a:latin typeface="Helvetica Neue"/>
              <a:ea typeface="Helvetica Neue"/>
              <a:cs typeface="Helvetica Neue"/>
              <a:sym typeface="Helvetica Neue"/>
            </a:endParaRPr>
          </a:p>
          <a:p>
            <a:pPr indent="249221" lvl="0" marL="249220" rtl="0" algn="l">
              <a:spcBef>
                <a:spcPts val="0"/>
              </a:spcBef>
              <a:spcAft>
                <a:spcPts val="0"/>
              </a:spcAft>
              <a:buNone/>
            </a:pPr>
            <a:r>
              <a:t/>
            </a:r>
            <a:endParaRPr sz="863">
              <a:solidFill>
                <a:schemeClr val="dk1"/>
              </a:solidFill>
              <a:latin typeface="Helvetica Neue"/>
              <a:ea typeface="Helvetica Neue"/>
              <a:cs typeface="Helvetica Neue"/>
              <a:sym typeface="Helvetica Neue"/>
            </a:endParaRPr>
          </a:p>
        </p:txBody>
      </p:sp>
      <p:sp>
        <p:nvSpPr>
          <p:cNvPr id="144" name="Google Shape;144;p20"/>
          <p:cNvSpPr/>
          <p:nvPr/>
        </p:nvSpPr>
        <p:spPr>
          <a:xfrm>
            <a:off x="175050" y="3451475"/>
            <a:ext cx="3227400" cy="1419000"/>
          </a:xfrm>
          <a:prstGeom prst="round2DiagRect">
            <a:avLst>
              <a:gd fmla="val 16667" name="adj1"/>
              <a:gd fmla="val 0" name="adj2"/>
            </a:avLst>
          </a:prstGeom>
          <a:solidFill>
            <a:srgbClr val="E0F2FE"/>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lang="es" sz="900">
                <a:solidFill>
                  <a:schemeClr val="dk1"/>
                </a:solidFill>
                <a:latin typeface="Helvetica Neue"/>
                <a:ea typeface="Helvetica Neue"/>
                <a:cs typeface="Helvetica Neue"/>
                <a:sym typeface="Helvetica Neue"/>
              </a:rPr>
              <a:t>"Los micro-emprendedores necesitan fabricar piezas multimaterial con confiabilidad, bajo costo y control sobre sus herramientas, pero el mercado los obliga a elegir entre ecosistemas cerrados que restringen su autonomía, o sistemas abiertos cuya pésima experiencia de usuario los condena a una esclavitud de mantenimiento." </a:t>
            </a:r>
            <a:endParaRPr sz="900">
              <a:solidFill>
                <a:schemeClr val="dk1"/>
              </a:solidFill>
            </a:endParaRPr>
          </a:p>
        </p:txBody>
      </p:sp>
      <p:grpSp>
        <p:nvGrpSpPr>
          <p:cNvPr id="145" name="Google Shape;145;p20"/>
          <p:cNvGrpSpPr/>
          <p:nvPr/>
        </p:nvGrpSpPr>
        <p:grpSpPr>
          <a:xfrm>
            <a:off x="3709900" y="989594"/>
            <a:ext cx="5143650" cy="3797141"/>
            <a:chOff x="3524250" y="1333500"/>
            <a:chExt cx="5143650" cy="3333750"/>
          </a:xfrm>
        </p:grpSpPr>
        <p:sp>
          <p:nvSpPr>
            <p:cNvPr id="146" name="Google Shape;146;p20"/>
            <p:cNvSpPr/>
            <p:nvPr/>
          </p:nvSpPr>
          <p:spPr>
            <a:xfrm>
              <a:off x="3524250" y="2762250"/>
              <a:ext cx="5143500" cy="571500"/>
            </a:xfrm>
            <a:prstGeom prst="roundRect">
              <a:avLst>
                <a:gd fmla="val 50000" name="adj"/>
              </a:avLst>
            </a:prstGeom>
            <a:solidFill>
              <a:srgbClr val="1E3A8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20"/>
            <p:cNvSpPr txBox="1"/>
            <p:nvPr/>
          </p:nvSpPr>
          <p:spPr>
            <a:xfrm>
              <a:off x="3714750" y="2762250"/>
              <a:ext cx="4762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1100">
                  <a:solidFill>
                    <a:srgbClr val="FFFFFF"/>
                  </a:solidFill>
                  <a:latin typeface="Helvetica Neue"/>
                  <a:ea typeface="Helvetica Neue"/>
                  <a:cs typeface="Helvetica Neue"/>
                  <a:sym typeface="Helvetica Neue"/>
                </a:rPr>
                <a:t>Arquitecturas de fabricación que obstaculizan la autonomía, innovación y competitividad del micro-emprendedor</a:t>
              </a:r>
              <a:endParaRPr b="1" sz="1100">
                <a:solidFill>
                  <a:srgbClr val="FFFFFF"/>
                </a:solidFill>
                <a:latin typeface="Helvetica Neue"/>
                <a:ea typeface="Helvetica Neue"/>
                <a:cs typeface="Helvetica Neue"/>
                <a:sym typeface="Helvetica Neue"/>
              </a:endParaRPr>
            </a:p>
          </p:txBody>
        </p:sp>
        <p:grpSp>
          <p:nvGrpSpPr>
            <p:cNvPr id="148" name="Google Shape;148;p20"/>
            <p:cNvGrpSpPr/>
            <p:nvPr/>
          </p:nvGrpSpPr>
          <p:grpSpPr>
            <a:xfrm>
              <a:off x="3524250" y="3524250"/>
              <a:ext cx="5143350" cy="1143000"/>
              <a:chOff x="3524250" y="3524250"/>
              <a:chExt cx="5143350" cy="1143000"/>
            </a:xfrm>
          </p:grpSpPr>
          <p:sp>
            <p:nvSpPr>
              <p:cNvPr id="149" name="Google Shape;149;p20"/>
              <p:cNvSpPr/>
              <p:nvPr/>
            </p:nvSpPr>
            <p:spPr>
              <a:xfrm>
                <a:off x="3524250" y="3524250"/>
                <a:ext cx="1619100" cy="1143000"/>
              </a:xfrm>
              <a:prstGeom prst="roundRect">
                <a:avLst>
                  <a:gd fmla="val 666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20"/>
              <p:cNvSpPr txBox="1"/>
              <p:nvPr/>
            </p:nvSpPr>
            <p:spPr>
              <a:xfrm>
                <a:off x="3524250" y="3571875"/>
                <a:ext cx="16191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64748B"/>
                    </a:solidFill>
                    <a:latin typeface="Helvetica Neue"/>
                    <a:ea typeface="Helvetica Neue"/>
                    <a:cs typeface="Helvetica Neue"/>
                    <a:sym typeface="Helvetica Neue"/>
                  </a:rPr>
                  <a:t>COGNITIVO/DISEÑO</a:t>
                </a:r>
                <a:endParaRPr b="1" sz="800">
                  <a:solidFill>
                    <a:srgbClr val="64748B"/>
                  </a:solidFill>
                  <a:latin typeface="Helvetica Neue"/>
                  <a:ea typeface="Helvetica Neue"/>
                  <a:cs typeface="Helvetica Neue"/>
                  <a:sym typeface="Helvetica Neue"/>
                </a:endParaRPr>
              </a:p>
            </p:txBody>
          </p:sp>
          <p:sp>
            <p:nvSpPr>
              <p:cNvPr id="151" name="Google Shape;151;p20"/>
              <p:cNvSpPr/>
              <p:nvPr/>
            </p:nvSpPr>
            <p:spPr>
              <a:xfrm>
                <a:off x="3619500" y="3810000"/>
                <a:ext cx="1428900" cy="333300"/>
              </a:xfrm>
              <a:prstGeom prst="roundRect">
                <a:avLst>
                  <a:gd fmla="val 48571" name="adj"/>
                </a:avLst>
              </a:prstGeom>
              <a:solidFill>
                <a:srgbClr val="45818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20"/>
              <p:cNvSpPr txBox="1"/>
              <p:nvPr/>
            </p:nvSpPr>
            <p:spPr>
              <a:xfrm>
                <a:off x="3667125" y="3810000"/>
                <a:ext cx="1333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FFFFFF"/>
                    </a:solidFill>
                    <a:latin typeface="Helvetica Neue"/>
                    <a:ea typeface="Helvetica Neue"/>
                    <a:cs typeface="Helvetica Neue"/>
                    <a:sym typeface="Helvetica Neue"/>
                  </a:rPr>
                  <a:t>Carencia ciberfísica</a:t>
                </a:r>
                <a:endParaRPr b="1" sz="800">
                  <a:solidFill>
                    <a:srgbClr val="FFFFFF"/>
                  </a:solidFill>
                  <a:latin typeface="Helvetica Neue"/>
                  <a:ea typeface="Helvetica Neue"/>
                  <a:cs typeface="Helvetica Neue"/>
                  <a:sym typeface="Helvetica Neue"/>
                </a:endParaRPr>
              </a:p>
            </p:txBody>
          </p:sp>
          <p:sp>
            <p:nvSpPr>
              <p:cNvPr id="153" name="Google Shape;153;p20"/>
              <p:cNvSpPr/>
              <p:nvPr/>
            </p:nvSpPr>
            <p:spPr>
              <a:xfrm>
                <a:off x="3619500" y="4238625"/>
                <a:ext cx="1428900" cy="333300"/>
              </a:xfrm>
              <a:prstGeom prst="roundRect">
                <a:avLst>
                  <a:gd fmla="val 48571" name="adj"/>
                </a:avLst>
              </a:prstGeom>
              <a:solidFill>
                <a:srgbClr val="45818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20"/>
              <p:cNvSpPr txBox="1"/>
              <p:nvPr/>
            </p:nvSpPr>
            <p:spPr>
              <a:xfrm>
                <a:off x="3667125" y="4238625"/>
                <a:ext cx="1333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FFFFFF"/>
                    </a:solidFill>
                    <a:latin typeface="Helvetica Neue"/>
                    <a:ea typeface="Helvetica Neue"/>
                    <a:cs typeface="Helvetica Neue"/>
                    <a:sym typeface="Helvetica Neue"/>
                  </a:rPr>
                  <a:t>Delegación al humano</a:t>
                </a:r>
                <a:endParaRPr b="1" sz="800">
                  <a:solidFill>
                    <a:srgbClr val="FFFFFF"/>
                  </a:solidFill>
                  <a:latin typeface="Helvetica Neue"/>
                  <a:ea typeface="Helvetica Neue"/>
                  <a:cs typeface="Helvetica Neue"/>
                  <a:sym typeface="Helvetica Neue"/>
                </a:endParaRPr>
              </a:p>
            </p:txBody>
          </p:sp>
          <p:sp>
            <p:nvSpPr>
              <p:cNvPr id="155" name="Google Shape;155;p20"/>
              <p:cNvSpPr/>
              <p:nvPr/>
            </p:nvSpPr>
            <p:spPr>
              <a:xfrm>
                <a:off x="5286375" y="3524250"/>
                <a:ext cx="1619100" cy="1143000"/>
              </a:xfrm>
              <a:prstGeom prst="roundRect">
                <a:avLst>
                  <a:gd fmla="val 666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20"/>
              <p:cNvSpPr txBox="1"/>
              <p:nvPr/>
            </p:nvSpPr>
            <p:spPr>
              <a:xfrm>
                <a:off x="5286375" y="3571875"/>
                <a:ext cx="16191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64748B"/>
                    </a:solidFill>
                    <a:latin typeface="Helvetica Neue"/>
                    <a:ea typeface="Helvetica Neue"/>
                    <a:cs typeface="Helvetica Neue"/>
                    <a:sym typeface="Helvetica Neue"/>
                  </a:rPr>
                  <a:t>ECONÓMICO/MERCADO</a:t>
                </a:r>
                <a:endParaRPr b="1" sz="800">
                  <a:solidFill>
                    <a:srgbClr val="64748B"/>
                  </a:solidFill>
                  <a:latin typeface="Helvetica Neue"/>
                  <a:ea typeface="Helvetica Neue"/>
                  <a:cs typeface="Helvetica Neue"/>
                  <a:sym typeface="Helvetica Neue"/>
                </a:endParaRPr>
              </a:p>
            </p:txBody>
          </p:sp>
          <p:sp>
            <p:nvSpPr>
              <p:cNvPr id="157" name="Google Shape;157;p20"/>
              <p:cNvSpPr/>
              <p:nvPr/>
            </p:nvSpPr>
            <p:spPr>
              <a:xfrm>
                <a:off x="5381625" y="3810000"/>
                <a:ext cx="1428900" cy="333300"/>
              </a:xfrm>
              <a:prstGeom prst="roundRect">
                <a:avLst>
                  <a:gd fmla="val 48571" name="adj"/>
                </a:avLst>
              </a:prstGeom>
              <a:solidFill>
                <a:srgbClr val="38761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20"/>
              <p:cNvSpPr txBox="1"/>
              <p:nvPr/>
            </p:nvSpPr>
            <p:spPr>
              <a:xfrm>
                <a:off x="5429250" y="3810000"/>
                <a:ext cx="1333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FFFFFF"/>
                    </a:solidFill>
                    <a:latin typeface="Helvetica Neue"/>
                    <a:ea typeface="Helvetica Neue"/>
                    <a:cs typeface="Helvetica Neue"/>
                    <a:sym typeface="Helvetica Neue"/>
                  </a:rPr>
                  <a:t>Barrera financiera</a:t>
                </a:r>
                <a:endParaRPr b="1" sz="800">
                  <a:solidFill>
                    <a:srgbClr val="FFFFFF"/>
                  </a:solidFill>
                  <a:latin typeface="Helvetica Neue"/>
                  <a:ea typeface="Helvetica Neue"/>
                  <a:cs typeface="Helvetica Neue"/>
                  <a:sym typeface="Helvetica Neue"/>
                </a:endParaRPr>
              </a:p>
            </p:txBody>
          </p:sp>
          <p:sp>
            <p:nvSpPr>
              <p:cNvPr id="159" name="Google Shape;159;p20"/>
              <p:cNvSpPr/>
              <p:nvPr/>
            </p:nvSpPr>
            <p:spPr>
              <a:xfrm>
                <a:off x="5381625" y="4238625"/>
                <a:ext cx="1428900" cy="333300"/>
              </a:xfrm>
              <a:prstGeom prst="roundRect">
                <a:avLst>
                  <a:gd fmla="val 48571" name="adj"/>
                </a:avLst>
              </a:prstGeom>
              <a:solidFill>
                <a:srgbClr val="38761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20"/>
              <p:cNvSpPr txBox="1"/>
              <p:nvPr/>
            </p:nvSpPr>
            <p:spPr>
              <a:xfrm>
                <a:off x="5429250" y="4238625"/>
                <a:ext cx="1333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FFFFFF"/>
                    </a:solidFill>
                    <a:latin typeface="Helvetica Neue"/>
                    <a:ea typeface="Helvetica Neue"/>
                    <a:cs typeface="Helvetica Neue"/>
                    <a:sym typeface="Helvetica Neue"/>
                  </a:rPr>
                  <a:t>Secuestro tecnológico</a:t>
                </a:r>
                <a:endParaRPr b="1" sz="800">
                  <a:solidFill>
                    <a:srgbClr val="FFFFFF"/>
                  </a:solidFill>
                  <a:latin typeface="Helvetica Neue"/>
                  <a:ea typeface="Helvetica Neue"/>
                  <a:cs typeface="Helvetica Neue"/>
                  <a:sym typeface="Helvetica Neue"/>
                </a:endParaRPr>
              </a:p>
            </p:txBody>
          </p:sp>
          <p:sp>
            <p:nvSpPr>
              <p:cNvPr id="161" name="Google Shape;161;p20"/>
              <p:cNvSpPr/>
              <p:nvPr/>
            </p:nvSpPr>
            <p:spPr>
              <a:xfrm>
                <a:off x="7048500" y="3524250"/>
                <a:ext cx="1619100" cy="1143000"/>
              </a:xfrm>
              <a:prstGeom prst="roundRect">
                <a:avLst>
                  <a:gd fmla="val 666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20"/>
              <p:cNvSpPr txBox="1"/>
              <p:nvPr/>
            </p:nvSpPr>
            <p:spPr>
              <a:xfrm>
                <a:off x="7048500" y="3571875"/>
                <a:ext cx="16191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64748B"/>
                    </a:solidFill>
                    <a:latin typeface="Helvetica Neue"/>
                    <a:ea typeface="Helvetica Neue"/>
                    <a:cs typeface="Helvetica Neue"/>
                    <a:sym typeface="Helvetica Neue"/>
                  </a:rPr>
                  <a:t>FÍSICO/MECÁNICO</a:t>
                </a:r>
                <a:endParaRPr b="1" sz="800">
                  <a:solidFill>
                    <a:srgbClr val="64748B"/>
                  </a:solidFill>
                  <a:latin typeface="Helvetica Neue"/>
                  <a:ea typeface="Helvetica Neue"/>
                  <a:cs typeface="Helvetica Neue"/>
                  <a:sym typeface="Helvetica Neue"/>
                </a:endParaRPr>
              </a:p>
            </p:txBody>
          </p:sp>
          <p:sp>
            <p:nvSpPr>
              <p:cNvPr id="163" name="Google Shape;163;p20"/>
              <p:cNvSpPr/>
              <p:nvPr/>
            </p:nvSpPr>
            <p:spPr>
              <a:xfrm>
                <a:off x="7143750" y="3810000"/>
                <a:ext cx="1428900" cy="333300"/>
              </a:xfrm>
              <a:prstGeom prst="roundRect">
                <a:avLst>
                  <a:gd fmla="val 48571" name="adj"/>
                </a:avLst>
              </a:prstGeom>
              <a:solidFill>
                <a:srgbClr val="66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20"/>
              <p:cNvSpPr txBox="1"/>
              <p:nvPr/>
            </p:nvSpPr>
            <p:spPr>
              <a:xfrm>
                <a:off x="7191375" y="3810000"/>
                <a:ext cx="1333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FFFFFF"/>
                    </a:solidFill>
                    <a:latin typeface="Helvetica Neue"/>
                    <a:ea typeface="Helvetica Neue"/>
                    <a:cs typeface="Helvetica Neue"/>
                    <a:sym typeface="Helvetica Neue"/>
                  </a:rPr>
                  <a:t>Contención térmica</a:t>
                </a:r>
                <a:endParaRPr b="1" sz="800">
                  <a:solidFill>
                    <a:srgbClr val="FFFFFF"/>
                  </a:solidFill>
                  <a:latin typeface="Helvetica Neue"/>
                  <a:ea typeface="Helvetica Neue"/>
                  <a:cs typeface="Helvetica Neue"/>
                  <a:sym typeface="Helvetica Neue"/>
                </a:endParaRPr>
              </a:p>
            </p:txBody>
          </p:sp>
          <p:sp>
            <p:nvSpPr>
              <p:cNvPr id="165" name="Google Shape;165;p20"/>
              <p:cNvSpPr/>
              <p:nvPr/>
            </p:nvSpPr>
            <p:spPr>
              <a:xfrm>
                <a:off x="7143750" y="4238625"/>
                <a:ext cx="1428900" cy="333300"/>
              </a:xfrm>
              <a:prstGeom prst="roundRect">
                <a:avLst>
                  <a:gd fmla="val 48571" name="adj"/>
                </a:avLst>
              </a:prstGeom>
              <a:solidFill>
                <a:srgbClr val="66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20"/>
              <p:cNvSpPr txBox="1"/>
              <p:nvPr/>
            </p:nvSpPr>
            <p:spPr>
              <a:xfrm>
                <a:off x="7191375" y="4238625"/>
                <a:ext cx="1333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FFFFFF"/>
                    </a:solidFill>
                    <a:latin typeface="Helvetica Neue"/>
                    <a:ea typeface="Helvetica Neue"/>
                    <a:cs typeface="Helvetica Neue"/>
                    <a:sym typeface="Helvetica Neue"/>
                  </a:rPr>
                  <a:t>Reología de flexibles</a:t>
                </a:r>
                <a:endParaRPr b="1" sz="800">
                  <a:solidFill>
                    <a:srgbClr val="FFFFFF"/>
                  </a:solidFill>
                  <a:latin typeface="Helvetica Neue"/>
                  <a:ea typeface="Helvetica Neue"/>
                  <a:cs typeface="Helvetica Neue"/>
                  <a:sym typeface="Helvetica Neue"/>
                </a:endParaRPr>
              </a:p>
            </p:txBody>
          </p:sp>
        </p:grpSp>
        <p:grpSp>
          <p:nvGrpSpPr>
            <p:cNvPr id="167" name="Google Shape;167;p20"/>
            <p:cNvGrpSpPr/>
            <p:nvPr/>
          </p:nvGrpSpPr>
          <p:grpSpPr>
            <a:xfrm>
              <a:off x="3524250" y="1333500"/>
              <a:ext cx="5143650" cy="1238400"/>
              <a:chOff x="3524250" y="1333500"/>
              <a:chExt cx="5143650" cy="1238400"/>
            </a:xfrm>
          </p:grpSpPr>
          <p:sp>
            <p:nvSpPr>
              <p:cNvPr id="168" name="Google Shape;168;p20"/>
              <p:cNvSpPr/>
              <p:nvPr/>
            </p:nvSpPr>
            <p:spPr>
              <a:xfrm>
                <a:off x="3524250" y="1333500"/>
                <a:ext cx="3905400" cy="1238400"/>
              </a:xfrm>
              <a:prstGeom prst="roundRect">
                <a:avLst>
                  <a:gd fmla="val 6153"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20"/>
              <p:cNvSpPr txBox="1"/>
              <p:nvPr/>
            </p:nvSpPr>
            <p:spPr>
              <a:xfrm>
                <a:off x="3524250" y="1381125"/>
                <a:ext cx="39054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64748B"/>
                    </a:solidFill>
                    <a:latin typeface="Helvetica Neue"/>
                    <a:ea typeface="Helvetica Neue"/>
                    <a:cs typeface="Helvetica Neue"/>
                    <a:sym typeface="Helvetica Neue"/>
                  </a:rPr>
                  <a:t>OPERATIVO/COMERCIAL</a:t>
                </a:r>
                <a:endParaRPr b="1" sz="800">
                  <a:solidFill>
                    <a:srgbClr val="64748B"/>
                  </a:solidFill>
                  <a:latin typeface="Helvetica Neue"/>
                  <a:ea typeface="Helvetica Neue"/>
                  <a:cs typeface="Helvetica Neue"/>
                  <a:sym typeface="Helvetica Neue"/>
                </a:endParaRPr>
              </a:p>
            </p:txBody>
          </p:sp>
          <p:sp>
            <p:nvSpPr>
              <p:cNvPr id="170" name="Google Shape;170;p20"/>
              <p:cNvSpPr/>
              <p:nvPr/>
            </p:nvSpPr>
            <p:spPr>
              <a:xfrm>
                <a:off x="3619500" y="1666875"/>
                <a:ext cx="1047900" cy="428700"/>
              </a:xfrm>
              <a:prstGeom prst="roundRect">
                <a:avLst>
                  <a:gd fmla="val 48888" name="adj"/>
                </a:avLst>
              </a:prstGeom>
              <a:solidFill>
                <a:srgbClr val="38761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20"/>
              <p:cNvSpPr txBox="1"/>
              <p:nvPr/>
            </p:nvSpPr>
            <p:spPr>
              <a:xfrm>
                <a:off x="3667125" y="1666875"/>
                <a:ext cx="952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FFFFFF"/>
                    </a:solidFill>
                    <a:latin typeface="Helvetica Neue"/>
                    <a:ea typeface="Helvetica Neue"/>
                    <a:cs typeface="Helvetica Neue"/>
                    <a:sym typeface="Helvetica Neue"/>
                  </a:rPr>
                  <a:t>“Impuesto” laboral invisible</a:t>
                </a:r>
                <a:endParaRPr b="1" sz="800">
                  <a:solidFill>
                    <a:srgbClr val="FFFFFF"/>
                  </a:solidFill>
                  <a:latin typeface="Helvetica Neue"/>
                  <a:ea typeface="Helvetica Neue"/>
                  <a:cs typeface="Helvetica Neue"/>
                  <a:sym typeface="Helvetica Neue"/>
                </a:endParaRPr>
              </a:p>
            </p:txBody>
          </p:sp>
          <p:sp>
            <p:nvSpPr>
              <p:cNvPr id="172" name="Google Shape;172;p20"/>
              <p:cNvSpPr/>
              <p:nvPr/>
            </p:nvSpPr>
            <p:spPr>
              <a:xfrm>
                <a:off x="4762500" y="1666875"/>
                <a:ext cx="1333500" cy="428700"/>
              </a:xfrm>
              <a:prstGeom prst="roundRect">
                <a:avLst>
                  <a:gd fmla="val 48888" name="adj"/>
                </a:avLst>
              </a:prstGeom>
              <a:solidFill>
                <a:srgbClr val="45818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20"/>
              <p:cNvSpPr txBox="1"/>
              <p:nvPr/>
            </p:nvSpPr>
            <p:spPr>
              <a:xfrm>
                <a:off x="4810125" y="1666875"/>
                <a:ext cx="1238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FFFFFF"/>
                    </a:solidFill>
                    <a:latin typeface="Helvetica Neue"/>
                    <a:ea typeface="Helvetica Neue"/>
                    <a:cs typeface="Helvetica Neue"/>
                    <a:sym typeface="Helvetica Neue"/>
                  </a:rPr>
                  <a:t>Estancamiento escalabilidad</a:t>
                </a:r>
                <a:endParaRPr b="1" sz="800">
                  <a:solidFill>
                    <a:srgbClr val="FFFFFF"/>
                  </a:solidFill>
                  <a:latin typeface="Helvetica Neue"/>
                  <a:ea typeface="Helvetica Neue"/>
                  <a:cs typeface="Helvetica Neue"/>
                  <a:sym typeface="Helvetica Neue"/>
                </a:endParaRPr>
              </a:p>
            </p:txBody>
          </p:sp>
          <p:sp>
            <p:nvSpPr>
              <p:cNvPr id="174" name="Google Shape;174;p20"/>
              <p:cNvSpPr/>
              <p:nvPr/>
            </p:nvSpPr>
            <p:spPr>
              <a:xfrm>
                <a:off x="6191250" y="1666875"/>
                <a:ext cx="1143000" cy="428700"/>
              </a:xfrm>
              <a:prstGeom prst="roundRect">
                <a:avLst>
                  <a:gd fmla="val 48888" name="adj"/>
                </a:avLst>
              </a:prstGeom>
              <a:solidFill>
                <a:srgbClr val="134F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20"/>
              <p:cNvSpPr txBox="1"/>
              <p:nvPr/>
            </p:nvSpPr>
            <p:spPr>
              <a:xfrm>
                <a:off x="6238875" y="1666875"/>
                <a:ext cx="10479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FFFFFF"/>
                    </a:solidFill>
                    <a:latin typeface="Helvetica Neue"/>
                    <a:ea typeface="Helvetica Neue"/>
                    <a:cs typeface="Helvetica Neue"/>
                    <a:sym typeface="Helvetica Neue"/>
                  </a:rPr>
                  <a:t>Vulnerabilidad logística</a:t>
                </a:r>
                <a:endParaRPr b="1" sz="800">
                  <a:solidFill>
                    <a:srgbClr val="FFFFFF"/>
                  </a:solidFill>
                  <a:latin typeface="Helvetica Neue"/>
                  <a:ea typeface="Helvetica Neue"/>
                  <a:cs typeface="Helvetica Neue"/>
                  <a:sym typeface="Helvetica Neue"/>
                </a:endParaRPr>
              </a:p>
            </p:txBody>
          </p:sp>
          <p:sp>
            <p:nvSpPr>
              <p:cNvPr id="176" name="Google Shape;176;p20"/>
              <p:cNvSpPr/>
              <p:nvPr/>
            </p:nvSpPr>
            <p:spPr>
              <a:xfrm>
                <a:off x="7620000" y="1333500"/>
                <a:ext cx="1047900" cy="1238400"/>
              </a:xfrm>
              <a:prstGeom prst="roundRect">
                <a:avLst>
                  <a:gd fmla="val 7272"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0"/>
              <p:cNvSpPr txBox="1"/>
              <p:nvPr/>
            </p:nvSpPr>
            <p:spPr>
              <a:xfrm>
                <a:off x="7620000" y="1381125"/>
                <a:ext cx="10479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64748B"/>
                    </a:solidFill>
                    <a:latin typeface="Helvetica Neue"/>
                    <a:ea typeface="Helvetica Neue"/>
                    <a:cs typeface="Helvetica Neue"/>
                    <a:sym typeface="Helvetica Neue"/>
                  </a:rPr>
                  <a:t>TÉCNICO</a:t>
                </a:r>
                <a:endParaRPr b="1" sz="800">
                  <a:solidFill>
                    <a:srgbClr val="64748B"/>
                  </a:solidFill>
                  <a:latin typeface="Helvetica Neue"/>
                  <a:ea typeface="Helvetica Neue"/>
                  <a:cs typeface="Helvetica Neue"/>
                  <a:sym typeface="Helvetica Neue"/>
                </a:endParaRPr>
              </a:p>
            </p:txBody>
          </p:sp>
          <p:sp>
            <p:nvSpPr>
              <p:cNvPr id="178" name="Google Shape;178;p20"/>
              <p:cNvSpPr/>
              <p:nvPr/>
            </p:nvSpPr>
            <p:spPr>
              <a:xfrm>
                <a:off x="7715250" y="1666875"/>
                <a:ext cx="857400" cy="809700"/>
              </a:xfrm>
              <a:prstGeom prst="roundRect">
                <a:avLst>
                  <a:gd fmla="val 17647" name="adj"/>
                </a:avLst>
              </a:prstGeom>
              <a:solidFill>
                <a:srgbClr val="66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20"/>
              <p:cNvSpPr txBox="1"/>
              <p:nvPr/>
            </p:nvSpPr>
            <p:spPr>
              <a:xfrm>
                <a:off x="7762875" y="1666875"/>
                <a:ext cx="7620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FFFFFF"/>
                    </a:solidFill>
                    <a:latin typeface="Helvetica Neue"/>
                    <a:ea typeface="Helvetica Neue"/>
                    <a:cs typeface="Helvetica Neue"/>
                    <a:sym typeface="Helvetica Neue"/>
                  </a:rPr>
                  <a:t>Limitación multimaterial</a:t>
                </a:r>
                <a:endParaRPr b="1" sz="800">
                  <a:solidFill>
                    <a:srgbClr val="FFFFFF"/>
                  </a:solidFill>
                  <a:latin typeface="Helvetica Neue"/>
                  <a:ea typeface="Helvetica Neue"/>
                  <a:cs typeface="Helvetica Neue"/>
                  <a:sym typeface="Helvetica Neue"/>
                </a:endParaRPr>
              </a:p>
            </p:txBody>
          </p:sp>
        </p:grpSp>
        <p:cxnSp>
          <p:nvCxnSpPr>
            <p:cNvPr id="180" name="Google Shape;180;p20"/>
            <p:cNvCxnSpPr/>
            <p:nvPr/>
          </p:nvCxnSpPr>
          <p:spPr>
            <a:xfrm flipH="1" rot="10800000">
              <a:off x="4333875" y="3333750"/>
              <a:ext cx="1762200" cy="190500"/>
            </a:xfrm>
            <a:prstGeom prst="straightConnector1">
              <a:avLst/>
            </a:prstGeom>
            <a:solidFill>
              <a:srgbClr val="FFFFFF"/>
            </a:solidFill>
            <a:ln cap="flat" cmpd="sng" w="14300">
              <a:solidFill>
                <a:srgbClr val="CBD5E1"/>
              </a:solidFill>
              <a:prstDash val="solid"/>
              <a:round/>
              <a:headEnd len="sm" w="sm" type="none"/>
              <a:tailEnd len="sm" w="sm" type="none"/>
            </a:ln>
          </p:spPr>
        </p:cxnSp>
        <p:cxnSp>
          <p:nvCxnSpPr>
            <p:cNvPr id="181" name="Google Shape;181;p20"/>
            <p:cNvCxnSpPr/>
            <p:nvPr/>
          </p:nvCxnSpPr>
          <p:spPr>
            <a:xfrm rot="10800000">
              <a:off x="6096000" y="3333750"/>
              <a:ext cx="0" cy="190500"/>
            </a:xfrm>
            <a:prstGeom prst="straightConnector1">
              <a:avLst/>
            </a:prstGeom>
            <a:solidFill>
              <a:srgbClr val="FFFFFF"/>
            </a:solidFill>
            <a:ln cap="flat" cmpd="sng" w="14300">
              <a:solidFill>
                <a:srgbClr val="CBD5E1"/>
              </a:solidFill>
              <a:prstDash val="solid"/>
              <a:round/>
              <a:headEnd len="sm" w="sm" type="none"/>
              <a:tailEnd len="sm" w="sm" type="none"/>
            </a:ln>
          </p:spPr>
        </p:cxnSp>
        <p:cxnSp>
          <p:nvCxnSpPr>
            <p:cNvPr id="182" name="Google Shape;182;p20"/>
            <p:cNvCxnSpPr/>
            <p:nvPr/>
          </p:nvCxnSpPr>
          <p:spPr>
            <a:xfrm rot="10800000">
              <a:off x="6095925" y="3333750"/>
              <a:ext cx="1762200" cy="190500"/>
            </a:xfrm>
            <a:prstGeom prst="straightConnector1">
              <a:avLst/>
            </a:prstGeom>
            <a:solidFill>
              <a:srgbClr val="FFFFFF"/>
            </a:solidFill>
            <a:ln cap="flat" cmpd="sng" w="14300">
              <a:solidFill>
                <a:srgbClr val="CBD5E1"/>
              </a:solidFill>
              <a:prstDash val="solid"/>
              <a:round/>
              <a:headEnd len="sm" w="sm" type="none"/>
              <a:tailEnd len="sm" w="sm" type="none"/>
            </a:ln>
          </p:spPr>
        </p:cxnSp>
        <p:cxnSp>
          <p:nvCxnSpPr>
            <p:cNvPr id="183" name="Google Shape;183;p20"/>
            <p:cNvCxnSpPr/>
            <p:nvPr/>
          </p:nvCxnSpPr>
          <p:spPr>
            <a:xfrm rot="10800000">
              <a:off x="5476800" y="2571750"/>
              <a:ext cx="619200" cy="190500"/>
            </a:xfrm>
            <a:prstGeom prst="straightConnector1">
              <a:avLst/>
            </a:prstGeom>
            <a:solidFill>
              <a:srgbClr val="FFFFFF"/>
            </a:solidFill>
            <a:ln cap="flat" cmpd="sng" w="14300">
              <a:solidFill>
                <a:srgbClr val="CBD5E1"/>
              </a:solidFill>
              <a:prstDash val="solid"/>
              <a:round/>
              <a:headEnd len="sm" w="sm" type="none"/>
              <a:tailEnd len="sm" w="sm" type="none"/>
            </a:ln>
          </p:spPr>
        </p:cxnSp>
        <p:cxnSp>
          <p:nvCxnSpPr>
            <p:cNvPr id="184" name="Google Shape;184;p20"/>
            <p:cNvCxnSpPr/>
            <p:nvPr/>
          </p:nvCxnSpPr>
          <p:spPr>
            <a:xfrm flipH="1" rot="10800000">
              <a:off x="6096000" y="2571750"/>
              <a:ext cx="2047800" cy="190500"/>
            </a:xfrm>
            <a:prstGeom prst="straightConnector1">
              <a:avLst/>
            </a:prstGeom>
            <a:solidFill>
              <a:srgbClr val="FFFFFF"/>
            </a:solidFill>
            <a:ln cap="flat" cmpd="sng" w="14300">
              <a:solidFill>
                <a:srgbClr val="CBD5E1"/>
              </a:solidFill>
              <a:prstDash val="solid"/>
              <a:round/>
              <a:headEnd len="sm" w="sm" type="none"/>
              <a:tailEnd len="sm" w="sm" type="none"/>
            </a:ln>
          </p:spPr>
        </p:cxn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8" name="Shape 188"/>
        <p:cNvGrpSpPr/>
        <p:nvPr/>
      </p:nvGrpSpPr>
      <p:grpSpPr>
        <a:xfrm>
          <a:off x="0" y="0"/>
          <a:ext cx="0" cy="0"/>
          <a:chOff x="0" y="0"/>
          <a:chExt cx="0" cy="0"/>
        </a:xfrm>
      </p:grpSpPr>
      <p:sp>
        <p:nvSpPr>
          <p:cNvPr id="189" name="Google Shape;189;p21"/>
          <p:cNvSpPr/>
          <p:nvPr/>
        </p:nvSpPr>
        <p:spPr>
          <a:xfrm>
            <a:off x="767400" y="1703800"/>
            <a:ext cx="7493100" cy="2140200"/>
          </a:xfrm>
          <a:prstGeom prst="round2DiagRect">
            <a:avLst>
              <a:gd fmla="val 16667" name="adj1"/>
              <a:gd fmla="val 0" name="adj2"/>
            </a:avLst>
          </a:prstGeom>
          <a:solidFill>
            <a:srgbClr val="E0F2FE"/>
          </a:solidFill>
          <a:ln>
            <a:noFill/>
          </a:ln>
        </p:spPr>
        <p:txBody>
          <a:bodyPr anchorCtr="0" anchor="ctr" bIns="91425" lIns="91425" spcFirstLastPara="1" rIns="91425" wrap="square" tIns="91425">
            <a:noAutofit/>
          </a:bodyPr>
          <a:lstStyle/>
          <a:p>
            <a:pPr indent="0" lvl="0" marL="249220" rtl="0" algn="l">
              <a:spcBef>
                <a:spcPts val="0"/>
              </a:spcBef>
              <a:spcAft>
                <a:spcPts val="0"/>
              </a:spcAft>
              <a:buNone/>
            </a:pPr>
            <a:r>
              <a:t/>
            </a:r>
            <a:endParaRPr sz="863">
              <a:solidFill>
                <a:schemeClr val="dk1"/>
              </a:solidFill>
              <a:latin typeface="Helvetica Neue"/>
              <a:ea typeface="Helvetica Neue"/>
              <a:cs typeface="Helvetica Neue"/>
              <a:sym typeface="Helvetica Neue"/>
            </a:endParaRPr>
          </a:p>
          <a:p>
            <a:pPr indent="249221" lvl="0" marL="249220" rtl="0" algn="l">
              <a:spcBef>
                <a:spcPts val="0"/>
              </a:spcBef>
              <a:spcAft>
                <a:spcPts val="0"/>
              </a:spcAft>
              <a:buNone/>
            </a:pPr>
            <a:r>
              <a:t/>
            </a:r>
            <a:endParaRPr sz="863">
              <a:solidFill>
                <a:schemeClr val="dk1"/>
              </a:solidFill>
              <a:latin typeface="Helvetica Neue"/>
              <a:ea typeface="Helvetica Neue"/>
              <a:cs typeface="Helvetica Neue"/>
              <a:sym typeface="Helvetica Neue"/>
            </a:endParaRPr>
          </a:p>
        </p:txBody>
      </p:sp>
      <p:sp>
        <p:nvSpPr>
          <p:cNvPr id="190" name="Google Shape;190;p21"/>
          <p:cNvSpPr txBox="1"/>
          <p:nvPr/>
        </p:nvSpPr>
        <p:spPr>
          <a:xfrm>
            <a:off x="963275" y="1879650"/>
            <a:ext cx="7047000" cy="180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500">
                <a:solidFill>
                  <a:schemeClr val="dk1"/>
                </a:solidFill>
              </a:rPr>
              <a:t>Si se diseña</a:t>
            </a:r>
            <a:r>
              <a:rPr lang="es" sz="1500">
                <a:solidFill>
                  <a:schemeClr val="dk1"/>
                </a:solidFill>
              </a:rPr>
              <a:t> una plataforma de manufactura aditiva de código abierto y capacidad multimaterial, gobernada por una interfaz ciberfísica que automatice el diagnóstico y retroalimentación del sistema, </a:t>
            </a:r>
            <a:r>
              <a:rPr b="1" lang="es" sz="1500">
                <a:solidFill>
                  <a:schemeClr val="dk1"/>
                </a:solidFill>
              </a:rPr>
              <a:t>entonces</a:t>
            </a:r>
            <a:r>
              <a:rPr lang="es" sz="1500">
                <a:solidFill>
                  <a:schemeClr val="dk1"/>
                </a:solidFill>
              </a:rPr>
              <a:t> los micro-emprendedores lograrán suprimir la carga cognitiva de la supervisión constante, obteniendo la autonomía productiva necesaria para producir piezas complejas sin depender de infraestructura propietaria ni limitar su viabilidad económica. </a:t>
            </a:r>
            <a:endParaRPr b="1" sz="1500">
              <a:solidFill>
                <a:srgbClr val="000000"/>
              </a:solidFill>
              <a:latin typeface="Helvetica Neue"/>
              <a:ea typeface="Helvetica Neue"/>
              <a:cs typeface="Helvetica Neue"/>
              <a:sym typeface="Helvetica Neue"/>
            </a:endParaRPr>
          </a:p>
        </p:txBody>
      </p:sp>
      <p:pic>
        <p:nvPicPr>
          <p:cNvPr id="191" name="Google Shape;191;p21"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192" name="Google Shape;192;p21"/>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193" name="Google Shape;193;p21"/>
          <p:cNvSpPr txBox="1"/>
          <p:nvPr/>
        </p:nvSpPr>
        <p:spPr>
          <a:xfrm>
            <a:off x="152275" y="430300"/>
            <a:ext cx="3185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Hipótesis de Trabajo</a:t>
            </a:r>
            <a:endParaRPr b="1">
              <a:solidFill>
                <a:srgbClr val="000000"/>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p22"/>
          <p:cNvSpPr/>
          <p:nvPr/>
        </p:nvSpPr>
        <p:spPr>
          <a:xfrm>
            <a:off x="616175" y="1063800"/>
            <a:ext cx="7821900" cy="1115100"/>
          </a:xfrm>
          <a:prstGeom prst="round2DiagRect">
            <a:avLst>
              <a:gd fmla="val 16667" name="adj1"/>
              <a:gd fmla="val 0" name="adj2"/>
            </a:avLst>
          </a:prstGeom>
          <a:solidFill>
            <a:srgbClr val="9ABAEE">
              <a:alpha val="55350"/>
            </a:srgbClr>
          </a:solidFill>
          <a:ln>
            <a:noFill/>
          </a:ln>
        </p:spPr>
        <p:txBody>
          <a:bodyPr anchorCtr="0" anchor="ctr" bIns="91425" lIns="91425" spcFirstLastPara="1" rIns="91425" wrap="square" tIns="91425">
            <a:noAutofit/>
          </a:bodyPr>
          <a:lstStyle/>
          <a:p>
            <a:pPr indent="0" lvl="0" marL="249220" rtl="0" algn="l">
              <a:spcBef>
                <a:spcPts val="0"/>
              </a:spcBef>
              <a:spcAft>
                <a:spcPts val="0"/>
              </a:spcAft>
              <a:buNone/>
            </a:pPr>
            <a:r>
              <a:rPr lang="es" sz="1300">
                <a:solidFill>
                  <a:schemeClr val="dk1"/>
                </a:solidFill>
              </a:rPr>
              <a:t>"Diseñar una plataforma figital de manufactura abierta que asuma la carga cognitiva de la supervisión manual, permitiendo al micro-emprendedor producir piezas multimaterial complejas con total autonomía productiva." </a:t>
            </a:r>
            <a:endParaRPr sz="1300">
              <a:solidFill>
                <a:schemeClr val="dk1"/>
              </a:solidFill>
              <a:latin typeface="Helvetica Neue"/>
              <a:ea typeface="Helvetica Neue"/>
              <a:cs typeface="Helvetica Neue"/>
              <a:sym typeface="Helvetica Neue"/>
            </a:endParaRPr>
          </a:p>
        </p:txBody>
      </p:sp>
      <p:pic>
        <p:nvPicPr>
          <p:cNvPr id="199" name="Google Shape;199;p22"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200" name="Google Shape;200;p22"/>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201" name="Google Shape;201;p22"/>
          <p:cNvSpPr txBox="1"/>
          <p:nvPr/>
        </p:nvSpPr>
        <p:spPr>
          <a:xfrm>
            <a:off x="152275" y="430300"/>
            <a:ext cx="3185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Objetivos</a:t>
            </a:r>
            <a:endParaRPr b="1">
              <a:solidFill>
                <a:srgbClr val="000000"/>
              </a:solidFill>
              <a:latin typeface="Helvetica Neue"/>
              <a:ea typeface="Helvetica Neue"/>
              <a:cs typeface="Helvetica Neue"/>
              <a:sym typeface="Helvetica Neue"/>
            </a:endParaRPr>
          </a:p>
        </p:txBody>
      </p:sp>
      <p:sp>
        <p:nvSpPr>
          <p:cNvPr id="202" name="Google Shape;202;p22"/>
          <p:cNvSpPr txBox="1"/>
          <p:nvPr/>
        </p:nvSpPr>
        <p:spPr>
          <a:xfrm>
            <a:off x="1840400" y="2175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03" name="Google Shape;203;p22"/>
          <p:cNvSpPr/>
          <p:nvPr/>
        </p:nvSpPr>
        <p:spPr>
          <a:xfrm>
            <a:off x="616175" y="2676475"/>
            <a:ext cx="2397300" cy="1990800"/>
          </a:xfrm>
          <a:prstGeom prst="round2DiagRect">
            <a:avLst>
              <a:gd fmla="val 16667" name="adj1"/>
              <a:gd fmla="val 0" name="adj2"/>
            </a:avLst>
          </a:prstGeom>
          <a:solidFill>
            <a:srgbClr val="66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1100">
                <a:solidFill>
                  <a:schemeClr val="lt1"/>
                </a:solidFill>
              </a:rPr>
              <a:t>Investigación Material:</a:t>
            </a:r>
            <a:r>
              <a:rPr lang="es" sz="1100">
                <a:solidFill>
                  <a:schemeClr val="lt1"/>
                </a:solidFill>
              </a:rPr>
              <a:t> Determinar los requerimientos de la arquitectura de extrusión y control térmico para garantizar el procesamiento estable de polímeros técnicos (TPU/ABS).</a:t>
            </a:r>
            <a:endParaRPr sz="900">
              <a:solidFill>
                <a:schemeClr val="lt1"/>
              </a:solidFill>
              <a:latin typeface="Helvetica Neue"/>
              <a:ea typeface="Helvetica Neue"/>
              <a:cs typeface="Helvetica Neue"/>
              <a:sym typeface="Helvetica Neue"/>
            </a:endParaRPr>
          </a:p>
        </p:txBody>
      </p:sp>
      <p:sp>
        <p:nvSpPr>
          <p:cNvPr id="204" name="Google Shape;204;p22"/>
          <p:cNvSpPr/>
          <p:nvPr/>
        </p:nvSpPr>
        <p:spPr>
          <a:xfrm>
            <a:off x="6040775" y="2676575"/>
            <a:ext cx="2397300" cy="1990800"/>
          </a:xfrm>
          <a:prstGeom prst="round2DiagRect">
            <a:avLst>
              <a:gd fmla="val 16667" name="adj1"/>
              <a:gd fmla="val 0" name="adj2"/>
            </a:avLst>
          </a:prstGeom>
          <a:solidFill>
            <a:srgbClr val="3D85C6"/>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b="1" lang="es" sz="1100">
                <a:solidFill>
                  <a:schemeClr val="lt1"/>
                </a:solidFill>
              </a:rPr>
              <a:t>Validación de Experiencia:</a:t>
            </a:r>
            <a:r>
              <a:rPr lang="es" sz="1100">
                <a:solidFill>
                  <a:schemeClr val="lt1"/>
                </a:solidFill>
              </a:rPr>
              <a:t> Evaluar la capacidad del prototipo de suprimir el comportamiento de supervisión constante, </a:t>
            </a:r>
            <a:r>
              <a:rPr lang="es" sz="1100">
                <a:solidFill>
                  <a:schemeClr val="lt1"/>
                </a:solidFill>
              </a:rPr>
              <a:t>comprobando</a:t>
            </a:r>
            <a:r>
              <a:rPr lang="es" sz="1100">
                <a:solidFill>
                  <a:schemeClr val="lt1"/>
                </a:solidFill>
              </a:rPr>
              <a:t> la percepción de fiabilidad operativa con el usuario final. </a:t>
            </a:r>
            <a:endParaRPr sz="900">
              <a:solidFill>
                <a:schemeClr val="lt1"/>
              </a:solidFill>
            </a:endParaRPr>
          </a:p>
        </p:txBody>
      </p:sp>
      <p:sp>
        <p:nvSpPr>
          <p:cNvPr id="205" name="Google Shape;205;p22"/>
          <p:cNvSpPr/>
          <p:nvPr/>
        </p:nvSpPr>
        <p:spPr>
          <a:xfrm>
            <a:off x="3373350" y="2676575"/>
            <a:ext cx="2397300" cy="1990800"/>
          </a:xfrm>
          <a:prstGeom prst="round2DiagRect">
            <a:avLst>
              <a:gd fmla="val 16667" name="adj1"/>
              <a:gd fmla="val 0" name="adj2"/>
            </a:avLst>
          </a:prstGeom>
          <a:solidFill>
            <a:srgbClr val="45818E"/>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b="1" lang="es" sz="1100">
                <a:solidFill>
                  <a:schemeClr val="lt1"/>
                </a:solidFill>
              </a:rPr>
              <a:t>Desarrollo de Interacción:</a:t>
            </a:r>
            <a:r>
              <a:rPr lang="es" sz="1100">
                <a:solidFill>
                  <a:schemeClr val="lt1"/>
                </a:solidFill>
              </a:rPr>
              <a:t> Diseñar una interfaz figital bidireccional que integre el control operativo intuitivo y la retroalimentación entre </a:t>
            </a:r>
            <a:r>
              <a:rPr lang="es" sz="1100">
                <a:solidFill>
                  <a:schemeClr val="lt1"/>
                </a:solidFill>
              </a:rPr>
              <a:t>usuario</a:t>
            </a:r>
            <a:r>
              <a:rPr lang="es" sz="1100">
                <a:solidFill>
                  <a:schemeClr val="lt1"/>
                </a:solidFill>
              </a:rPr>
              <a:t> y la </a:t>
            </a:r>
            <a:r>
              <a:rPr lang="es" sz="1100">
                <a:solidFill>
                  <a:schemeClr val="lt1"/>
                </a:solidFill>
              </a:rPr>
              <a:t>máquin</a:t>
            </a:r>
            <a:r>
              <a:rPr lang="es" sz="1100">
                <a:solidFill>
                  <a:schemeClr val="lt1"/>
                </a:solidFill>
              </a:rPr>
              <a:t>a.</a:t>
            </a:r>
            <a:endParaRPr sz="11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9" name="Shape 209"/>
        <p:cNvGrpSpPr/>
        <p:nvPr/>
      </p:nvGrpSpPr>
      <p:grpSpPr>
        <a:xfrm>
          <a:off x="0" y="0"/>
          <a:ext cx="0" cy="0"/>
          <a:chOff x="0" y="0"/>
          <a:chExt cx="0" cy="0"/>
        </a:xfrm>
      </p:grpSpPr>
      <p:pic>
        <p:nvPicPr>
          <p:cNvPr id="210" name="Google Shape;210;p23"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211" name="Google Shape;211;p23"/>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212" name="Google Shape;212;p23"/>
          <p:cNvSpPr txBox="1"/>
          <p:nvPr/>
        </p:nvSpPr>
        <p:spPr>
          <a:xfrm>
            <a:off x="152275" y="430300"/>
            <a:ext cx="3185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Referente: Bambu Lab UX</a:t>
            </a:r>
            <a:endParaRPr b="1">
              <a:solidFill>
                <a:srgbClr val="000000"/>
              </a:solidFill>
              <a:latin typeface="Helvetica Neue"/>
              <a:ea typeface="Helvetica Neue"/>
              <a:cs typeface="Helvetica Neue"/>
              <a:sym typeface="Helvetica Neue"/>
            </a:endParaRPr>
          </a:p>
        </p:txBody>
      </p:sp>
      <p:sp>
        <p:nvSpPr>
          <p:cNvPr id="213" name="Google Shape;213;p23"/>
          <p:cNvSpPr/>
          <p:nvPr/>
        </p:nvSpPr>
        <p:spPr>
          <a:xfrm>
            <a:off x="609325" y="1583700"/>
            <a:ext cx="3132900" cy="2460000"/>
          </a:xfrm>
          <a:prstGeom prst="round2DiagRect">
            <a:avLst>
              <a:gd fmla="val 16667" name="adj1"/>
              <a:gd fmla="val 0" name="adj2"/>
            </a:avLst>
          </a:prstGeom>
          <a:solidFill>
            <a:srgbClr val="4581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100">
                <a:solidFill>
                  <a:schemeClr val="lt1"/>
                </a:solidFill>
              </a:rPr>
              <a:t>Bambu Lab transformó la impresión 3D en un electrodoméstico de producción </a:t>
            </a:r>
            <a:r>
              <a:rPr i="1" lang="es" sz="1100">
                <a:solidFill>
                  <a:schemeClr val="lt1"/>
                </a:solidFill>
              </a:rPr>
              <a:t>‘plug and play’</a:t>
            </a:r>
            <a:r>
              <a:rPr lang="es" sz="1100">
                <a:solidFill>
                  <a:schemeClr val="lt1"/>
                </a:solidFill>
              </a:rPr>
              <a:t>, al desplazar el esfuerzo técnico desde la máquina al software.</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rPr lang="es" sz="1100">
                <a:solidFill>
                  <a:schemeClr val="lt1"/>
                </a:solidFill>
              </a:rPr>
              <a:t>La impresora se encarga de diagnosticar y comunicar su estado mediante una interfaz de usuario gráfica intuitiva, evitando que el </a:t>
            </a:r>
            <a:r>
              <a:rPr lang="es" sz="1100">
                <a:solidFill>
                  <a:schemeClr val="lt1"/>
                </a:solidFill>
              </a:rPr>
              <a:t>usuario</a:t>
            </a:r>
            <a:r>
              <a:rPr lang="es" sz="1100">
                <a:solidFill>
                  <a:schemeClr val="lt1"/>
                </a:solidFill>
              </a:rPr>
              <a:t> tenga que interpretar ruidos o defectos de impresión.</a:t>
            </a:r>
            <a:endParaRPr sz="1100">
              <a:solidFill>
                <a:schemeClr val="lt1"/>
              </a:solidFill>
            </a:endParaRPr>
          </a:p>
        </p:txBody>
      </p:sp>
      <p:pic>
        <p:nvPicPr>
          <p:cNvPr id="214" name="Google Shape;214;p23"/>
          <p:cNvPicPr preferRelativeResize="0"/>
          <p:nvPr/>
        </p:nvPicPr>
        <p:blipFill rotWithShape="1">
          <a:blip r:embed="rId4">
            <a:alphaModFix/>
          </a:blip>
          <a:srcRect b="7199" l="12004" r="18887" t="1793"/>
          <a:stretch/>
        </p:blipFill>
        <p:spPr>
          <a:xfrm>
            <a:off x="4543338" y="2768886"/>
            <a:ext cx="3132900" cy="2321364"/>
          </a:xfrm>
          <a:prstGeom prst="rect">
            <a:avLst/>
          </a:prstGeom>
          <a:noFill/>
          <a:ln>
            <a:noFill/>
          </a:ln>
        </p:spPr>
      </p:pic>
      <p:pic>
        <p:nvPicPr>
          <p:cNvPr id="215" name="Google Shape;215;p23"/>
          <p:cNvPicPr preferRelativeResize="0"/>
          <p:nvPr/>
        </p:nvPicPr>
        <p:blipFill rotWithShape="1">
          <a:blip r:embed="rId5">
            <a:alphaModFix/>
          </a:blip>
          <a:srcRect b="3503" l="6855" r="6595" t="0"/>
          <a:stretch/>
        </p:blipFill>
        <p:spPr>
          <a:xfrm>
            <a:off x="4283600" y="676875"/>
            <a:ext cx="3652373" cy="22905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9" name="Shape 219"/>
        <p:cNvGrpSpPr/>
        <p:nvPr/>
      </p:nvGrpSpPr>
      <p:grpSpPr>
        <a:xfrm>
          <a:off x="0" y="0"/>
          <a:ext cx="0" cy="0"/>
          <a:chOff x="0" y="0"/>
          <a:chExt cx="0" cy="0"/>
        </a:xfrm>
      </p:grpSpPr>
      <p:pic>
        <p:nvPicPr>
          <p:cNvPr id="220" name="Google Shape;220;p24"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221" name="Google Shape;221;p24"/>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222" name="Google Shape;222;p24"/>
          <p:cNvSpPr txBox="1"/>
          <p:nvPr/>
        </p:nvSpPr>
        <p:spPr>
          <a:xfrm>
            <a:off x="152275" y="430300"/>
            <a:ext cx="3185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Referente: Bambu Lab UX</a:t>
            </a:r>
            <a:endParaRPr b="1">
              <a:solidFill>
                <a:srgbClr val="000000"/>
              </a:solidFill>
              <a:latin typeface="Helvetica Neue"/>
              <a:ea typeface="Helvetica Neue"/>
              <a:cs typeface="Helvetica Neue"/>
              <a:sym typeface="Helvetica Neue"/>
            </a:endParaRPr>
          </a:p>
        </p:txBody>
      </p:sp>
      <p:sp>
        <p:nvSpPr>
          <p:cNvPr id="223" name="Google Shape;223;p24"/>
          <p:cNvSpPr/>
          <p:nvPr/>
        </p:nvSpPr>
        <p:spPr>
          <a:xfrm>
            <a:off x="609325" y="1844100"/>
            <a:ext cx="3441300" cy="2042100"/>
          </a:xfrm>
          <a:prstGeom prst="round2DiagRect">
            <a:avLst>
              <a:gd fmla="val 16667" name="adj1"/>
              <a:gd fmla="val 0" name="adj2"/>
            </a:avLst>
          </a:prstGeom>
          <a:solidFill>
            <a:srgbClr val="4581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100">
                <a:solidFill>
                  <a:schemeClr val="lt1"/>
                </a:solidFill>
              </a:rPr>
              <a:t>Bambu Lab se encarga de las brechas de ejecución y evaluación de Don Norman, al permitir enviar un archivo de impresión desde el software de laminado (slicer) a la máquina y administrar el cambio de filamento, entre otras cosas, con solo presionar un botón. Con el sistema </a:t>
            </a:r>
            <a:r>
              <a:rPr lang="es" sz="1100">
                <a:solidFill>
                  <a:schemeClr val="lt1"/>
                </a:solidFill>
              </a:rPr>
              <a:t>encargándose</a:t>
            </a:r>
            <a:r>
              <a:rPr lang="es" sz="1100">
                <a:solidFill>
                  <a:schemeClr val="lt1"/>
                </a:solidFill>
              </a:rPr>
              <a:t> de notificar del </a:t>
            </a:r>
            <a:r>
              <a:rPr lang="es" sz="1100">
                <a:solidFill>
                  <a:schemeClr val="lt1"/>
                </a:solidFill>
              </a:rPr>
              <a:t>éxito</a:t>
            </a:r>
            <a:r>
              <a:rPr lang="es" sz="1100">
                <a:solidFill>
                  <a:schemeClr val="lt1"/>
                </a:solidFill>
              </a:rPr>
              <a:t> o error con indicaciones claras para su resolución.</a:t>
            </a:r>
            <a:endParaRPr sz="1100">
              <a:solidFill>
                <a:schemeClr val="lt1"/>
              </a:solidFill>
            </a:endParaRPr>
          </a:p>
        </p:txBody>
      </p:sp>
      <p:sp>
        <p:nvSpPr>
          <p:cNvPr id="224" name="Google Shape;224;p24"/>
          <p:cNvSpPr/>
          <p:nvPr/>
        </p:nvSpPr>
        <p:spPr>
          <a:xfrm>
            <a:off x="4756425" y="2207250"/>
            <a:ext cx="3510300" cy="1315800"/>
          </a:xfrm>
          <a:prstGeom prst="round2DiagRect">
            <a:avLst>
              <a:gd fmla="val 16667" name="adj1"/>
              <a:gd fmla="val 0" name="adj2"/>
            </a:avLst>
          </a:prstGeom>
          <a:solidFill>
            <a:srgbClr val="4581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100">
                <a:solidFill>
                  <a:schemeClr val="lt1"/>
                </a:solidFill>
              </a:rPr>
              <a:t>El objetivo es “robar” esta arquitectura de baja carga cognitiva y aplicarla a una plataforma abierta, empleando una red de sensores y algoritmos para replicar el sistema de diagnóstico </a:t>
            </a:r>
            <a:endParaRPr sz="11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 name="Shape 228"/>
        <p:cNvGrpSpPr/>
        <p:nvPr/>
      </p:nvGrpSpPr>
      <p:grpSpPr>
        <a:xfrm>
          <a:off x="0" y="0"/>
          <a:ext cx="0" cy="0"/>
          <a:chOff x="0" y="0"/>
          <a:chExt cx="0" cy="0"/>
        </a:xfrm>
      </p:grpSpPr>
      <p:pic>
        <p:nvPicPr>
          <p:cNvPr id="229" name="Google Shape;229;p25"/>
          <p:cNvPicPr preferRelativeResize="0"/>
          <p:nvPr/>
        </p:nvPicPr>
        <p:blipFill>
          <a:blip r:embed="rId3">
            <a:alphaModFix/>
          </a:blip>
          <a:stretch>
            <a:fillRect/>
          </a:stretch>
        </p:blipFill>
        <p:spPr>
          <a:xfrm>
            <a:off x="5434000" y="2123825"/>
            <a:ext cx="2954225" cy="2954225"/>
          </a:xfrm>
          <a:prstGeom prst="rect">
            <a:avLst/>
          </a:prstGeom>
          <a:noFill/>
          <a:ln>
            <a:noFill/>
          </a:ln>
        </p:spPr>
      </p:pic>
      <p:pic>
        <p:nvPicPr>
          <p:cNvPr id="230" name="Google Shape;230;p25" title="faad_lockupsArtboard 1@2x.png"/>
          <p:cNvPicPr preferRelativeResize="0"/>
          <p:nvPr/>
        </p:nvPicPr>
        <p:blipFill>
          <a:blip r:embed="rId4">
            <a:alphaModFix/>
          </a:blip>
          <a:stretch>
            <a:fillRect/>
          </a:stretch>
        </p:blipFill>
        <p:spPr>
          <a:xfrm>
            <a:off x="7720079" y="217525"/>
            <a:ext cx="1003397" cy="348600"/>
          </a:xfrm>
          <a:prstGeom prst="rect">
            <a:avLst/>
          </a:prstGeom>
          <a:noFill/>
          <a:ln>
            <a:noFill/>
          </a:ln>
        </p:spPr>
      </p:pic>
      <p:sp>
        <p:nvSpPr>
          <p:cNvPr id="231" name="Google Shape;231;p25"/>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232" name="Google Shape;232;p25"/>
          <p:cNvSpPr txBox="1"/>
          <p:nvPr/>
        </p:nvSpPr>
        <p:spPr>
          <a:xfrm>
            <a:off x="152275" y="430300"/>
            <a:ext cx="58239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Referente: </a:t>
            </a:r>
            <a:r>
              <a:rPr b="1" lang="es">
                <a:latin typeface="Helvetica Neue"/>
                <a:ea typeface="Helvetica Neue"/>
                <a:cs typeface="Helvetica Neue"/>
                <a:sym typeface="Helvetica Neue"/>
              </a:rPr>
              <a:t>Benkler y von Hippel -</a:t>
            </a:r>
            <a:r>
              <a:rPr b="1" lang="es">
                <a:latin typeface="Helvetica Neue"/>
                <a:ea typeface="Helvetica Neue"/>
                <a:cs typeface="Helvetica Neue"/>
                <a:sym typeface="Helvetica Neue"/>
              </a:rPr>
              <a:t> Producción social entre pares</a:t>
            </a:r>
            <a:endParaRPr b="1">
              <a:solidFill>
                <a:srgbClr val="000000"/>
              </a:solidFill>
              <a:latin typeface="Helvetica Neue"/>
              <a:ea typeface="Helvetica Neue"/>
              <a:cs typeface="Helvetica Neue"/>
              <a:sym typeface="Helvetica Neue"/>
            </a:endParaRPr>
          </a:p>
        </p:txBody>
      </p:sp>
      <p:sp>
        <p:nvSpPr>
          <p:cNvPr id="233" name="Google Shape;233;p25"/>
          <p:cNvSpPr/>
          <p:nvPr/>
        </p:nvSpPr>
        <p:spPr>
          <a:xfrm>
            <a:off x="616175" y="1086700"/>
            <a:ext cx="2397300" cy="1485000"/>
          </a:xfrm>
          <a:prstGeom prst="round2DiagRect">
            <a:avLst>
              <a:gd fmla="val 16667" name="adj1"/>
              <a:gd fmla="val 0" name="adj2"/>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100">
                <a:solidFill>
                  <a:schemeClr val="lt1"/>
                </a:solidFill>
              </a:rPr>
              <a:t>La producción social entre pares es un modelo donde los usuarios colaboran a escala global para crear soluciones sin intervención corporativa.</a:t>
            </a:r>
            <a:endParaRPr sz="900">
              <a:solidFill>
                <a:schemeClr val="lt1"/>
              </a:solidFill>
              <a:latin typeface="Helvetica Neue"/>
              <a:ea typeface="Helvetica Neue"/>
              <a:cs typeface="Helvetica Neue"/>
              <a:sym typeface="Helvetica Neue"/>
            </a:endParaRPr>
          </a:p>
        </p:txBody>
      </p:sp>
      <p:sp>
        <p:nvSpPr>
          <p:cNvPr id="234" name="Google Shape;234;p25"/>
          <p:cNvSpPr/>
          <p:nvPr/>
        </p:nvSpPr>
        <p:spPr>
          <a:xfrm>
            <a:off x="616175" y="2872725"/>
            <a:ext cx="2397300" cy="1815300"/>
          </a:xfrm>
          <a:prstGeom prst="round2DiagRect">
            <a:avLst>
              <a:gd fmla="val 16667" name="adj1"/>
              <a:gd fmla="val 0" name="adj2"/>
            </a:avLst>
          </a:prstGeom>
          <a:solidFill>
            <a:srgbClr val="38761D"/>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lang="es" sz="1100">
                <a:solidFill>
                  <a:schemeClr val="lt1"/>
                </a:solidFill>
              </a:rPr>
              <a:t>Se opera en un ecosistema de “innovación democratizada”, donde los usuarios se enfrentan a problemas y luego brindan la solución al resto de la comunidad mediante redes como github.</a:t>
            </a:r>
            <a:endParaRPr sz="1100">
              <a:solidFill>
                <a:schemeClr val="lt1"/>
              </a:solidFill>
            </a:endParaRPr>
          </a:p>
        </p:txBody>
      </p:sp>
      <p:pic>
        <p:nvPicPr>
          <p:cNvPr id="235" name="Google Shape;235;p25"/>
          <p:cNvPicPr preferRelativeResize="0"/>
          <p:nvPr/>
        </p:nvPicPr>
        <p:blipFill>
          <a:blip r:embed="rId5">
            <a:alphaModFix/>
          </a:blip>
          <a:stretch>
            <a:fillRect/>
          </a:stretch>
        </p:blipFill>
        <p:spPr>
          <a:xfrm>
            <a:off x="3444388" y="1086700"/>
            <a:ext cx="2255224" cy="2517476"/>
          </a:xfrm>
          <a:prstGeom prst="rect">
            <a:avLst/>
          </a:prstGeom>
          <a:noFill/>
          <a:ln>
            <a:noFill/>
          </a:ln>
        </p:spPr>
      </p:pic>
      <p:pic>
        <p:nvPicPr>
          <p:cNvPr id="236" name="Google Shape;236;p25"/>
          <p:cNvPicPr preferRelativeResize="0"/>
          <p:nvPr/>
        </p:nvPicPr>
        <p:blipFill>
          <a:blip r:embed="rId6">
            <a:alphaModFix/>
          </a:blip>
          <a:stretch>
            <a:fillRect/>
          </a:stretch>
        </p:blipFill>
        <p:spPr>
          <a:xfrm>
            <a:off x="4639025" y="3730812"/>
            <a:ext cx="1060575" cy="874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0" name="Shape 240"/>
        <p:cNvGrpSpPr/>
        <p:nvPr/>
      </p:nvGrpSpPr>
      <p:grpSpPr>
        <a:xfrm>
          <a:off x="0" y="0"/>
          <a:ext cx="0" cy="0"/>
          <a:chOff x="0" y="0"/>
          <a:chExt cx="0" cy="0"/>
        </a:xfrm>
      </p:grpSpPr>
      <p:pic>
        <p:nvPicPr>
          <p:cNvPr id="241" name="Google Shape;241;p26"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242" name="Google Shape;242;p26"/>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243" name="Google Shape;243;p26"/>
          <p:cNvSpPr txBox="1"/>
          <p:nvPr/>
        </p:nvSpPr>
        <p:spPr>
          <a:xfrm>
            <a:off x="152275" y="430300"/>
            <a:ext cx="58239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Referente: Benkler y von Hippel - Producción social entre pares</a:t>
            </a:r>
            <a:endParaRPr b="1">
              <a:solidFill>
                <a:srgbClr val="000000"/>
              </a:solidFill>
              <a:latin typeface="Helvetica Neue"/>
              <a:ea typeface="Helvetica Neue"/>
              <a:cs typeface="Helvetica Neue"/>
              <a:sym typeface="Helvetica Neue"/>
            </a:endParaRPr>
          </a:p>
        </p:txBody>
      </p:sp>
      <p:sp>
        <p:nvSpPr>
          <p:cNvPr id="244" name="Google Shape;244;p26"/>
          <p:cNvSpPr/>
          <p:nvPr/>
        </p:nvSpPr>
        <p:spPr>
          <a:xfrm>
            <a:off x="616175" y="1086700"/>
            <a:ext cx="2397300" cy="1485000"/>
          </a:xfrm>
          <a:prstGeom prst="round2DiagRect">
            <a:avLst>
              <a:gd fmla="val 16667" name="adj1"/>
              <a:gd fmla="val 0" name="adj2"/>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100">
                <a:solidFill>
                  <a:schemeClr val="lt1"/>
                </a:solidFill>
              </a:rPr>
              <a:t>Este fenómeno brinda soberanía, rompiendo el monopolio del conocimiento y las restricciones propietarias, pero las soluciones que entrega suelen ser crudas, fragmentadas y enfocadas a expertos.</a:t>
            </a:r>
            <a:endParaRPr sz="900">
              <a:solidFill>
                <a:schemeClr val="lt1"/>
              </a:solidFill>
              <a:latin typeface="Helvetica Neue"/>
              <a:ea typeface="Helvetica Neue"/>
              <a:cs typeface="Helvetica Neue"/>
              <a:sym typeface="Helvetica Neue"/>
            </a:endParaRPr>
          </a:p>
        </p:txBody>
      </p:sp>
      <p:sp>
        <p:nvSpPr>
          <p:cNvPr id="245" name="Google Shape;245;p26"/>
          <p:cNvSpPr/>
          <p:nvPr/>
        </p:nvSpPr>
        <p:spPr>
          <a:xfrm>
            <a:off x="616175" y="2872725"/>
            <a:ext cx="2397300" cy="1815300"/>
          </a:xfrm>
          <a:prstGeom prst="round2DiagRect">
            <a:avLst>
              <a:gd fmla="val 16667" name="adj1"/>
              <a:gd fmla="val 0" name="adj2"/>
            </a:avLst>
          </a:prstGeom>
          <a:solidFill>
            <a:srgbClr val="38761D"/>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lang="es" sz="1100">
                <a:solidFill>
                  <a:schemeClr val="lt1"/>
                </a:solidFill>
              </a:rPr>
              <a:t>El proyecto propone </a:t>
            </a:r>
            <a:r>
              <a:rPr lang="es" sz="1100">
                <a:solidFill>
                  <a:schemeClr val="lt1"/>
                </a:solidFill>
              </a:rPr>
              <a:t>empaquetar</a:t>
            </a:r>
            <a:r>
              <a:rPr lang="es" sz="1100">
                <a:solidFill>
                  <a:schemeClr val="lt1"/>
                </a:solidFill>
              </a:rPr>
              <a:t> soluciones open source en una herramienta de trabajo confiable, actuando como un puente que une al usuario con la innovación comunitaria sin tener que descifrar código.</a:t>
            </a:r>
            <a:endParaRPr sz="1100">
              <a:solidFill>
                <a:schemeClr val="lt1"/>
              </a:solidFill>
            </a:endParaRPr>
          </a:p>
        </p:txBody>
      </p:sp>
      <p:pic>
        <p:nvPicPr>
          <p:cNvPr id="246" name="Google Shape;246;p26"/>
          <p:cNvPicPr preferRelativeResize="0"/>
          <p:nvPr/>
        </p:nvPicPr>
        <p:blipFill>
          <a:blip r:embed="rId4">
            <a:alphaModFix/>
          </a:blip>
          <a:stretch>
            <a:fillRect/>
          </a:stretch>
        </p:blipFill>
        <p:spPr>
          <a:xfrm>
            <a:off x="3551750" y="1371275"/>
            <a:ext cx="4441748" cy="30493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0" name="Shape 250"/>
        <p:cNvGrpSpPr/>
        <p:nvPr/>
      </p:nvGrpSpPr>
      <p:grpSpPr>
        <a:xfrm>
          <a:off x="0" y="0"/>
          <a:ext cx="0" cy="0"/>
          <a:chOff x="0" y="0"/>
          <a:chExt cx="0" cy="0"/>
        </a:xfrm>
      </p:grpSpPr>
      <p:pic>
        <p:nvPicPr>
          <p:cNvPr id="251" name="Google Shape;251;p27"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252" name="Google Shape;252;p27"/>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253" name="Google Shape;253;p27"/>
          <p:cNvSpPr txBox="1"/>
          <p:nvPr/>
        </p:nvSpPr>
        <p:spPr>
          <a:xfrm>
            <a:off x="152275" y="430300"/>
            <a:ext cx="73590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Referente: Thermal Deformations of Thermoplast during 3D Printing ABS &amp; Diseño de extrusor multimaterial para impresora 3D - Ingeniería </a:t>
            </a:r>
            <a:endParaRPr b="1">
              <a:latin typeface="Helvetica Neue"/>
              <a:ea typeface="Helvetica Neue"/>
              <a:cs typeface="Helvetica Neue"/>
              <a:sym typeface="Helvetica Neue"/>
            </a:endParaRPr>
          </a:p>
        </p:txBody>
      </p:sp>
      <p:sp>
        <p:nvSpPr>
          <p:cNvPr id="254" name="Google Shape;254;p27"/>
          <p:cNvSpPr/>
          <p:nvPr/>
        </p:nvSpPr>
        <p:spPr>
          <a:xfrm>
            <a:off x="616175" y="1216875"/>
            <a:ext cx="2397300" cy="1485000"/>
          </a:xfrm>
          <a:prstGeom prst="round2DiagRect">
            <a:avLst>
              <a:gd fmla="val 16667" name="adj1"/>
              <a:gd fmla="val 0" name="adj2"/>
            </a:avLst>
          </a:prstGeom>
          <a:solidFill>
            <a:srgbClr val="66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100">
                <a:solidFill>
                  <a:schemeClr val="lt1"/>
                </a:solidFill>
              </a:rPr>
              <a:t>Estas investigaciones aplicadas a la impresión 3D analizan por qué los sistemas multimateriales de boquilla única fallan, exponiendo límites de tracción, fricción y termodinámica.</a:t>
            </a:r>
            <a:endParaRPr sz="900">
              <a:solidFill>
                <a:schemeClr val="lt1"/>
              </a:solidFill>
              <a:latin typeface="Helvetica Neue"/>
              <a:ea typeface="Helvetica Neue"/>
              <a:cs typeface="Helvetica Neue"/>
              <a:sym typeface="Helvetica Neue"/>
            </a:endParaRPr>
          </a:p>
        </p:txBody>
      </p:sp>
      <p:sp>
        <p:nvSpPr>
          <p:cNvPr id="255" name="Google Shape;255;p27"/>
          <p:cNvSpPr/>
          <p:nvPr/>
        </p:nvSpPr>
        <p:spPr>
          <a:xfrm>
            <a:off x="616175" y="2872725"/>
            <a:ext cx="2397300" cy="1815300"/>
          </a:xfrm>
          <a:prstGeom prst="round2DiagRect">
            <a:avLst>
              <a:gd fmla="val 16667" name="adj1"/>
              <a:gd fmla="val 0" name="adj2"/>
            </a:avLst>
          </a:prstGeom>
          <a:solidFill>
            <a:srgbClr val="660000"/>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0"/>
              </a:spcAft>
              <a:buNone/>
            </a:pPr>
            <a:r>
              <a:rPr lang="es" sz="1100">
                <a:solidFill>
                  <a:schemeClr val="lt1"/>
                </a:solidFill>
              </a:rPr>
              <a:t>Los sistemas de multiplexores fallan al procesar elastómeros por la fricción al empujarlos por el tubo PTFE. </a:t>
            </a:r>
            <a:endParaRPr sz="1100">
              <a:solidFill>
                <a:schemeClr val="lt1"/>
              </a:solidFill>
            </a:endParaRPr>
          </a:p>
          <a:p>
            <a:pPr indent="0" lvl="0" marL="0" rtl="0" algn="l">
              <a:lnSpc>
                <a:spcPct val="115000"/>
              </a:lnSpc>
              <a:spcBef>
                <a:spcPts val="777"/>
              </a:spcBef>
              <a:spcAft>
                <a:spcPts val="777"/>
              </a:spcAft>
              <a:buNone/>
            </a:pPr>
            <a:r>
              <a:rPr lang="es" sz="1100">
                <a:solidFill>
                  <a:schemeClr val="lt1"/>
                </a:solidFill>
              </a:rPr>
              <a:t>La </a:t>
            </a:r>
            <a:r>
              <a:rPr lang="es" sz="1100">
                <a:solidFill>
                  <a:schemeClr val="lt1"/>
                </a:solidFill>
              </a:rPr>
              <a:t>única</a:t>
            </a:r>
            <a:r>
              <a:rPr lang="es" sz="1100">
                <a:solidFill>
                  <a:schemeClr val="lt1"/>
                </a:solidFill>
              </a:rPr>
              <a:t> solución, </a:t>
            </a:r>
            <a:r>
              <a:rPr lang="es" sz="1100">
                <a:solidFill>
                  <a:schemeClr val="lt1"/>
                </a:solidFill>
              </a:rPr>
              <a:t>según</a:t>
            </a:r>
            <a:r>
              <a:rPr lang="es" sz="1100">
                <a:solidFill>
                  <a:schemeClr val="lt1"/>
                </a:solidFill>
              </a:rPr>
              <a:t> estos estudios, son rutas de alimentación y boquillas independientes.</a:t>
            </a:r>
            <a:endParaRPr sz="1100">
              <a:solidFill>
                <a:schemeClr val="lt1"/>
              </a:solidFill>
            </a:endParaRPr>
          </a:p>
        </p:txBody>
      </p:sp>
      <p:pic>
        <p:nvPicPr>
          <p:cNvPr id="256" name="Google Shape;256;p27"/>
          <p:cNvPicPr preferRelativeResize="0"/>
          <p:nvPr/>
        </p:nvPicPr>
        <p:blipFill>
          <a:blip r:embed="rId4">
            <a:alphaModFix/>
          </a:blip>
          <a:stretch>
            <a:fillRect/>
          </a:stretch>
        </p:blipFill>
        <p:spPr>
          <a:xfrm>
            <a:off x="3227450" y="1125275"/>
            <a:ext cx="2837801" cy="2197201"/>
          </a:xfrm>
          <a:prstGeom prst="rect">
            <a:avLst/>
          </a:prstGeom>
          <a:noFill/>
          <a:ln>
            <a:noFill/>
          </a:ln>
        </p:spPr>
      </p:pic>
      <p:pic>
        <p:nvPicPr>
          <p:cNvPr id="257" name="Google Shape;257;p27"/>
          <p:cNvPicPr preferRelativeResize="0"/>
          <p:nvPr/>
        </p:nvPicPr>
        <p:blipFill>
          <a:blip r:embed="rId5">
            <a:alphaModFix/>
          </a:blip>
          <a:stretch>
            <a:fillRect/>
          </a:stretch>
        </p:blipFill>
        <p:spPr>
          <a:xfrm>
            <a:off x="6279217" y="1326613"/>
            <a:ext cx="2041357" cy="1794525"/>
          </a:xfrm>
          <a:prstGeom prst="rect">
            <a:avLst/>
          </a:prstGeom>
          <a:noFill/>
          <a:ln>
            <a:noFill/>
          </a:ln>
        </p:spPr>
      </p:pic>
      <p:pic>
        <p:nvPicPr>
          <p:cNvPr id="258" name="Google Shape;258;p27"/>
          <p:cNvPicPr preferRelativeResize="0"/>
          <p:nvPr/>
        </p:nvPicPr>
        <p:blipFill rotWithShape="1">
          <a:blip r:embed="rId6">
            <a:alphaModFix/>
          </a:blip>
          <a:srcRect b="0" l="5527" r="0" t="0"/>
          <a:stretch/>
        </p:blipFill>
        <p:spPr>
          <a:xfrm>
            <a:off x="5065150" y="2919872"/>
            <a:ext cx="2178875" cy="171342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2" name="Shape 262"/>
        <p:cNvGrpSpPr/>
        <p:nvPr/>
      </p:nvGrpSpPr>
      <p:grpSpPr>
        <a:xfrm>
          <a:off x="0" y="0"/>
          <a:ext cx="0" cy="0"/>
          <a:chOff x="0" y="0"/>
          <a:chExt cx="0" cy="0"/>
        </a:xfrm>
      </p:grpSpPr>
      <p:pic>
        <p:nvPicPr>
          <p:cNvPr id="263" name="Google Shape;263;p28"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264" name="Google Shape;264;p28"/>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265" name="Google Shape;265;p28"/>
          <p:cNvSpPr txBox="1"/>
          <p:nvPr/>
        </p:nvSpPr>
        <p:spPr>
          <a:xfrm>
            <a:off x="152275" y="430300"/>
            <a:ext cx="73590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Referente: </a:t>
            </a:r>
            <a:r>
              <a:rPr b="1" lang="es">
                <a:latin typeface="Helvetica Neue"/>
                <a:ea typeface="Helvetica Neue"/>
                <a:cs typeface="Helvetica Neue"/>
                <a:sym typeface="Helvetica Neue"/>
              </a:rPr>
              <a:t>Further development of a 3</a:t>
            </a:r>
            <a:r>
              <a:rPr b="1" lang="es">
                <a:latin typeface="Helvetica Neue"/>
                <a:ea typeface="Helvetica Neue"/>
                <a:cs typeface="Helvetica Neue"/>
                <a:sym typeface="Helvetica Neue"/>
              </a:rPr>
              <a:t>D</a:t>
            </a:r>
            <a:r>
              <a:rPr b="1" lang="es">
                <a:latin typeface="Helvetica Neue"/>
                <a:ea typeface="Helvetica Neue"/>
                <a:cs typeface="Helvetica Neue"/>
                <a:sym typeface="Helvetica Neue"/>
              </a:rPr>
              <a:t> printer for multimaterial printing </a:t>
            </a:r>
            <a:r>
              <a:rPr b="1" lang="es">
                <a:latin typeface="Helvetica Neue"/>
                <a:ea typeface="Helvetica Neue"/>
                <a:cs typeface="Helvetica Neue"/>
                <a:sym typeface="Helvetica Neue"/>
              </a:rPr>
              <a:t>&amp; Diseño de extrusor multimaterial para impresora 3D</a:t>
            </a:r>
            <a:endParaRPr b="1">
              <a:latin typeface="Helvetica Neue"/>
              <a:ea typeface="Helvetica Neue"/>
              <a:cs typeface="Helvetica Neue"/>
              <a:sym typeface="Helvetica Neue"/>
            </a:endParaRPr>
          </a:p>
        </p:txBody>
      </p:sp>
      <p:sp>
        <p:nvSpPr>
          <p:cNvPr id="266" name="Google Shape;266;p28"/>
          <p:cNvSpPr/>
          <p:nvPr/>
        </p:nvSpPr>
        <p:spPr>
          <a:xfrm>
            <a:off x="616175" y="1216875"/>
            <a:ext cx="2397300" cy="1485000"/>
          </a:xfrm>
          <a:prstGeom prst="round2DiagRect">
            <a:avLst>
              <a:gd fmla="val 16667" name="adj1"/>
              <a:gd fmla="val 0" name="adj2"/>
            </a:avLst>
          </a:prstGeom>
          <a:solidFill>
            <a:srgbClr val="66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100">
                <a:solidFill>
                  <a:schemeClr val="lt1"/>
                </a:solidFill>
              </a:rPr>
              <a:t>El </a:t>
            </a:r>
            <a:r>
              <a:rPr lang="es" sz="1100">
                <a:solidFill>
                  <a:schemeClr val="lt1"/>
                </a:solidFill>
              </a:rPr>
              <a:t>análisis</a:t>
            </a:r>
            <a:r>
              <a:rPr lang="es" sz="1100">
                <a:solidFill>
                  <a:schemeClr val="lt1"/>
                </a:solidFill>
              </a:rPr>
              <a:t> demuestra que para lograr una producción multimaterial no se pueden forzar los materiales, sino que hay que cambiar la arquitectura cinemática.</a:t>
            </a:r>
            <a:endParaRPr sz="900">
              <a:solidFill>
                <a:schemeClr val="lt1"/>
              </a:solidFill>
              <a:latin typeface="Helvetica Neue"/>
              <a:ea typeface="Helvetica Neue"/>
              <a:cs typeface="Helvetica Neue"/>
              <a:sym typeface="Helvetica Neue"/>
            </a:endParaRPr>
          </a:p>
        </p:txBody>
      </p:sp>
      <p:sp>
        <p:nvSpPr>
          <p:cNvPr id="267" name="Google Shape;267;p28"/>
          <p:cNvSpPr/>
          <p:nvPr/>
        </p:nvSpPr>
        <p:spPr>
          <a:xfrm>
            <a:off x="616175" y="2872725"/>
            <a:ext cx="2397300" cy="1815300"/>
          </a:xfrm>
          <a:prstGeom prst="round2DiagRect">
            <a:avLst>
              <a:gd fmla="val 16667" name="adj1"/>
              <a:gd fmla="val 0" name="adj2"/>
            </a:avLst>
          </a:prstGeom>
          <a:solidFill>
            <a:srgbClr val="660000"/>
          </a:solidFill>
          <a:ln>
            <a:noFill/>
          </a:ln>
        </p:spPr>
        <p:txBody>
          <a:bodyPr anchorCtr="0" anchor="ctr" bIns="91425" lIns="91425" spcFirstLastPara="1" rIns="91425" wrap="square" tIns="91425">
            <a:noAutofit/>
          </a:bodyPr>
          <a:lstStyle/>
          <a:p>
            <a:pPr indent="0" lvl="0" marL="0" rtl="0" algn="l">
              <a:lnSpc>
                <a:spcPct val="115000"/>
              </a:lnSpc>
              <a:spcBef>
                <a:spcPts val="777"/>
              </a:spcBef>
              <a:spcAft>
                <a:spcPts val="777"/>
              </a:spcAft>
              <a:buNone/>
            </a:pPr>
            <a:r>
              <a:rPr lang="es" sz="1100">
                <a:solidFill>
                  <a:schemeClr val="lt1"/>
                </a:solidFill>
              </a:rPr>
              <a:t>El proyecto adopta la </a:t>
            </a:r>
            <a:r>
              <a:rPr lang="es" sz="1100">
                <a:solidFill>
                  <a:schemeClr val="lt1"/>
                </a:solidFill>
              </a:rPr>
              <a:t>resolución</a:t>
            </a:r>
            <a:r>
              <a:rPr lang="es" sz="1100">
                <a:solidFill>
                  <a:schemeClr val="lt1"/>
                </a:solidFill>
              </a:rPr>
              <a:t> cinemática de alimentación independientes para garantizar fiabilidad y compatibilidad multimaterial.</a:t>
            </a:r>
            <a:endParaRPr sz="1100">
              <a:solidFill>
                <a:schemeClr val="lt1"/>
              </a:solidFill>
            </a:endParaRPr>
          </a:p>
        </p:txBody>
      </p:sp>
      <p:pic>
        <p:nvPicPr>
          <p:cNvPr id="268" name="Google Shape;268;p28"/>
          <p:cNvPicPr preferRelativeResize="0"/>
          <p:nvPr/>
        </p:nvPicPr>
        <p:blipFill>
          <a:blip r:embed="rId4">
            <a:alphaModFix/>
          </a:blip>
          <a:stretch>
            <a:fillRect/>
          </a:stretch>
        </p:blipFill>
        <p:spPr>
          <a:xfrm>
            <a:off x="3557225" y="1216875"/>
            <a:ext cx="3160275" cy="2193701"/>
          </a:xfrm>
          <a:prstGeom prst="rect">
            <a:avLst/>
          </a:prstGeom>
          <a:noFill/>
          <a:ln>
            <a:noFill/>
          </a:ln>
        </p:spPr>
      </p:pic>
      <p:pic>
        <p:nvPicPr>
          <p:cNvPr id="269" name="Google Shape;269;p28"/>
          <p:cNvPicPr preferRelativeResize="0"/>
          <p:nvPr/>
        </p:nvPicPr>
        <p:blipFill>
          <a:blip r:embed="rId5">
            <a:alphaModFix/>
          </a:blip>
          <a:stretch>
            <a:fillRect/>
          </a:stretch>
        </p:blipFill>
        <p:spPr>
          <a:xfrm>
            <a:off x="5938446" y="2662363"/>
            <a:ext cx="2596829" cy="2236025"/>
          </a:xfrm>
          <a:prstGeom prst="rect">
            <a:avLst/>
          </a:prstGeom>
          <a:noFill/>
          <a:ln>
            <a:noFill/>
          </a:ln>
        </p:spPr>
      </p:pic>
      <p:pic>
        <p:nvPicPr>
          <p:cNvPr id="270" name="Google Shape;270;p28"/>
          <p:cNvPicPr preferRelativeResize="0"/>
          <p:nvPr/>
        </p:nvPicPr>
        <p:blipFill rotWithShape="1">
          <a:blip r:embed="rId6">
            <a:alphaModFix/>
          </a:blip>
          <a:srcRect b="1410" l="0" r="0" t="0"/>
          <a:stretch/>
        </p:blipFill>
        <p:spPr>
          <a:xfrm>
            <a:off x="3786100" y="3487350"/>
            <a:ext cx="2152350" cy="1342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4" name="Shape 274"/>
        <p:cNvGrpSpPr/>
        <p:nvPr/>
      </p:nvGrpSpPr>
      <p:grpSpPr>
        <a:xfrm>
          <a:off x="0" y="0"/>
          <a:ext cx="0" cy="0"/>
          <a:chOff x="0" y="0"/>
          <a:chExt cx="0" cy="0"/>
        </a:xfrm>
      </p:grpSpPr>
      <p:sp>
        <p:nvSpPr>
          <p:cNvPr id="275" name="Google Shape;275;p29"/>
          <p:cNvSpPr txBox="1"/>
          <p:nvPr/>
        </p:nvSpPr>
        <p:spPr>
          <a:xfrm>
            <a:off x="1436700" y="2209950"/>
            <a:ext cx="6270600" cy="72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500">
                <a:latin typeface="Helvetica Neue"/>
                <a:ea typeface="Helvetica Neue"/>
                <a:cs typeface="Helvetica Neue"/>
                <a:sym typeface="Helvetica Neue"/>
              </a:rPr>
              <a:t>Las mayores innovaciones en impresión 3D no salieron de laboratorios corporativos sino de la comunidad Open Source.</a:t>
            </a:r>
            <a:endParaRPr b="1" sz="1500">
              <a:solidFill>
                <a:srgbClr val="000000"/>
              </a:solidFill>
              <a:latin typeface="Helvetica Neue"/>
              <a:ea typeface="Helvetica Neue"/>
              <a:cs typeface="Helvetica Neue"/>
              <a:sym typeface="Helvetica Neue"/>
            </a:endParaRPr>
          </a:p>
        </p:txBody>
      </p:sp>
      <p:pic>
        <p:nvPicPr>
          <p:cNvPr id="276" name="Google Shape;276;p29"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277" name="Google Shape;277;p29"/>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1" name="Shape 281"/>
        <p:cNvGrpSpPr/>
        <p:nvPr/>
      </p:nvGrpSpPr>
      <p:grpSpPr>
        <a:xfrm>
          <a:off x="0" y="0"/>
          <a:ext cx="0" cy="0"/>
          <a:chOff x="0" y="0"/>
          <a:chExt cx="0" cy="0"/>
        </a:xfrm>
      </p:grpSpPr>
      <p:sp>
        <p:nvSpPr>
          <p:cNvPr id="282" name="Google Shape;282;p30"/>
          <p:cNvSpPr txBox="1"/>
          <p:nvPr/>
        </p:nvSpPr>
        <p:spPr>
          <a:xfrm>
            <a:off x="152275" y="430300"/>
            <a:ext cx="20649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La Historia</a:t>
            </a:r>
            <a:endParaRPr b="1">
              <a:solidFill>
                <a:srgbClr val="000000"/>
              </a:solidFill>
              <a:latin typeface="Helvetica Neue"/>
              <a:ea typeface="Helvetica Neue"/>
              <a:cs typeface="Helvetica Neue"/>
              <a:sym typeface="Helvetica Neue"/>
            </a:endParaRPr>
          </a:p>
        </p:txBody>
      </p:sp>
      <p:pic>
        <p:nvPicPr>
          <p:cNvPr id="283" name="Google Shape;283;p30"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284" name="Google Shape;284;p30"/>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285" name="Google Shape;285;p30"/>
          <p:cNvSpPr txBox="1"/>
          <p:nvPr/>
        </p:nvSpPr>
        <p:spPr>
          <a:xfrm>
            <a:off x="2646763" y="297475"/>
            <a:ext cx="11148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Innovación abierta	</a:t>
            </a:r>
            <a:endParaRPr b="1" sz="800">
              <a:solidFill>
                <a:schemeClr val="dk1"/>
              </a:solidFill>
            </a:endParaRPr>
          </a:p>
        </p:txBody>
      </p:sp>
      <p:sp>
        <p:nvSpPr>
          <p:cNvPr id="286" name="Google Shape;286;p30"/>
          <p:cNvSpPr txBox="1"/>
          <p:nvPr/>
        </p:nvSpPr>
        <p:spPr>
          <a:xfrm>
            <a:off x="4005063" y="430300"/>
            <a:ext cx="19926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La reducción radical en</a:t>
            </a:r>
            <a:endParaRPr sz="700">
              <a:solidFill>
                <a:schemeClr val="dk1"/>
              </a:solidFill>
            </a:endParaRPr>
          </a:p>
        </p:txBody>
      </p:sp>
      <p:cxnSp>
        <p:nvCxnSpPr>
          <p:cNvPr id="287" name="Google Shape;287;p30"/>
          <p:cNvCxnSpPr/>
          <p:nvPr/>
        </p:nvCxnSpPr>
        <p:spPr>
          <a:xfrm>
            <a:off x="239300" y="3336075"/>
            <a:ext cx="8380800" cy="0"/>
          </a:xfrm>
          <a:prstGeom prst="straightConnector1">
            <a:avLst/>
          </a:prstGeom>
          <a:noFill/>
          <a:ln cap="flat" cmpd="sng" w="152400">
            <a:solidFill>
              <a:schemeClr val="dk2"/>
            </a:solidFill>
            <a:prstDash val="solid"/>
            <a:round/>
            <a:headEnd len="med" w="med" type="none"/>
            <a:tailEnd len="med" w="med" type="triangle"/>
          </a:ln>
        </p:spPr>
      </p:cxnSp>
      <p:pic>
        <p:nvPicPr>
          <p:cNvPr id="288" name="Google Shape;288;p30"/>
          <p:cNvPicPr preferRelativeResize="0"/>
          <p:nvPr/>
        </p:nvPicPr>
        <p:blipFill>
          <a:blip r:embed="rId4">
            <a:alphaModFix/>
          </a:blip>
          <a:stretch>
            <a:fillRect/>
          </a:stretch>
        </p:blipFill>
        <p:spPr>
          <a:xfrm>
            <a:off x="439423" y="1477550"/>
            <a:ext cx="1247700" cy="1561024"/>
          </a:xfrm>
          <a:prstGeom prst="rect">
            <a:avLst/>
          </a:prstGeom>
          <a:noFill/>
          <a:ln>
            <a:noFill/>
          </a:ln>
        </p:spPr>
      </p:pic>
      <p:sp>
        <p:nvSpPr>
          <p:cNvPr id="289" name="Google Shape;289;p30"/>
          <p:cNvSpPr txBox="1"/>
          <p:nvPr/>
        </p:nvSpPr>
        <p:spPr>
          <a:xfrm>
            <a:off x="484975" y="2979450"/>
            <a:ext cx="1399500" cy="23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
              <a:t>Fuente: </a:t>
            </a:r>
            <a:r>
              <a:rPr lang="es" sz="300"/>
              <a:t>https://reprap.org/wiki/RepRapOneDarwin</a:t>
            </a:r>
            <a:endParaRPr sz="300"/>
          </a:p>
        </p:txBody>
      </p:sp>
      <p:pic>
        <p:nvPicPr>
          <p:cNvPr id="290" name="Google Shape;290;p30"/>
          <p:cNvPicPr preferRelativeResize="0"/>
          <p:nvPr/>
        </p:nvPicPr>
        <p:blipFill>
          <a:blip r:embed="rId5">
            <a:alphaModFix/>
          </a:blip>
          <a:stretch>
            <a:fillRect/>
          </a:stretch>
        </p:blipFill>
        <p:spPr>
          <a:xfrm>
            <a:off x="2124000" y="1541988"/>
            <a:ext cx="1306925" cy="1476575"/>
          </a:xfrm>
          <a:prstGeom prst="rect">
            <a:avLst/>
          </a:prstGeom>
          <a:noFill/>
          <a:ln>
            <a:noFill/>
          </a:ln>
        </p:spPr>
      </p:pic>
      <p:sp>
        <p:nvSpPr>
          <p:cNvPr id="291" name="Google Shape;291;p30"/>
          <p:cNvSpPr txBox="1"/>
          <p:nvPr/>
        </p:nvSpPr>
        <p:spPr>
          <a:xfrm>
            <a:off x="2283967" y="2959438"/>
            <a:ext cx="1114800" cy="23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
              <a:t>Fuente: </a:t>
            </a:r>
            <a:r>
              <a:rPr lang="es" sz="300"/>
              <a:t>https://reprap.org/wiki/Prusa_i3</a:t>
            </a:r>
            <a:endParaRPr sz="300"/>
          </a:p>
        </p:txBody>
      </p:sp>
      <p:pic>
        <p:nvPicPr>
          <p:cNvPr id="292" name="Google Shape;292;p30"/>
          <p:cNvPicPr preferRelativeResize="0"/>
          <p:nvPr/>
        </p:nvPicPr>
        <p:blipFill rotWithShape="1">
          <a:blip r:embed="rId6">
            <a:alphaModFix/>
          </a:blip>
          <a:srcRect b="9411" l="8774" r="7502" t="9109"/>
          <a:stretch/>
        </p:blipFill>
        <p:spPr>
          <a:xfrm>
            <a:off x="3998163" y="1656554"/>
            <a:ext cx="1399500" cy="1362021"/>
          </a:xfrm>
          <a:prstGeom prst="rect">
            <a:avLst/>
          </a:prstGeom>
          <a:noFill/>
          <a:ln>
            <a:noFill/>
          </a:ln>
        </p:spPr>
      </p:pic>
      <p:sp>
        <p:nvSpPr>
          <p:cNvPr id="293" name="Google Shape;293;p30"/>
          <p:cNvSpPr txBox="1"/>
          <p:nvPr/>
        </p:nvSpPr>
        <p:spPr>
          <a:xfrm>
            <a:off x="4123850" y="2959450"/>
            <a:ext cx="1273800" cy="23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
              <a:t>Fuente: </a:t>
            </a:r>
            <a:r>
              <a:rPr lang="es" sz="300"/>
              <a:t>https://voron3d.wiki/printers/#voron-v24</a:t>
            </a:r>
            <a:endParaRPr sz="300"/>
          </a:p>
        </p:txBody>
      </p:sp>
      <p:pic>
        <p:nvPicPr>
          <p:cNvPr id="294" name="Google Shape;294;p30"/>
          <p:cNvPicPr preferRelativeResize="0"/>
          <p:nvPr/>
        </p:nvPicPr>
        <p:blipFill rotWithShape="1">
          <a:blip r:embed="rId7">
            <a:alphaModFix/>
          </a:blip>
          <a:srcRect b="1311" l="15140" r="6900" t="3677"/>
          <a:stretch/>
        </p:blipFill>
        <p:spPr>
          <a:xfrm>
            <a:off x="6090575" y="1461651"/>
            <a:ext cx="1306926" cy="1592823"/>
          </a:xfrm>
          <a:prstGeom prst="rect">
            <a:avLst/>
          </a:prstGeom>
          <a:noFill/>
          <a:ln>
            <a:noFill/>
          </a:ln>
        </p:spPr>
      </p:pic>
      <p:sp>
        <p:nvSpPr>
          <p:cNvPr id="295" name="Google Shape;295;p30"/>
          <p:cNvSpPr txBox="1"/>
          <p:nvPr/>
        </p:nvSpPr>
        <p:spPr>
          <a:xfrm>
            <a:off x="6151075" y="2902650"/>
            <a:ext cx="1185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
              <a:t>Fuente: </a:t>
            </a:r>
            <a:r>
              <a:rPr lang="es" sz="300"/>
              <a:t>https://cdn.3dstore.dk/wp-content/uploads/2023/05/Bambu-Lab-X1-Carbon-Combo.png</a:t>
            </a:r>
            <a:endParaRPr sz="300"/>
          </a:p>
        </p:txBody>
      </p:sp>
      <p:pic>
        <p:nvPicPr>
          <p:cNvPr id="296" name="Google Shape;296;p30"/>
          <p:cNvPicPr preferRelativeResize="0"/>
          <p:nvPr/>
        </p:nvPicPr>
        <p:blipFill>
          <a:blip r:embed="rId8">
            <a:alphaModFix/>
          </a:blip>
          <a:stretch>
            <a:fillRect/>
          </a:stretch>
        </p:blipFill>
        <p:spPr>
          <a:xfrm>
            <a:off x="4201438" y="3497062"/>
            <a:ext cx="1060575" cy="874975"/>
          </a:xfrm>
          <a:prstGeom prst="rect">
            <a:avLst/>
          </a:prstGeom>
          <a:noFill/>
          <a:ln>
            <a:noFill/>
          </a:ln>
        </p:spPr>
      </p:pic>
      <p:sp>
        <p:nvSpPr>
          <p:cNvPr id="297" name="Google Shape;297;p30"/>
          <p:cNvSpPr txBox="1"/>
          <p:nvPr/>
        </p:nvSpPr>
        <p:spPr>
          <a:xfrm>
            <a:off x="4342025" y="4302350"/>
            <a:ext cx="779400" cy="23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
              <a:t>Fuente: </a:t>
            </a:r>
            <a:r>
              <a:rPr lang="es" sz="300"/>
              <a:t>https://www.klipper3d.org/</a:t>
            </a:r>
            <a:endParaRPr sz="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1" name="Shape 301"/>
        <p:cNvGrpSpPr/>
        <p:nvPr/>
      </p:nvGrpSpPr>
      <p:grpSpPr>
        <a:xfrm>
          <a:off x="0" y="0"/>
          <a:ext cx="0" cy="0"/>
          <a:chOff x="0" y="0"/>
          <a:chExt cx="0" cy="0"/>
        </a:xfrm>
      </p:grpSpPr>
      <p:sp>
        <p:nvSpPr>
          <p:cNvPr id="302" name="Google Shape;302;p31"/>
          <p:cNvSpPr/>
          <p:nvPr/>
        </p:nvSpPr>
        <p:spPr>
          <a:xfrm>
            <a:off x="2108200" y="4087575"/>
            <a:ext cx="4658700" cy="4440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31"/>
          <p:cNvSpPr txBox="1"/>
          <p:nvPr/>
        </p:nvSpPr>
        <p:spPr>
          <a:xfrm>
            <a:off x="152275" y="430300"/>
            <a:ext cx="38040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Innovación abierta y soberanía del usuario</a:t>
            </a:r>
            <a:endParaRPr b="1">
              <a:solidFill>
                <a:srgbClr val="000000"/>
              </a:solidFill>
              <a:latin typeface="Helvetica Neue"/>
              <a:ea typeface="Helvetica Neue"/>
              <a:cs typeface="Helvetica Neue"/>
              <a:sym typeface="Helvetica Neue"/>
            </a:endParaRPr>
          </a:p>
        </p:txBody>
      </p:sp>
      <p:pic>
        <p:nvPicPr>
          <p:cNvPr id="304" name="Google Shape;304;p31"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305" name="Google Shape;305;p31"/>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306" name="Google Shape;306;p31"/>
          <p:cNvSpPr txBox="1"/>
          <p:nvPr/>
        </p:nvSpPr>
        <p:spPr>
          <a:xfrm>
            <a:off x="2108192" y="4087575"/>
            <a:ext cx="4658700" cy="694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s" sz="700">
                <a:solidFill>
                  <a:schemeClr val="dk1"/>
                </a:solidFill>
              </a:rPr>
              <a:t>al establecer una base fundacional sobre la cual la comunidad puede construir, la innovación se desata a través de una “recombinación creativa” (Chesbrough, 2003, p. 8)</a:t>
            </a:r>
            <a:endParaRPr sz="700">
              <a:solidFill>
                <a:schemeClr val="dk1"/>
              </a:solidFill>
            </a:endParaRPr>
          </a:p>
          <a:p>
            <a:pPr indent="0" lvl="0" marL="0" rtl="0" algn="ctr">
              <a:lnSpc>
                <a:spcPct val="115000"/>
              </a:lnSpc>
              <a:spcBef>
                <a:spcPts val="1200"/>
              </a:spcBef>
              <a:spcAft>
                <a:spcPts val="1200"/>
              </a:spcAft>
              <a:buNone/>
            </a:pPr>
            <a:r>
              <a:t/>
            </a:r>
            <a:endParaRPr sz="700">
              <a:solidFill>
                <a:schemeClr val="dk1"/>
              </a:solidFill>
            </a:endParaRPr>
          </a:p>
        </p:txBody>
      </p:sp>
      <p:pic>
        <p:nvPicPr>
          <p:cNvPr id="307" name="Google Shape;307;p31"/>
          <p:cNvPicPr preferRelativeResize="0"/>
          <p:nvPr/>
        </p:nvPicPr>
        <p:blipFill>
          <a:blip r:embed="rId4">
            <a:alphaModFix/>
          </a:blip>
          <a:stretch>
            <a:fillRect/>
          </a:stretch>
        </p:blipFill>
        <p:spPr>
          <a:xfrm>
            <a:off x="1163900" y="1260452"/>
            <a:ext cx="2202600" cy="2316085"/>
          </a:xfrm>
          <a:prstGeom prst="rect">
            <a:avLst/>
          </a:prstGeom>
          <a:noFill/>
          <a:ln>
            <a:noFill/>
          </a:ln>
        </p:spPr>
      </p:pic>
      <p:sp>
        <p:nvSpPr>
          <p:cNvPr id="308" name="Google Shape;308;p31"/>
          <p:cNvSpPr txBox="1"/>
          <p:nvPr/>
        </p:nvSpPr>
        <p:spPr>
          <a:xfrm>
            <a:off x="1579750" y="3635813"/>
            <a:ext cx="1284600" cy="23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
              <a:t>Fuente: </a:t>
            </a:r>
            <a:r>
              <a:rPr lang="es" sz="300"/>
              <a:t>https://en.wikipedia.org/wiki/Open-source_hardware</a:t>
            </a:r>
            <a:endParaRPr sz="300"/>
          </a:p>
        </p:txBody>
      </p:sp>
      <p:pic>
        <p:nvPicPr>
          <p:cNvPr id="309" name="Google Shape;309;p31"/>
          <p:cNvPicPr preferRelativeResize="0"/>
          <p:nvPr/>
        </p:nvPicPr>
        <p:blipFill>
          <a:blip r:embed="rId5">
            <a:alphaModFix/>
          </a:blip>
          <a:stretch>
            <a:fillRect/>
          </a:stretch>
        </p:blipFill>
        <p:spPr>
          <a:xfrm>
            <a:off x="5332400" y="1260438"/>
            <a:ext cx="1636595" cy="2147425"/>
          </a:xfrm>
          <a:prstGeom prst="rect">
            <a:avLst/>
          </a:prstGeom>
          <a:noFill/>
          <a:ln>
            <a:noFill/>
          </a:ln>
        </p:spPr>
      </p:pic>
      <p:sp>
        <p:nvSpPr>
          <p:cNvPr id="310" name="Google Shape;310;p31"/>
          <p:cNvSpPr txBox="1"/>
          <p:nvPr/>
        </p:nvSpPr>
        <p:spPr>
          <a:xfrm>
            <a:off x="5534500" y="3601525"/>
            <a:ext cx="1232400" cy="23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
              <a:t>Fuente: </a:t>
            </a:r>
            <a:r>
              <a:rPr lang="es" sz="300"/>
              <a:t>https://es.wikipedia.org/wiki/Open_Source_Initiative</a:t>
            </a:r>
            <a:endParaRPr sz="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sp>
        <p:nvSpPr>
          <p:cNvPr id="315" name="Google Shape;315;p32"/>
          <p:cNvSpPr txBox="1"/>
          <p:nvPr/>
        </p:nvSpPr>
        <p:spPr>
          <a:xfrm>
            <a:off x="152275" y="430300"/>
            <a:ext cx="20649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Usuario Real</a:t>
            </a:r>
            <a:endParaRPr b="1">
              <a:solidFill>
                <a:srgbClr val="000000"/>
              </a:solidFill>
              <a:latin typeface="Helvetica Neue"/>
              <a:ea typeface="Helvetica Neue"/>
              <a:cs typeface="Helvetica Neue"/>
              <a:sym typeface="Helvetica Neue"/>
            </a:endParaRPr>
          </a:p>
        </p:txBody>
      </p:sp>
      <p:pic>
        <p:nvPicPr>
          <p:cNvPr id="316" name="Google Shape;316;p32"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317" name="Google Shape;317;p32"/>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pic>
        <p:nvPicPr>
          <p:cNvPr id="318" name="Google Shape;318;p32"/>
          <p:cNvPicPr preferRelativeResize="0"/>
          <p:nvPr/>
        </p:nvPicPr>
        <p:blipFill>
          <a:blip r:embed="rId4">
            <a:alphaModFix/>
          </a:blip>
          <a:stretch>
            <a:fillRect/>
          </a:stretch>
        </p:blipFill>
        <p:spPr>
          <a:xfrm>
            <a:off x="843425" y="1799449"/>
            <a:ext cx="7457150" cy="1629050"/>
          </a:xfrm>
          <a:prstGeom prst="rect">
            <a:avLst/>
          </a:prstGeom>
          <a:noFill/>
          <a:ln>
            <a:noFill/>
          </a:ln>
        </p:spPr>
      </p:pic>
      <p:sp>
        <p:nvSpPr>
          <p:cNvPr id="319" name="Google Shape;319;p32"/>
          <p:cNvSpPr txBox="1"/>
          <p:nvPr/>
        </p:nvSpPr>
        <p:spPr>
          <a:xfrm>
            <a:off x="6371316" y="3293082"/>
            <a:ext cx="756300" cy="23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
              <a:t>Fuente: </a:t>
            </a:r>
            <a:r>
              <a:rPr lang="es" sz="300"/>
              <a:t>https://www.amtek.cl/</a:t>
            </a:r>
            <a:endParaRPr sz="3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33"/>
          <p:cNvSpPr/>
          <p:nvPr/>
        </p:nvSpPr>
        <p:spPr>
          <a:xfrm>
            <a:off x="276775" y="2143575"/>
            <a:ext cx="2613900" cy="101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33"/>
          <p:cNvSpPr txBox="1"/>
          <p:nvPr/>
        </p:nvSpPr>
        <p:spPr>
          <a:xfrm>
            <a:off x="152275" y="430300"/>
            <a:ext cx="3866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lt1"/>
                </a:solidFill>
                <a:latin typeface="Helvetica Neue"/>
                <a:ea typeface="Helvetica Neue"/>
                <a:cs typeface="Helvetica Neue"/>
                <a:sym typeface="Helvetica Neue"/>
              </a:rPr>
              <a:t>Carga Cognitiva y Resiliencia Operativa</a:t>
            </a:r>
            <a:endParaRPr b="1">
              <a:solidFill>
                <a:schemeClr val="lt1"/>
              </a:solidFill>
              <a:latin typeface="Helvetica Neue"/>
              <a:ea typeface="Helvetica Neue"/>
              <a:cs typeface="Helvetica Neue"/>
              <a:sym typeface="Helvetica Neue"/>
            </a:endParaRPr>
          </a:p>
        </p:txBody>
      </p:sp>
      <p:sp>
        <p:nvSpPr>
          <p:cNvPr id="326" name="Google Shape;326;p33"/>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chemeClr val="lt1"/>
                </a:solidFill>
                <a:latin typeface="Helvetica Neue Light"/>
                <a:ea typeface="Helvetica Neue Light"/>
                <a:cs typeface="Helvetica Neue Light"/>
                <a:sym typeface="Helvetica Neue Light"/>
              </a:rPr>
              <a:t>Seminario de Título</a:t>
            </a:r>
            <a:endParaRPr sz="900">
              <a:solidFill>
                <a:schemeClr val="lt1"/>
              </a:solidFill>
              <a:latin typeface="Helvetica Neue Light"/>
              <a:ea typeface="Helvetica Neue Light"/>
              <a:cs typeface="Helvetica Neue Light"/>
              <a:sym typeface="Helvetica Neue Light"/>
            </a:endParaRPr>
          </a:p>
        </p:txBody>
      </p:sp>
      <p:sp>
        <p:nvSpPr>
          <p:cNvPr id="327" name="Google Shape;327;p33"/>
          <p:cNvSpPr txBox="1"/>
          <p:nvPr/>
        </p:nvSpPr>
        <p:spPr>
          <a:xfrm>
            <a:off x="-4075314" y="2874275"/>
            <a:ext cx="3788400" cy="41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Al intentar guiar filamentos flexibles a través de tubos PTFE, el material se aplasta con las paredes del tubo originando atascos (U. de Zaragoza, 2021)</a:t>
            </a:r>
            <a:endParaRPr sz="700">
              <a:solidFill>
                <a:schemeClr val="dk1"/>
              </a:solidFill>
            </a:endParaRPr>
          </a:p>
        </p:txBody>
      </p:sp>
      <p:sp>
        <p:nvSpPr>
          <p:cNvPr id="328" name="Google Shape;328;p33"/>
          <p:cNvSpPr txBox="1"/>
          <p:nvPr/>
        </p:nvSpPr>
        <p:spPr>
          <a:xfrm>
            <a:off x="-1607400" y="1253988"/>
            <a:ext cx="1607400" cy="323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900">
                <a:solidFill>
                  <a:schemeClr val="dk1"/>
                </a:solidFill>
              </a:rPr>
              <a:t>El problema del TPU</a:t>
            </a:r>
            <a:endParaRPr sz="1500"/>
          </a:p>
        </p:txBody>
      </p:sp>
      <p:pic>
        <p:nvPicPr>
          <p:cNvPr id="329" name="Google Shape;329;p33" title="faad_lockupsArtboard 1@2x.png"/>
          <p:cNvPicPr preferRelativeResize="0"/>
          <p:nvPr/>
        </p:nvPicPr>
        <p:blipFill>
          <a:blip r:embed="rId4">
            <a:alphaModFix/>
          </a:blip>
          <a:stretch>
            <a:fillRect/>
          </a:stretch>
        </p:blipFill>
        <p:spPr>
          <a:xfrm>
            <a:off x="7726754" y="244750"/>
            <a:ext cx="1003397" cy="348600"/>
          </a:xfrm>
          <a:prstGeom prst="rect">
            <a:avLst/>
          </a:prstGeom>
          <a:noFill/>
          <a:ln>
            <a:noFill/>
          </a:ln>
        </p:spPr>
      </p:pic>
      <p:sp>
        <p:nvSpPr>
          <p:cNvPr id="330" name="Google Shape;330;p33"/>
          <p:cNvSpPr txBox="1"/>
          <p:nvPr/>
        </p:nvSpPr>
        <p:spPr>
          <a:xfrm>
            <a:off x="0" y="4912500"/>
            <a:ext cx="3000000" cy="23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
                <a:solidFill>
                  <a:schemeClr val="lt1"/>
                </a:solidFill>
              </a:rPr>
              <a:t>Fuente: </a:t>
            </a:r>
            <a:r>
              <a:rPr lang="es" sz="300">
                <a:solidFill>
                  <a:schemeClr val="lt1"/>
                </a:solidFill>
              </a:rPr>
              <a:t>https://www.facebook.com/groups/2654412264707391/posts/2976672492481365/</a:t>
            </a:r>
            <a:endParaRPr sz="300">
              <a:solidFill>
                <a:schemeClr val="lt1"/>
              </a:solidFill>
            </a:endParaRPr>
          </a:p>
        </p:txBody>
      </p:sp>
      <p:sp>
        <p:nvSpPr>
          <p:cNvPr id="331" name="Google Shape;331;p33"/>
          <p:cNvSpPr txBox="1"/>
          <p:nvPr/>
        </p:nvSpPr>
        <p:spPr>
          <a:xfrm>
            <a:off x="302900" y="2184775"/>
            <a:ext cx="26139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chemeClr val="lt1"/>
                </a:solidFill>
              </a:rPr>
              <a:t>"Los diseños futuros deberían evitar este comportamiento deshumanizante de obligar a las personas a sentarse y observar cómo trabaja la máquina" (Yildirim et al., 2020, p. 10, traducción propia).</a:t>
            </a:r>
            <a:endParaRPr sz="9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p34"/>
          <p:cNvSpPr/>
          <p:nvPr/>
        </p:nvSpPr>
        <p:spPr>
          <a:xfrm>
            <a:off x="2094875" y="2067875"/>
            <a:ext cx="5095200" cy="12879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37" name="Google Shape;337;p34"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338" name="Google Shape;338;p34"/>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339" name="Google Shape;339;p34"/>
          <p:cNvSpPr txBox="1"/>
          <p:nvPr/>
        </p:nvSpPr>
        <p:spPr>
          <a:xfrm>
            <a:off x="1998326" y="2227625"/>
            <a:ext cx="5223600" cy="1314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s" sz="1200">
                <a:solidFill>
                  <a:schemeClr val="dk1"/>
                </a:solidFill>
              </a:rPr>
              <a:t>“Trabajar </a:t>
            </a:r>
            <a:r>
              <a:rPr lang="es" sz="1200">
                <a:solidFill>
                  <a:schemeClr val="dk1"/>
                </a:solidFill>
              </a:rPr>
              <a:t>fácilmente</a:t>
            </a:r>
            <a:r>
              <a:rPr lang="es" sz="1200">
                <a:solidFill>
                  <a:schemeClr val="dk1"/>
                </a:solidFill>
              </a:rPr>
              <a:t> con un rango diverso de materiales físicos en impresiones individuales para hacer objetos altamente funcionales”</a:t>
            </a:r>
            <a:endParaRPr sz="1200">
              <a:solidFill>
                <a:schemeClr val="dk1"/>
              </a:solidFill>
            </a:endParaRPr>
          </a:p>
          <a:p>
            <a:pPr indent="0" lvl="0" marL="0" rtl="0" algn="ctr">
              <a:lnSpc>
                <a:spcPct val="115000"/>
              </a:lnSpc>
              <a:spcBef>
                <a:spcPts val="1200"/>
              </a:spcBef>
              <a:spcAft>
                <a:spcPts val="0"/>
              </a:spcAft>
              <a:buNone/>
            </a:pPr>
            <a:r>
              <a:rPr lang="es" sz="1200">
                <a:solidFill>
                  <a:schemeClr val="dk1"/>
                </a:solidFill>
              </a:rPr>
              <a:t>-Adrian Bowyer 2020</a:t>
            </a:r>
            <a:endParaRPr sz="1200">
              <a:solidFill>
                <a:schemeClr val="dk1"/>
              </a:solidFill>
            </a:endParaRPr>
          </a:p>
          <a:p>
            <a:pPr indent="0" lvl="0" marL="0" rtl="0" algn="ctr">
              <a:lnSpc>
                <a:spcPct val="115000"/>
              </a:lnSpc>
              <a:spcBef>
                <a:spcPts val="1200"/>
              </a:spcBef>
              <a:spcAft>
                <a:spcPts val="1200"/>
              </a:spcAft>
              <a:buNone/>
            </a:pPr>
            <a:r>
              <a:t/>
            </a:r>
            <a:endParaRPr sz="12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3" name="Shape 343"/>
        <p:cNvGrpSpPr/>
        <p:nvPr/>
      </p:nvGrpSpPr>
      <p:grpSpPr>
        <a:xfrm>
          <a:off x="0" y="0"/>
          <a:ext cx="0" cy="0"/>
          <a:chOff x="0" y="0"/>
          <a:chExt cx="0" cy="0"/>
        </a:xfrm>
      </p:grpSpPr>
      <p:sp>
        <p:nvSpPr>
          <p:cNvPr id="344" name="Google Shape;344;p35"/>
          <p:cNvSpPr/>
          <p:nvPr/>
        </p:nvSpPr>
        <p:spPr>
          <a:xfrm>
            <a:off x="1296925" y="2338975"/>
            <a:ext cx="1485000" cy="8001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35"/>
          <p:cNvSpPr/>
          <p:nvPr/>
        </p:nvSpPr>
        <p:spPr>
          <a:xfrm>
            <a:off x="1296925" y="3139075"/>
            <a:ext cx="1485000" cy="819300"/>
          </a:xfrm>
          <a:prstGeom prst="rect">
            <a:avLst/>
          </a:prstGeom>
          <a:solidFill>
            <a:srgbClr val="F6B26B">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35"/>
          <p:cNvSpPr/>
          <p:nvPr/>
        </p:nvSpPr>
        <p:spPr>
          <a:xfrm>
            <a:off x="2782103" y="1585450"/>
            <a:ext cx="1584900" cy="7536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35"/>
          <p:cNvSpPr/>
          <p:nvPr/>
        </p:nvSpPr>
        <p:spPr>
          <a:xfrm>
            <a:off x="4367050" y="2339050"/>
            <a:ext cx="1712700" cy="8001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35"/>
          <p:cNvSpPr/>
          <p:nvPr/>
        </p:nvSpPr>
        <p:spPr>
          <a:xfrm>
            <a:off x="7637800" y="3139075"/>
            <a:ext cx="1257300" cy="8193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35"/>
          <p:cNvSpPr/>
          <p:nvPr/>
        </p:nvSpPr>
        <p:spPr>
          <a:xfrm>
            <a:off x="2781925" y="3139075"/>
            <a:ext cx="1584900" cy="1781100"/>
          </a:xfrm>
          <a:prstGeom prst="rect">
            <a:avLst/>
          </a:prstGeom>
          <a:solidFill>
            <a:srgbClr val="F6B26B">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35"/>
          <p:cNvSpPr/>
          <p:nvPr/>
        </p:nvSpPr>
        <p:spPr>
          <a:xfrm>
            <a:off x="6079525" y="2338975"/>
            <a:ext cx="1557600" cy="8001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1" name="Google Shape;351;p35"/>
          <p:cNvSpPr/>
          <p:nvPr/>
        </p:nvSpPr>
        <p:spPr>
          <a:xfrm>
            <a:off x="1296925" y="3958225"/>
            <a:ext cx="1485000" cy="962100"/>
          </a:xfrm>
          <a:prstGeom prst="rect">
            <a:avLst/>
          </a:prstGeom>
          <a:solidFill>
            <a:srgbClr val="F6B26B">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35"/>
          <p:cNvSpPr/>
          <p:nvPr/>
        </p:nvSpPr>
        <p:spPr>
          <a:xfrm>
            <a:off x="7637125" y="2339050"/>
            <a:ext cx="1257300" cy="8001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35"/>
          <p:cNvSpPr/>
          <p:nvPr/>
        </p:nvSpPr>
        <p:spPr>
          <a:xfrm>
            <a:off x="4366825" y="1585450"/>
            <a:ext cx="1712700" cy="7536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35"/>
          <p:cNvSpPr/>
          <p:nvPr/>
        </p:nvSpPr>
        <p:spPr>
          <a:xfrm>
            <a:off x="4367050" y="3139075"/>
            <a:ext cx="1712700" cy="8193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35"/>
          <p:cNvSpPr/>
          <p:nvPr/>
        </p:nvSpPr>
        <p:spPr>
          <a:xfrm>
            <a:off x="7638025" y="3958375"/>
            <a:ext cx="1257300" cy="9621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35"/>
          <p:cNvSpPr/>
          <p:nvPr/>
        </p:nvSpPr>
        <p:spPr>
          <a:xfrm>
            <a:off x="4366825" y="3958375"/>
            <a:ext cx="1712700" cy="962100"/>
          </a:xfrm>
          <a:prstGeom prst="rect">
            <a:avLst/>
          </a:prstGeom>
          <a:solidFill>
            <a:srgbClr val="F6B26B">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35"/>
          <p:cNvSpPr/>
          <p:nvPr/>
        </p:nvSpPr>
        <p:spPr>
          <a:xfrm>
            <a:off x="6079750" y="1585450"/>
            <a:ext cx="1557600" cy="7536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8" name="Google Shape;358;p35"/>
          <p:cNvSpPr/>
          <p:nvPr/>
        </p:nvSpPr>
        <p:spPr>
          <a:xfrm>
            <a:off x="6079975" y="3139150"/>
            <a:ext cx="1557600" cy="1781100"/>
          </a:xfrm>
          <a:prstGeom prst="rect">
            <a:avLst/>
          </a:prstGeom>
          <a:solidFill>
            <a:srgbClr val="F6B26B">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35"/>
          <p:cNvSpPr/>
          <p:nvPr/>
        </p:nvSpPr>
        <p:spPr>
          <a:xfrm>
            <a:off x="7637125" y="1585450"/>
            <a:ext cx="1257300" cy="7536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0" name="Google Shape;360;p35"/>
          <p:cNvSpPr/>
          <p:nvPr/>
        </p:nvSpPr>
        <p:spPr>
          <a:xfrm>
            <a:off x="2781925" y="2338975"/>
            <a:ext cx="1584900" cy="8001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1" name="Google Shape;361;p35"/>
          <p:cNvSpPr txBox="1"/>
          <p:nvPr/>
        </p:nvSpPr>
        <p:spPr>
          <a:xfrm>
            <a:off x="152275" y="430300"/>
            <a:ext cx="27726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Benchmarking</a:t>
            </a:r>
            <a:endParaRPr b="1">
              <a:solidFill>
                <a:srgbClr val="000000"/>
              </a:solidFill>
              <a:latin typeface="Helvetica Neue"/>
              <a:ea typeface="Helvetica Neue"/>
              <a:cs typeface="Helvetica Neue"/>
              <a:sym typeface="Helvetica Neue"/>
            </a:endParaRPr>
          </a:p>
        </p:txBody>
      </p:sp>
      <p:pic>
        <p:nvPicPr>
          <p:cNvPr id="362" name="Google Shape;362;p35"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363" name="Google Shape;363;p35"/>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364" name="Google Shape;364;p35"/>
          <p:cNvSpPr/>
          <p:nvPr/>
        </p:nvSpPr>
        <p:spPr>
          <a:xfrm>
            <a:off x="1297100" y="1585450"/>
            <a:ext cx="1485000" cy="7536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365" name="Google Shape;365;p35"/>
          <p:cNvGraphicFramePr/>
          <p:nvPr/>
        </p:nvGraphicFramePr>
        <p:xfrm>
          <a:off x="-664275" y="5504275"/>
          <a:ext cx="3000000" cy="3000000"/>
        </p:xfrm>
        <a:graphic>
          <a:graphicData uri="http://schemas.openxmlformats.org/drawingml/2006/table">
            <a:tbl>
              <a:tblPr>
                <a:noFill/>
                <a:tableStyleId>{DA021A84-8BBD-486D-A789-BF6277C520F9}</a:tableStyleId>
              </a:tblPr>
              <a:tblGrid>
                <a:gridCol w="996425"/>
                <a:gridCol w="964775"/>
                <a:gridCol w="806625"/>
                <a:gridCol w="1352275"/>
                <a:gridCol w="1320650"/>
                <a:gridCol w="1225750"/>
                <a:gridCol w="830350"/>
              </a:tblGrid>
              <a:tr h="498250">
                <a:tc>
                  <a:txBody>
                    <a:bodyPr/>
                    <a:lstStyle/>
                    <a:p>
                      <a:pPr indent="0" lvl="0" marL="0" rtl="0" algn="l">
                        <a:lnSpc>
                          <a:spcPct val="115000"/>
                        </a:lnSpc>
                        <a:spcBef>
                          <a:spcPts val="0"/>
                        </a:spcBef>
                        <a:spcAft>
                          <a:spcPts val="0"/>
                        </a:spcAft>
                        <a:buNone/>
                      </a:pPr>
                      <a:r>
                        <a:rPr b="1" lang="es" sz="800">
                          <a:solidFill>
                            <a:srgbClr val="1F1F1F"/>
                          </a:solidFill>
                        </a:rPr>
                        <a:t>Sistema / Ecosistema</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Cantidad de Materiales</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Soporte TPU (&lt;95A)</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Arquitectura Mecánica</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Modificabilidad</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Automatización y UX</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Costo Total (CLP)</a:t>
                      </a:r>
                      <a:endParaRPr b="1" sz="8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640575">
                <a:tc>
                  <a:txBody>
                    <a:bodyPr/>
                    <a:lstStyle/>
                    <a:p>
                      <a:pPr indent="0" lvl="0" marL="0" rtl="0" algn="l">
                        <a:lnSpc>
                          <a:spcPct val="115000"/>
                        </a:lnSpc>
                        <a:spcBef>
                          <a:spcPts val="0"/>
                        </a:spcBef>
                        <a:spcAft>
                          <a:spcPts val="0"/>
                        </a:spcAft>
                        <a:buNone/>
                      </a:pPr>
                      <a:r>
                        <a:rPr b="1" lang="es" sz="700">
                          <a:solidFill>
                            <a:srgbClr val="1F1F1F"/>
                          </a:solidFill>
                        </a:rPr>
                        <a:t>Bambu H2C + AMS</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24</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Falla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Multiplexor de retracción</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Nula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Alta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~$3.290.000</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40575">
                <a:tc>
                  <a:txBody>
                    <a:bodyPr/>
                    <a:lstStyle/>
                    <a:p>
                      <a:pPr indent="0" lvl="0" marL="0" rtl="0" algn="l">
                        <a:lnSpc>
                          <a:spcPct val="115000"/>
                        </a:lnSpc>
                        <a:spcBef>
                          <a:spcPts val="0"/>
                        </a:spcBef>
                        <a:spcAft>
                          <a:spcPts val="0"/>
                        </a:spcAft>
                        <a:buNone/>
                      </a:pPr>
                      <a:r>
                        <a:rPr b="1" lang="es" sz="700">
                          <a:solidFill>
                            <a:srgbClr val="1F1F1F"/>
                          </a:solidFill>
                        </a:rPr>
                        <a:t>Prusa XL 5T</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5</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Toolchanger</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Limitada (Placa/SW propietario)</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Media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~$4.000.000</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40575">
                <a:tc>
                  <a:txBody>
                    <a:bodyPr/>
                    <a:lstStyle/>
                    <a:p>
                      <a:pPr indent="0" lvl="0" marL="0" rtl="0" algn="l">
                        <a:lnSpc>
                          <a:spcPct val="115000"/>
                        </a:lnSpc>
                        <a:spcBef>
                          <a:spcPts val="0"/>
                        </a:spcBef>
                        <a:spcAft>
                          <a:spcPts val="0"/>
                        </a:spcAft>
                        <a:buNone/>
                      </a:pPr>
                      <a:r>
                        <a:rPr b="1" lang="es" sz="700">
                          <a:solidFill>
                            <a:srgbClr val="1F1F1F"/>
                          </a:solidFill>
                        </a:rPr>
                        <a:t>Snapmaker U1</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4</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Toolchanger</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Nula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Alta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~$1.400.000</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40575">
                <a:tc>
                  <a:txBody>
                    <a:bodyPr/>
                    <a:lstStyle/>
                    <a:p>
                      <a:pPr indent="0" lvl="0" marL="0" rtl="0" algn="l">
                        <a:lnSpc>
                          <a:spcPct val="115000"/>
                        </a:lnSpc>
                        <a:spcBef>
                          <a:spcPts val="0"/>
                        </a:spcBef>
                        <a:spcAft>
                          <a:spcPts val="0"/>
                        </a:spcAft>
                        <a:buNone/>
                      </a:pPr>
                      <a:r>
                        <a:rPr b="1" lang="es" sz="700">
                          <a:solidFill>
                            <a:srgbClr val="1F1F1F"/>
                          </a:solidFill>
                        </a:rPr>
                        <a:t>Voron 2.4 + INDX</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8</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CoreXY + INDX (Módulos compactos)</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Total (Hardware y Software libre)</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Baja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~$1.600.000</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b="1" lang="es" sz="700">
                          <a:solidFill>
                            <a:srgbClr val="1F1F1F"/>
                          </a:solidFill>
                        </a:rPr>
                        <a:t>Proyecto</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16+</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 (&lt;95A)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Bowden Changer</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Total (Open Source 100%)</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Alta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&lt;$600.000</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graphicFrame>
        <p:nvGraphicFramePr>
          <p:cNvPr id="366" name="Google Shape;366;p35"/>
          <p:cNvGraphicFramePr/>
          <p:nvPr/>
        </p:nvGraphicFramePr>
        <p:xfrm>
          <a:off x="249475" y="994888"/>
          <a:ext cx="3000000" cy="3000000"/>
        </p:xfrm>
        <a:graphic>
          <a:graphicData uri="http://schemas.openxmlformats.org/drawingml/2006/table">
            <a:tbl>
              <a:tblPr>
                <a:noFill/>
                <a:tableStyleId>{DA021A84-8BBD-486D-A789-BF6277C520F9}</a:tableStyleId>
              </a:tblPr>
              <a:tblGrid>
                <a:gridCol w="1047625"/>
                <a:gridCol w="1484875"/>
                <a:gridCol w="1585075"/>
                <a:gridCol w="1712600"/>
                <a:gridCol w="1557750"/>
                <a:gridCol w="1257125"/>
              </a:tblGrid>
              <a:tr h="563725">
                <a:tc>
                  <a:txBody>
                    <a:bodyPr/>
                    <a:lstStyle/>
                    <a:p>
                      <a:pPr indent="0" lvl="0" marL="0" rtl="0" algn="l">
                        <a:lnSpc>
                          <a:spcPct val="115000"/>
                        </a:lnSpc>
                        <a:spcBef>
                          <a:spcPts val="0"/>
                        </a:spcBef>
                        <a:spcAft>
                          <a:spcPts val="0"/>
                        </a:spcAft>
                        <a:buNone/>
                      </a:pPr>
                      <a:r>
                        <a:rPr b="1" lang="es" sz="800">
                          <a:solidFill>
                            <a:srgbClr val="1F1F1F"/>
                          </a:solidFill>
                        </a:rPr>
                        <a:t>Referente</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Experiencia de usuario (UX)</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Prevención de fallos</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Grado de modificabilidad</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Costo cognitivo</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Soporte TPU &lt;95A</a:t>
                      </a:r>
                      <a:endParaRPr b="1" sz="8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753525">
                <a:tc>
                  <a:txBody>
                    <a:bodyPr/>
                    <a:lstStyle/>
                    <a:p>
                      <a:pPr indent="0" lvl="0" marL="0" rtl="0" algn="l">
                        <a:lnSpc>
                          <a:spcPct val="115000"/>
                        </a:lnSpc>
                        <a:spcBef>
                          <a:spcPts val="0"/>
                        </a:spcBef>
                        <a:spcAft>
                          <a:spcPts val="0"/>
                        </a:spcAft>
                        <a:buNone/>
                      </a:pPr>
                      <a:r>
                        <a:rPr b="1" lang="es" sz="800">
                          <a:solidFill>
                            <a:srgbClr val="1F1F1F"/>
                          </a:solidFill>
                        </a:rPr>
                        <a:t>Bambu Lab H2C</a:t>
                      </a:r>
                      <a:endParaRPr b="1" sz="800">
                        <a:solidFill>
                          <a:srgbClr val="1F1F1F"/>
                        </a:solidFill>
                      </a:endParaRPr>
                    </a:p>
                    <a:p>
                      <a:pPr indent="0" lvl="0" marL="0" rtl="0" algn="l">
                        <a:lnSpc>
                          <a:spcPct val="115000"/>
                        </a:lnSpc>
                        <a:spcBef>
                          <a:spcPts val="0"/>
                        </a:spcBef>
                        <a:spcAft>
                          <a:spcPts val="0"/>
                        </a:spcAft>
                        <a:buNone/>
                      </a:pPr>
                      <a:r>
                        <a:t/>
                      </a:r>
                      <a:endParaRPr sz="700">
                        <a:solidFill>
                          <a:srgbClr val="1F1F1F"/>
                        </a:solidFill>
                      </a:endParaRPr>
                    </a:p>
                    <a:p>
                      <a:pPr indent="0" lvl="0" marL="0" rtl="0" algn="l">
                        <a:lnSpc>
                          <a:spcPct val="115000"/>
                        </a:lnSpc>
                        <a:spcBef>
                          <a:spcPts val="0"/>
                        </a:spcBef>
                        <a:spcAft>
                          <a:spcPts val="0"/>
                        </a:spcAft>
                        <a:buNone/>
                      </a:pPr>
                      <a:r>
                        <a:rPr i="1" lang="es" sz="700">
                          <a:solidFill>
                            <a:srgbClr val="1F1F1F"/>
                          </a:solidFill>
                        </a:rPr>
                        <a:t>(Comercial cerrado)</a:t>
                      </a:r>
                      <a:endParaRPr i="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Plug &amp; play</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Pantalla táctil, app móvil, flujo guiado, buzzer.</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Parcial</a:t>
                      </a:r>
                      <a:endParaRPr sz="700">
                        <a:solidFill>
                          <a:srgbClr val="1F1F1F"/>
                        </a:solidFill>
                      </a:endParaRPr>
                    </a:p>
                    <a:p>
                      <a:pPr indent="0" lvl="0" marL="0" rtl="0" algn="l">
                        <a:lnSpc>
                          <a:spcPct val="115000"/>
                        </a:lnSpc>
                        <a:spcBef>
                          <a:spcPts val="0"/>
                        </a:spcBef>
                        <a:spcAft>
                          <a:spcPts val="0"/>
                        </a:spcAft>
                        <a:buNone/>
                      </a:pPr>
                      <a:r>
                        <a:rPr lang="es" sz="700">
                          <a:solidFill>
                            <a:srgbClr val="1F1F1F"/>
                          </a:solidFill>
                        </a:rPr>
                        <a:t>Monitoreo y pausa ante fallos.</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Nula</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Hardware y firmware cerrados.</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Bajo</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La máquina toma decisiones.</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No</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Solo TPU 95A+.</a:t>
                      </a:r>
                      <a:endParaRPr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763750">
                <a:tc>
                  <a:txBody>
                    <a:bodyPr/>
                    <a:lstStyle/>
                    <a:p>
                      <a:pPr indent="0" lvl="0" marL="0" rtl="0" algn="l">
                        <a:lnSpc>
                          <a:spcPct val="115000"/>
                        </a:lnSpc>
                        <a:spcBef>
                          <a:spcPts val="0"/>
                        </a:spcBef>
                        <a:spcAft>
                          <a:spcPts val="0"/>
                        </a:spcAft>
                        <a:buNone/>
                      </a:pPr>
                      <a:r>
                        <a:rPr b="1" lang="es" sz="800">
                          <a:solidFill>
                            <a:srgbClr val="1F1F1F"/>
                          </a:solidFill>
                        </a:rPr>
                        <a:t>Voron 2.4 + INDX</a:t>
                      </a:r>
                      <a:endParaRPr b="1" sz="800">
                        <a:solidFill>
                          <a:srgbClr val="1F1F1F"/>
                        </a:solidFill>
                      </a:endParaRPr>
                    </a:p>
                    <a:p>
                      <a:pPr indent="0" lvl="0" marL="0" rtl="0" algn="l">
                        <a:lnSpc>
                          <a:spcPct val="115000"/>
                        </a:lnSpc>
                        <a:spcBef>
                          <a:spcPts val="0"/>
                        </a:spcBef>
                        <a:spcAft>
                          <a:spcPts val="0"/>
                        </a:spcAft>
                        <a:buNone/>
                      </a:pPr>
                      <a:r>
                        <a:t/>
                      </a:r>
                      <a:endParaRPr sz="700">
                        <a:solidFill>
                          <a:srgbClr val="1F1F1F"/>
                        </a:solidFill>
                      </a:endParaRPr>
                    </a:p>
                    <a:p>
                      <a:pPr indent="0" lvl="0" marL="0" rtl="0" algn="l">
                        <a:lnSpc>
                          <a:spcPct val="115000"/>
                        </a:lnSpc>
                        <a:spcBef>
                          <a:spcPts val="0"/>
                        </a:spcBef>
                        <a:spcAft>
                          <a:spcPts val="0"/>
                        </a:spcAft>
                        <a:buNone/>
                      </a:pPr>
                      <a:r>
                        <a:rPr i="1" lang="es" sz="700">
                          <a:solidFill>
                            <a:srgbClr val="1F1F1F"/>
                          </a:solidFill>
                        </a:rPr>
                        <a:t>(DIY open source)</a:t>
                      </a:r>
                      <a:endParaRPr i="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Técnica avanzada</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Consola Klipper, Linux y sin interfaz amigable de fábrica.</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Nula</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El u</a:t>
                      </a:r>
                      <a:r>
                        <a:rPr lang="es" sz="700">
                          <a:solidFill>
                            <a:srgbClr val="1F1F1F"/>
                          </a:solidFill>
                        </a:rPr>
                        <a:t>suario debe detectar y resolver cada fallo.</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Total</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Hardware y firmware abiertos.</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Muy alto</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Rol de mecánico permanente.</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 (con INDX) o Toolchanger mod</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INDX aún no disponible en el mercado.</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763750">
                <a:tc>
                  <a:txBody>
                    <a:bodyPr/>
                    <a:lstStyle/>
                    <a:p>
                      <a:pPr indent="0" lvl="0" marL="0" rtl="0" algn="l">
                        <a:lnSpc>
                          <a:spcPct val="115000"/>
                        </a:lnSpc>
                        <a:spcBef>
                          <a:spcPts val="0"/>
                        </a:spcBef>
                        <a:spcAft>
                          <a:spcPts val="0"/>
                        </a:spcAft>
                        <a:buNone/>
                      </a:pPr>
                      <a:r>
                        <a:rPr b="1" lang="es" sz="800">
                          <a:solidFill>
                            <a:srgbClr val="1F1F1F"/>
                          </a:solidFill>
                        </a:rPr>
                        <a:t>Prusa XL</a:t>
                      </a:r>
                      <a:endParaRPr b="1" sz="800">
                        <a:solidFill>
                          <a:srgbClr val="1F1F1F"/>
                        </a:solidFill>
                      </a:endParaRPr>
                    </a:p>
                    <a:p>
                      <a:pPr indent="0" lvl="0" marL="0" rtl="0" algn="l">
                        <a:lnSpc>
                          <a:spcPct val="115000"/>
                        </a:lnSpc>
                        <a:spcBef>
                          <a:spcPts val="0"/>
                        </a:spcBef>
                        <a:spcAft>
                          <a:spcPts val="0"/>
                        </a:spcAft>
                        <a:buNone/>
                      </a:pPr>
                      <a:r>
                        <a:t/>
                      </a:r>
                      <a:endParaRPr sz="700">
                        <a:solidFill>
                          <a:srgbClr val="1F1F1F"/>
                        </a:solidFill>
                      </a:endParaRPr>
                    </a:p>
                    <a:p>
                      <a:pPr indent="0" lvl="0" marL="0" rtl="0" algn="l">
                        <a:lnSpc>
                          <a:spcPct val="115000"/>
                        </a:lnSpc>
                        <a:spcBef>
                          <a:spcPts val="0"/>
                        </a:spcBef>
                        <a:spcAft>
                          <a:spcPts val="0"/>
                        </a:spcAft>
                        <a:buNone/>
                      </a:pPr>
                      <a:r>
                        <a:rPr i="1" lang="es" sz="700">
                          <a:solidFill>
                            <a:srgbClr val="1F1F1F"/>
                          </a:solidFill>
                        </a:rPr>
                        <a:t>(Hardware abierto / firmware cerrado)</a:t>
                      </a:r>
                      <a:endParaRPr i="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Intermedia</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Pantalla táctil, calibración asistida.</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s" sz="700">
                          <a:solidFill>
                            <a:srgbClr val="1F1F1F"/>
                          </a:solidFill>
                        </a:rPr>
                        <a:t>Básica</a:t>
                      </a:r>
                      <a:endParaRPr b="1" sz="700">
                        <a:solidFill>
                          <a:srgbClr val="1F1F1F"/>
                        </a:solidFill>
                      </a:endParaRPr>
                    </a:p>
                    <a:p>
                      <a:pPr indent="0" lvl="0" marL="0" rtl="0" algn="l">
                        <a:lnSpc>
                          <a:spcPct val="115000"/>
                        </a:lnSpc>
                        <a:spcBef>
                          <a:spcPts val="0"/>
                        </a:spcBef>
                        <a:spcAft>
                          <a:spcPts val="0"/>
                        </a:spcAft>
                        <a:buClr>
                          <a:schemeClr val="dk1"/>
                        </a:buClr>
                        <a:buSzPts val="1100"/>
                        <a:buFont typeface="Arial"/>
                        <a:buNone/>
                      </a:pPr>
                      <a:r>
                        <a:rPr lang="es" sz="700">
                          <a:solidFill>
                            <a:srgbClr val="1F1F1F"/>
                          </a:solidFill>
                        </a:rPr>
                        <a:t>Detección de atascos y pausa.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Nula</a:t>
                      </a:r>
                      <a:endParaRPr b="1" sz="700">
                        <a:solidFill>
                          <a:srgbClr val="1F1F1F"/>
                        </a:solidFill>
                      </a:endParaRPr>
                    </a:p>
                    <a:p>
                      <a:pPr indent="0" lvl="0" marL="0" rtl="0" algn="l">
                        <a:lnSpc>
                          <a:spcPct val="115000"/>
                        </a:lnSpc>
                        <a:spcBef>
                          <a:spcPts val="0"/>
                        </a:spcBef>
                        <a:spcAft>
                          <a:spcPts val="0"/>
                        </a:spcAft>
                        <a:buClr>
                          <a:schemeClr val="dk1"/>
                        </a:buClr>
                        <a:buSzPts val="1100"/>
                        <a:buFont typeface="Arial"/>
                        <a:buNone/>
                      </a:pPr>
                      <a:r>
                        <a:rPr lang="es" sz="700">
                          <a:solidFill>
                            <a:srgbClr val="1F1F1F"/>
                          </a:solidFill>
                        </a:rPr>
                        <a:t>Hardware y firmware cerrados.</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Medio</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I</a:t>
                      </a:r>
                      <a:r>
                        <a:rPr lang="es" sz="700">
                          <a:solidFill>
                            <a:srgbClr val="1F1F1F"/>
                          </a:solidFill>
                        </a:rPr>
                        <a:t>ntervención ocasional.</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a:t>
                      </a:r>
                      <a:endParaRPr sz="700">
                        <a:solidFill>
                          <a:srgbClr val="1F1F1F"/>
                        </a:solidFill>
                      </a:endParaRPr>
                    </a:p>
                    <a:p>
                      <a:pPr indent="0" lvl="0" marL="0" rtl="0" algn="l">
                        <a:lnSpc>
                          <a:spcPct val="115000"/>
                        </a:lnSpc>
                        <a:spcBef>
                          <a:spcPts val="0"/>
                        </a:spcBef>
                        <a:spcAft>
                          <a:spcPts val="0"/>
                        </a:spcAft>
                        <a:buNone/>
                      </a:pPr>
                      <a:r>
                        <a:rPr lang="es" sz="700">
                          <a:solidFill>
                            <a:srgbClr val="1F1F1F"/>
                          </a:solidFill>
                        </a:rPr>
                        <a:t>Toolchanger nativo.</a:t>
                      </a:r>
                      <a:endParaRPr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881950">
                <a:tc>
                  <a:txBody>
                    <a:bodyPr/>
                    <a:lstStyle/>
                    <a:p>
                      <a:pPr indent="0" lvl="0" marL="0" rtl="0" algn="l">
                        <a:lnSpc>
                          <a:spcPct val="115000"/>
                        </a:lnSpc>
                        <a:spcBef>
                          <a:spcPts val="0"/>
                        </a:spcBef>
                        <a:spcAft>
                          <a:spcPts val="0"/>
                        </a:spcAft>
                        <a:buNone/>
                      </a:pPr>
                      <a:r>
                        <a:rPr b="1" lang="es" sz="800">
                          <a:solidFill>
                            <a:srgbClr val="1F1F1F"/>
                          </a:solidFill>
                        </a:rPr>
                        <a:t>Prusa Core One L + INDX</a:t>
                      </a:r>
                      <a:endParaRPr b="1" sz="800">
                        <a:solidFill>
                          <a:srgbClr val="1F1F1F"/>
                        </a:solidFill>
                      </a:endParaRPr>
                    </a:p>
                    <a:p>
                      <a:pPr indent="0" lvl="0" marL="0" rtl="0" algn="l">
                        <a:lnSpc>
                          <a:spcPct val="115000"/>
                        </a:lnSpc>
                        <a:spcBef>
                          <a:spcPts val="0"/>
                        </a:spcBef>
                        <a:spcAft>
                          <a:spcPts val="0"/>
                        </a:spcAft>
                        <a:buNone/>
                      </a:pPr>
                      <a:r>
                        <a:t/>
                      </a:r>
                      <a:endParaRPr sz="700">
                        <a:solidFill>
                          <a:srgbClr val="1F1F1F"/>
                        </a:solidFill>
                      </a:endParaRPr>
                    </a:p>
                    <a:p>
                      <a:pPr indent="0" lvl="0" marL="0" rtl="0" algn="l">
                        <a:lnSpc>
                          <a:spcPct val="115000"/>
                        </a:lnSpc>
                        <a:spcBef>
                          <a:spcPts val="0"/>
                        </a:spcBef>
                        <a:spcAft>
                          <a:spcPts val="0"/>
                        </a:spcAft>
                        <a:buNone/>
                      </a:pPr>
                      <a:r>
                        <a:rPr i="1" lang="es" sz="700">
                          <a:solidFill>
                            <a:srgbClr val="1F1F1F"/>
                          </a:solidFill>
                        </a:rPr>
                        <a:t>(Hardware abierto/ firmware cerrado)</a:t>
                      </a:r>
                      <a:endParaRPr i="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Intermedia</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Pantalla táctil, LED de status.</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s" sz="700">
                          <a:solidFill>
                            <a:srgbClr val="1F1F1F"/>
                          </a:solidFill>
                        </a:rPr>
                        <a:t>Básica</a:t>
                      </a:r>
                      <a:endParaRPr b="1" sz="700">
                        <a:solidFill>
                          <a:srgbClr val="1F1F1F"/>
                        </a:solidFill>
                      </a:endParaRPr>
                    </a:p>
                    <a:p>
                      <a:pPr indent="0" lvl="0" marL="0" rtl="0" algn="l">
                        <a:lnSpc>
                          <a:spcPct val="115000"/>
                        </a:lnSpc>
                        <a:spcBef>
                          <a:spcPts val="0"/>
                        </a:spcBef>
                        <a:spcAft>
                          <a:spcPts val="0"/>
                        </a:spcAft>
                        <a:buClr>
                          <a:schemeClr val="dk1"/>
                        </a:buClr>
                        <a:buSzPts val="1100"/>
                        <a:buFont typeface="Arial"/>
                        <a:buNone/>
                      </a:pPr>
                      <a:r>
                        <a:rPr lang="es" sz="700">
                          <a:solidFill>
                            <a:srgbClr val="1F1F1F"/>
                          </a:solidFill>
                        </a:rPr>
                        <a:t>Detección de atascos y pausa.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Parcial</a:t>
                      </a:r>
                      <a:endParaRPr b="1" sz="700">
                        <a:solidFill>
                          <a:srgbClr val="1F1F1F"/>
                        </a:solidFill>
                      </a:endParaRPr>
                    </a:p>
                    <a:p>
                      <a:pPr indent="0" lvl="0" marL="0" rtl="0" algn="l">
                        <a:lnSpc>
                          <a:spcPct val="115000"/>
                        </a:lnSpc>
                        <a:spcBef>
                          <a:spcPts val="0"/>
                        </a:spcBef>
                        <a:spcAft>
                          <a:spcPts val="0"/>
                        </a:spcAft>
                        <a:buNone/>
                      </a:pPr>
                      <a:r>
                        <a:rPr lang="es" sz="700">
                          <a:solidFill>
                            <a:srgbClr val="1F1F1F"/>
                          </a:solidFill>
                        </a:rPr>
                        <a:t>Hardware abierto, firmware cerrado.</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Medio</a:t>
                      </a:r>
                      <a:endParaRPr b="1" sz="700">
                        <a:solidFill>
                          <a:srgbClr val="1F1F1F"/>
                        </a:solidFill>
                      </a:endParaRPr>
                    </a:p>
                    <a:p>
                      <a:pPr indent="0" lvl="0" marL="0" rtl="0" algn="l">
                        <a:lnSpc>
                          <a:spcPct val="115000"/>
                        </a:lnSpc>
                        <a:spcBef>
                          <a:spcPts val="0"/>
                        </a:spcBef>
                        <a:spcAft>
                          <a:spcPts val="0"/>
                        </a:spcAft>
                        <a:buClr>
                          <a:schemeClr val="dk1"/>
                        </a:buClr>
                        <a:buSzPts val="1100"/>
                        <a:buFont typeface="Arial"/>
                        <a:buNone/>
                      </a:pPr>
                      <a:r>
                        <a:rPr lang="es" sz="700">
                          <a:solidFill>
                            <a:srgbClr val="1F1F1F"/>
                          </a:solidFill>
                        </a:rPr>
                        <a:t>Intervención ocasional.</a:t>
                      </a:r>
                      <a:endParaRPr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 (con INDX)</a:t>
                      </a:r>
                      <a:endParaRPr sz="700">
                        <a:solidFill>
                          <a:srgbClr val="1F1F1F"/>
                        </a:solidFill>
                      </a:endParaRPr>
                    </a:p>
                    <a:p>
                      <a:pPr indent="0" lvl="0" marL="0" rtl="0" algn="l">
                        <a:lnSpc>
                          <a:spcPct val="115000"/>
                        </a:lnSpc>
                        <a:spcBef>
                          <a:spcPts val="0"/>
                        </a:spcBef>
                        <a:spcAft>
                          <a:spcPts val="0"/>
                        </a:spcAft>
                        <a:buNone/>
                      </a:pPr>
                      <a:r>
                        <a:rPr lang="es" sz="700">
                          <a:solidFill>
                            <a:srgbClr val="1F1F1F"/>
                          </a:solidFill>
                        </a:rPr>
                        <a:t>INDX aún no disponible en el mercado.</a:t>
                      </a:r>
                      <a:endParaRPr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0" name="Shape 370"/>
        <p:cNvGrpSpPr/>
        <p:nvPr/>
      </p:nvGrpSpPr>
      <p:grpSpPr>
        <a:xfrm>
          <a:off x="0" y="0"/>
          <a:ext cx="0" cy="0"/>
          <a:chOff x="0" y="0"/>
          <a:chExt cx="0" cy="0"/>
        </a:xfrm>
      </p:grpSpPr>
      <p:pic>
        <p:nvPicPr>
          <p:cNvPr id="371" name="Google Shape;371;p36"/>
          <p:cNvPicPr preferRelativeResize="0"/>
          <p:nvPr/>
        </p:nvPicPr>
        <p:blipFill rotWithShape="1">
          <a:blip r:embed="rId3">
            <a:alphaModFix/>
          </a:blip>
          <a:srcRect b="0" l="5527" r="0" t="0"/>
          <a:stretch/>
        </p:blipFill>
        <p:spPr>
          <a:xfrm>
            <a:off x="6270500" y="2285900"/>
            <a:ext cx="2452975" cy="1928975"/>
          </a:xfrm>
          <a:prstGeom prst="rect">
            <a:avLst/>
          </a:prstGeom>
          <a:noFill/>
          <a:ln>
            <a:noFill/>
          </a:ln>
        </p:spPr>
      </p:pic>
      <p:sp>
        <p:nvSpPr>
          <p:cNvPr id="372" name="Google Shape;372;p36"/>
          <p:cNvSpPr/>
          <p:nvPr/>
        </p:nvSpPr>
        <p:spPr>
          <a:xfrm>
            <a:off x="4662200" y="1254000"/>
            <a:ext cx="3936300" cy="5079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36"/>
          <p:cNvSpPr/>
          <p:nvPr/>
        </p:nvSpPr>
        <p:spPr>
          <a:xfrm>
            <a:off x="230200" y="4447600"/>
            <a:ext cx="3788400" cy="3876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36"/>
          <p:cNvSpPr txBox="1"/>
          <p:nvPr/>
        </p:nvSpPr>
        <p:spPr>
          <a:xfrm>
            <a:off x="152275" y="430300"/>
            <a:ext cx="3866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Las limitaciones técnicas del Multimaterial</a:t>
            </a:r>
            <a:endParaRPr b="1">
              <a:solidFill>
                <a:srgbClr val="000000"/>
              </a:solidFill>
              <a:latin typeface="Helvetica Neue"/>
              <a:ea typeface="Helvetica Neue"/>
              <a:cs typeface="Helvetica Neue"/>
              <a:sym typeface="Helvetica Neue"/>
            </a:endParaRPr>
          </a:p>
        </p:txBody>
      </p:sp>
      <p:pic>
        <p:nvPicPr>
          <p:cNvPr id="375" name="Google Shape;375;p36" title="faad_lockupsArtboard 1@2x.png"/>
          <p:cNvPicPr preferRelativeResize="0"/>
          <p:nvPr/>
        </p:nvPicPr>
        <p:blipFill>
          <a:blip r:embed="rId4">
            <a:alphaModFix/>
          </a:blip>
          <a:stretch>
            <a:fillRect/>
          </a:stretch>
        </p:blipFill>
        <p:spPr>
          <a:xfrm>
            <a:off x="7720079" y="217525"/>
            <a:ext cx="1003397" cy="348600"/>
          </a:xfrm>
          <a:prstGeom prst="rect">
            <a:avLst/>
          </a:prstGeom>
          <a:noFill/>
          <a:ln>
            <a:noFill/>
          </a:ln>
        </p:spPr>
      </p:pic>
      <p:sp>
        <p:nvSpPr>
          <p:cNvPr id="376" name="Google Shape;376;p36"/>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377" name="Google Shape;377;p36"/>
          <p:cNvSpPr txBox="1"/>
          <p:nvPr/>
        </p:nvSpPr>
        <p:spPr>
          <a:xfrm>
            <a:off x="5689250" y="4479850"/>
            <a:ext cx="1882200" cy="323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900">
                <a:solidFill>
                  <a:schemeClr val="dk1"/>
                </a:solidFill>
              </a:rPr>
              <a:t>Multimaterial de </a:t>
            </a:r>
            <a:r>
              <a:rPr b="1" lang="es" sz="900">
                <a:solidFill>
                  <a:schemeClr val="dk1"/>
                </a:solidFill>
              </a:rPr>
              <a:t>Boquilla Única</a:t>
            </a:r>
            <a:endParaRPr sz="1500"/>
          </a:p>
        </p:txBody>
      </p:sp>
      <p:sp>
        <p:nvSpPr>
          <p:cNvPr id="378" name="Google Shape;378;p36"/>
          <p:cNvSpPr txBox="1"/>
          <p:nvPr/>
        </p:nvSpPr>
        <p:spPr>
          <a:xfrm>
            <a:off x="230211" y="4418850"/>
            <a:ext cx="3788400" cy="41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Al intentar guiar filamentos flexibles a través de tubos PTFE, el material se aplasta con las paredes del tubo originando atascos </a:t>
            </a:r>
            <a:r>
              <a:rPr lang="es" sz="700">
                <a:solidFill>
                  <a:schemeClr val="dk1"/>
                </a:solidFill>
              </a:rPr>
              <a:t>(U. de Zaragoza, 2021)</a:t>
            </a:r>
            <a:endParaRPr sz="700">
              <a:solidFill>
                <a:schemeClr val="dk1"/>
              </a:solidFill>
            </a:endParaRPr>
          </a:p>
        </p:txBody>
      </p:sp>
      <p:pic>
        <p:nvPicPr>
          <p:cNvPr id="379" name="Google Shape;379;p36"/>
          <p:cNvPicPr preferRelativeResize="0"/>
          <p:nvPr/>
        </p:nvPicPr>
        <p:blipFill>
          <a:blip r:embed="rId5">
            <a:alphaModFix/>
          </a:blip>
          <a:stretch>
            <a:fillRect/>
          </a:stretch>
        </p:blipFill>
        <p:spPr>
          <a:xfrm>
            <a:off x="349375" y="1673075"/>
            <a:ext cx="3209450" cy="2484949"/>
          </a:xfrm>
          <a:prstGeom prst="rect">
            <a:avLst/>
          </a:prstGeom>
          <a:noFill/>
          <a:ln>
            <a:noFill/>
          </a:ln>
        </p:spPr>
      </p:pic>
      <p:sp>
        <p:nvSpPr>
          <p:cNvPr id="380" name="Google Shape;380;p36"/>
          <p:cNvSpPr txBox="1"/>
          <p:nvPr/>
        </p:nvSpPr>
        <p:spPr>
          <a:xfrm>
            <a:off x="1160350" y="4139175"/>
            <a:ext cx="1928100" cy="24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400">
                <a:solidFill>
                  <a:schemeClr val="dk1"/>
                </a:solidFill>
              </a:rPr>
              <a:t>Fuente: https://zaguan.unizar.es/record/112317/files/TAZ-TFG-2021-4775.pdf</a:t>
            </a:r>
            <a:endParaRPr sz="400">
              <a:solidFill>
                <a:schemeClr val="dk1"/>
              </a:solidFill>
            </a:endParaRPr>
          </a:p>
        </p:txBody>
      </p:sp>
      <p:sp>
        <p:nvSpPr>
          <p:cNvPr id="381" name="Google Shape;381;p36"/>
          <p:cNvSpPr txBox="1"/>
          <p:nvPr/>
        </p:nvSpPr>
        <p:spPr>
          <a:xfrm>
            <a:off x="4680750" y="1254000"/>
            <a:ext cx="3897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700"/>
              <a:t> Los sistemas de boquilla única fallan en la impresión multimaterial. 'El uso de un hot-end común no es la mejor solución', la única salida es multiplicar los cabezales </a:t>
            </a:r>
            <a:r>
              <a:rPr lang="es" sz="700"/>
              <a:t>(Bene y Rónai, 2024)</a:t>
            </a:r>
            <a:endParaRPr sz="700"/>
          </a:p>
        </p:txBody>
      </p:sp>
      <p:pic>
        <p:nvPicPr>
          <p:cNvPr id="382" name="Google Shape;382;p36"/>
          <p:cNvPicPr preferRelativeResize="0"/>
          <p:nvPr/>
        </p:nvPicPr>
        <p:blipFill>
          <a:blip r:embed="rId6">
            <a:alphaModFix/>
          </a:blip>
          <a:stretch>
            <a:fillRect/>
          </a:stretch>
        </p:blipFill>
        <p:spPr>
          <a:xfrm>
            <a:off x="4318992" y="1969625"/>
            <a:ext cx="2041357" cy="1794525"/>
          </a:xfrm>
          <a:prstGeom prst="rect">
            <a:avLst/>
          </a:prstGeom>
          <a:noFill/>
          <a:ln>
            <a:noFill/>
          </a:ln>
        </p:spPr>
      </p:pic>
      <p:sp>
        <p:nvSpPr>
          <p:cNvPr id="383" name="Google Shape;383;p36"/>
          <p:cNvSpPr txBox="1"/>
          <p:nvPr/>
        </p:nvSpPr>
        <p:spPr>
          <a:xfrm>
            <a:off x="4674300" y="3764150"/>
            <a:ext cx="1489800" cy="24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400"/>
              <a:t>Fuente: </a:t>
            </a:r>
            <a:r>
              <a:rPr lang="es" sz="400"/>
              <a:t>https://www.ajme.ro/PDF_AJME_2024_3/L8.pdf</a:t>
            </a:r>
            <a:endParaRPr sz="400"/>
          </a:p>
        </p:txBody>
      </p:sp>
      <p:sp>
        <p:nvSpPr>
          <p:cNvPr id="384" name="Google Shape;384;p36"/>
          <p:cNvSpPr txBox="1"/>
          <p:nvPr/>
        </p:nvSpPr>
        <p:spPr>
          <a:xfrm>
            <a:off x="6512275" y="4172550"/>
            <a:ext cx="1489800" cy="24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400"/>
              <a:t>Fuente: https://www.ajme.ro/PDF_AJME_2024_3/L8.pdf</a:t>
            </a:r>
            <a:endParaRPr sz="400"/>
          </a:p>
        </p:txBody>
      </p:sp>
      <p:sp>
        <p:nvSpPr>
          <p:cNvPr id="385" name="Google Shape;385;p36"/>
          <p:cNvSpPr txBox="1"/>
          <p:nvPr/>
        </p:nvSpPr>
        <p:spPr>
          <a:xfrm>
            <a:off x="1114800" y="1346388"/>
            <a:ext cx="1607400" cy="323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900">
                <a:solidFill>
                  <a:schemeClr val="dk1"/>
                </a:solidFill>
              </a:rPr>
              <a:t>El problema del TPU</a:t>
            </a:r>
            <a:endParaRPr sz="1500"/>
          </a:p>
        </p:txBody>
      </p:sp>
      <p:cxnSp>
        <p:nvCxnSpPr>
          <p:cNvPr id="386" name="Google Shape;386;p36"/>
          <p:cNvCxnSpPr/>
          <p:nvPr/>
        </p:nvCxnSpPr>
        <p:spPr>
          <a:xfrm>
            <a:off x="4230000" y="1469950"/>
            <a:ext cx="0" cy="3140700"/>
          </a:xfrm>
          <a:prstGeom prst="straightConnector1">
            <a:avLst/>
          </a:prstGeom>
          <a:noFill/>
          <a:ln cap="flat" cmpd="sng" w="9525">
            <a:solidFill>
              <a:srgbClr val="CCCCCC"/>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0" name="Shape 390"/>
        <p:cNvGrpSpPr/>
        <p:nvPr/>
      </p:nvGrpSpPr>
      <p:grpSpPr>
        <a:xfrm>
          <a:off x="0" y="0"/>
          <a:ext cx="0" cy="0"/>
          <a:chOff x="0" y="0"/>
          <a:chExt cx="0" cy="0"/>
        </a:xfrm>
      </p:grpSpPr>
      <p:sp>
        <p:nvSpPr>
          <p:cNvPr id="391" name="Google Shape;391;p37"/>
          <p:cNvSpPr txBox="1"/>
          <p:nvPr/>
        </p:nvSpPr>
        <p:spPr>
          <a:xfrm>
            <a:off x="152275" y="430300"/>
            <a:ext cx="27726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Mapa de Actores</a:t>
            </a:r>
            <a:endParaRPr b="1">
              <a:solidFill>
                <a:srgbClr val="000000"/>
              </a:solidFill>
              <a:latin typeface="Helvetica Neue"/>
              <a:ea typeface="Helvetica Neue"/>
              <a:cs typeface="Helvetica Neue"/>
              <a:sym typeface="Helvetica Neue"/>
            </a:endParaRPr>
          </a:p>
        </p:txBody>
      </p:sp>
      <p:pic>
        <p:nvPicPr>
          <p:cNvPr id="392" name="Google Shape;392;p37"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393" name="Google Shape;393;p37"/>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pic>
        <p:nvPicPr>
          <p:cNvPr id="394" name="Google Shape;394;p37" title="Prosumer Ecosystem for TPU-2026-04-01-053659.png"/>
          <p:cNvPicPr preferRelativeResize="0"/>
          <p:nvPr/>
        </p:nvPicPr>
        <p:blipFill>
          <a:blip r:embed="rId4">
            <a:alphaModFix/>
          </a:blip>
          <a:stretch>
            <a:fillRect/>
          </a:stretch>
        </p:blipFill>
        <p:spPr>
          <a:xfrm>
            <a:off x="609463" y="1021350"/>
            <a:ext cx="7925074" cy="39161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8" name="Shape 398"/>
        <p:cNvGrpSpPr/>
        <p:nvPr/>
      </p:nvGrpSpPr>
      <p:grpSpPr>
        <a:xfrm>
          <a:off x="0" y="0"/>
          <a:ext cx="0" cy="0"/>
          <a:chOff x="0" y="0"/>
          <a:chExt cx="0" cy="0"/>
        </a:xfrm>
      </p:grpSpPr>
      <p:sp>
        <p:nvSpPr>
          <p:cNvPr id="399" name="Google Shape;399;p38"/>
          <p:cNvSpPr/>
          <p:nvPr/>
        </p:nvSpPr>
        <p:spPr>
          <a:xfrm>
            <a:off x="4372202" y="2243382"/>
            <a:ext cx="2512200" cy="2512200"/>
          </a:xfrm>
          <a:prstGeom prst="ellipse">
            <a:avLst/>
          </a:prstGeom>
          <a:solidFill>
            <a:srgbClr val="9ABAEE">
              <a:alpha val="55350"/>
            </a:srgbClr>
          </a:solidFill>
          <a:ln>
            <a:noFill/>
          </a:ln>
        </p:spPr>
        <p:txBody>
          <a:bodyPr anchorCtr="0" anchor="ctr" bIns="79600" lIns="79600" spcFirstLastPara="1" rIns="79600" wrap="square" tIns="79600">
            <a:noAutofit/>
          </a:bodyPr>
          <a:lstStyle/>
          <a:p>
            <a:pPr indent="0" lvl="0" marL="0" rtl="0" algn="ctr">
              <a:spcBef>
                <a:spcPts val="0"/>
              </a:spcBef>
              <a:spcAft>
                <a:spcPts val="0"/>
              </a:spcAft>
              <a:buNone/>
            </a:pPr>
            <a:r>
              <a:t/>
            </a:r>
            <a:endParaRPr sz="1219"/>
          </a:p>
        </p:txBody>
      </p:sp>
      <p:sp>
        <p:nvSpPr>
          <p:cNvPr id="400" name="Google Shape;400;p38"/>
          <p:cNvSpPr/>
          <p:nvPr/>
        </p:nvSpPr>
        <p:spPr>
          <a:xfrm>
            <a:off x="2657075" y="2243382"/>
            <a:ext cx="2512200" cy="2512200"/>
          </a:xfrm>
          <a:prstGeom prst="ellipse">
            <a:avLst/>
          </a:prstGeom>
          <a:solidFill>
            <a:srgbClr val="9ABAEE">
              <a:alpha val="55350"/>
            </a:srgbClr>
          </a:solidFill>
          <a:ln>
            <a:noFill/>
          </a:ln>
        </p:spPr>
        <p:txBody>
          <a:bodyPr anchorCtr="0" anchor="ctr" bIns="79600" lIns="79600" spcFirstLastPara="1" rIns="79600" wrap="square" tIns="79600">
            <a:noAutofit/>
          </a:bodyPr>
          <a:lstStyle/>
          <a:p>
            <a:pPr indent="0" lvl="0" marL="0" rtl="0" algn="ctr">
              <a:spcBef>
                <a:spcPts val="0"/>
              </a:spcBef>
              <a:spcAft>
                <a:spcPts val="0"/>
              </a:spcAft>
              <a:buNone/>
            </a:pPr>
            <a:r>
              <a:t/>
            </a:r>
            <a:endParaRPr sz="1219"/>
          </a:p>
        </p:txBody>
      </p:sp>
      <p:sp>
        <p:nvSpPr>
          <p:cNvPr id="401" name="Google Shape;401;p38"/>
          <p:cNvSpPr/>
          <p:nvPr/>
        </p:nvSpPr>
        <p:spPr>
          <a:xfrm>
            <a:off x="3533519" y="759726"/>
            <a:ext cx="2512200" cy="2512200"/>
          </a:xfrm>
          <a:prstGeom prst="ellipse">
            <a:avLst/>
          </a:prstGeom>
          <a:solidFill>
            <a:srgbClr val="9ABAEE">
              <a:alpha val="55350"/>
            </a:srgbClr>
          </a:solidFill>
          <a:ln>
            <a:noFill/>
          </a:ln>
        </p:spPr>
        <p:txBody>
          <a:bodyPr anchorCtr="0" anchor="ctr" bIns="79600" lIns="79600" spcFirstLastPara="1" rIns="79600" wrap="square" tIns="79600">
            <a:noAutofit/>
          </a:bodyPr>
          <a:lstStyle/>
          <a:p>
            <a:pPr indent="0" lvl="0" marL="0" rtl="0" algn="ctr">
              <a:spcBef>
                <a:spcPts val="0"/>
              </a:spcBef>
              <a:spcAft>
                <a:spcPts val="0"/>
              </a:spcAft>
              <a:buNone/>
            </a:pPr>
            <a:r>
              <a:t/>
            </a:r>
            <a:endParaRPr sz="1219"/>
          </a:p>
        </p:txBody>
      </p:sp>
      <p:sp>
        <p:nvSpPr>
          <p:cNvPr id="402" name="Google Shape;402;p38"/>
          <p:cNvSpPr txBox="1"/>
          <p:nvPr/>
        </p:nvSpPr>
        <p:spPr>
          <a:xfrm>
            <a:off x="152275" y="430300"/>
            <a:ext cx="3971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Definición del Espacio del Tema</a:t>
            </a:r>
            <a:endParaRPr b="1">
              <a:solidFill>
                <a:srgbClr val="000000"/>
              </a:solidFill>
              <a:latin typeface="Helvetica Neue"/>
              <a:ea typeface="Helvetica Neue"/>
              <a:cs typeface="Helvetica Neue"/>
              <a:sym typeface="Helvetica Neue"/>
            </a:endParaRPr>
          </a:p>
        </p:txBody>
      </p:sp>
      <p:pic>
        <p:nvPicPr>
          <p:cNvPr id="403" name="Google Shape;403;p38"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404" name="Google Shape;404;p38"/>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405" name="Google Shape;405;p38"/>
          <p:cNvSpPr txBox="1"/>
          <p:nvPr/>
        </p:nvSpPr>
        <p:spPr>
          <a:xfrm>
            <a:off x="4043975" y="1394138"/>
            <a:ext cx="1491300" cy="44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Soberanía</a:t>
            </a:r>
            <a:r>
              <a:rPr b="1" lang="es" sz="800">
                <a:solidFill>
                  <a:schemeClr val="dk1"/>
                </a:solidFill>
              </a:rPr>
              <a:t> técnica y derecho a intervenir</a:t>
            </a:r>
            <a:endParaRPr b="1" sz="800">
              <a:solidFill>
                <a:schemeClr val="dk1"/>
              </a:solidFill>
            </a:endParaRPr>
          </a:p>
        </p:txBody>
      </p:sp>
      <p:sp>
        <p:nvSpPr>
          <p:cNvPr id="406" name="Google Shape;406;p38"/>
          <p:cNvSpPr txBox="1"/>
          <p:nvPr/>
        </p:nvSpPr>
        <p:spPr>
          <a:xfrm>
            <a:off x="2688250" y="3381300"/>
            <a:ext cx="1551000" cy="44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Ecosistemas de producción y dependencia</a:t>
            </a:r>
            <a:endParaRPr/>
          </a:p>
        </p:txBody>
      </p:sp>
      <p:sp>
        <p:nvSpPr>
          <p:cNvPr id="407" name="Google Shape;407;p38"/>
          <p:cNvSpPr txBox="1"/>
          <p:nvPr/>
        </p:nvSpPr>
        <p:spPr>
          <a:xfrm>
            <a:off x="5409175" y="3397800"/>
            <a:ext cx="1439700" cy="44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Sistemas </a:t>
            </a:r>
            <a:r>
              <a:rPr b="1" lang="es" sz="800">
                <a:solidFill>
                  <a:schemeClr val="dk1"/>
                </a:solidFill>
              </a:rPr>
              <a:t>ciberfísicos</a:t>
            </a:r>
            <a:r>
              <a:rPr b="1" lang="es" sz="800">
                <a:solidFill>
                  <a:schemeClr val="dk1"/>
                </a:solidFill>
              </a:rPr>
              <a:t> y automatización</a:t>
            </a:r>
            <a:endParaRPr/>
          </a:p>
        </p:txBody>
      </p:sp>
      <p:sp>
        <p:nvSpPr>
          <p:cNvPr id="408" name="Google Shape;408;p38"/>
          <p:cNvSpPr txBox="1"/>
          <p:nvPr/>
        </p:nvSpPr>
        <p:spPr>
          <a:xfrm>
            <a:off x="4923025" y="2350525"/>
            <a:ext cx="1003500" cy="540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s" sz="700">
                <a:solidFill>
                  <a:schemeClr val="lt1"/>
                </a:solidFill>
              </a:rPr>
              <a:t>I</a:t>
            </a:r>
            <a:r>
              <a:rPr b="1" lang="es" sz="700">
                <a:solidFill>
                  <a:schemeClr val="lt1"/>
                </a:solidFill>
              </a:rPr>
              <a:t>ntervención</a:t>
            </a:r>
            <a:r>
              <a:rPr b="1" lang="es" sz="700">
                <a:solidFill>
                  <a:schemeClr val="lt1"/>
                </a:solidFill>
              </a:rPr>
              <a:t> cuando el trabajo lo exige</a:t>
            </a:r>
            <a:endParaRPr b="1" sz="1300">
              <a:solidFill>
                <a:schemeClr val="lt1"/>
              </a:solidFill>
            </a:endParaRPr>
          </a:p>
        </p:txBody>
      </p:sp>
      <p:sp>
        <p:nvSpPr>
          <p:cNvPr id="409" name="Google Shape;409;p38"/>
          <p:cNvSpPr txBox="1"/>
          <p:nvPr/>
        </p:nvSpPr>
        <p:spPr>
          <a:xfrm>
            <a:off x="3622500" y="2363538"/>
            <a:ext cx="949500" cy="41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s" sz="700">
                <a:solidFill>
                  <a:schemeClr val="lt1"/>
                </a:solidFill>
              </a:rPr>
              <a:t>Autonomía</a:t>
            </a:r>
            <a:r>
              <a:rPr b="1" lang="es" sz="700">
                <a:solidFill>
                  <a:schemeClr val="lt1"/>
                </a:solidFill>
              </a:rPr>
              <a:t> sin dependencia</a:t>
            </a:r>
            <a:endParaRPr b="1" sz="1300">
              <a:solidFill>
                <a:schemeClr val="lt1"/>
              </a:solidFill>
            </a:endParaRPr>
          </a:p>
        </p:txBody>
      </p:sp>
      <p:sp>
        <p:nvSpPr>
          <p:cNvPr id="410" name="Google Shape;410;p38"/>
          <p:cNvSpPr txBox="1"/>
          <p:nvPr/>
        </p:nvSpPr>
        <p:spPr>
          <a:xfrm>
            <a:off x="4364825" y="3397800"/>
            <a:ext cx="849600" cy="41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s" sz="700">
                <a:solidFill>
                  <a:schemeClr val="lt1"/>
                </a:solidFill>
              </a:rPr>
              <a:t>Resiliencia operativa</a:t>
            </a:r>
            <a:endParaRPr b="1" sz="1300">
              <a:solidFill>
                <a:schemeClr val="lt1"/>
              </a:solidFill>
            </a:endParaRPr>
          </a:p>
        </p:txBody>
      </p:sp>
      <p:sp>
        <p:nvSpPr>
          <p:cNvPr id="411" name="Google Shape;411;p38"/>
          <p:cNvSpPr txBox="1"/>
          <p:nvPr/>
        </p:nvSpPr>
        <p:spPr>
          <a:xfrm>
            <a:off x="4319675" y="2820625"/>
            <a:ext cx="849600" cy="41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s" sz="700">
                <a:solidFill>
                  <a:schemeClr val="dk1"/>
                </a:solidFill>
              </a:rPr>
              <a:t>Automatización libre</a:t>
            </a:r>
            <a:endParaRPr b="1" sz="13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5" name="Shape 415"/>
        <p:cNvGrpSpPr/>
        <p:nvPr/>
      </p:nvGrpSpPr>
      <p:grpSpPr>
        <a:xfrm>
          <a:off x="0" y="0"/>
          <a:ext cx="0" cy="0"/>
          <a:chOff x="0" y="0"/>
          <a:chExt cx="0" cy="0"/>
        </a:xfrm>
      </p:grpSpPr>
      <p:sp>
        <p:nvSpPr>
          <p:cNvPr id="416" name="Google Shape;416;p39"/>
          <p:cNvSpPr/>
          <p:nvPr/>
        </p:nvSpPr>
        <p:spPr>
          <a:xfrm>
            <a:off x="1314200" y="1848200"/>
            <a:ext cx="6969900" cy="1412400"/>
          </a:xfrm>
          <a:prstGeom prst="ellipse">
            <a:avLst/>
          </a:prstGeom>
          <a:solidFill>
            <a:srgbClr val="9ABAEE">
              <a:alpha val="55350"/>
            </a:srgbClr>
          </a:solidFill>
          <a:ln>
            <a:noFill/>
          </a:ln>
        </p:spPr>
        <p:txBody>
          <a:bodyPr anchorCtr="0" anchor="ctr" bIns="79600" lIns="79600" spcFirstLastPara="1" rIns="79600" wrap="square" tIns="79600">
            <a:noAutofit/>
          </a:bodyPr>
          <a:lstStyle/>
          <a:p>
            <a:pPr indent="0" lvl="0" marL="0" rtl="0" algn="ctr">
              <a:spcBef>
                <a:spcPts val="0"/>
              </a:spcBef>
              <a:spcAft>
                <a:spcPts val="0"/>
              </a:spcAft>
              <a:buNone/>
            </a:pPr>
            <a:r>
              <a:t/>
            </a:r>
            <a:endParaRPr sz="1219"/>
          </a:p>
        </p:txBody>
      </p:sp>
      <p:sp>
        <p:nvSpPr>
          <p:cNvPr id="417" name="Google Shape;417;p39"/>
          <p:cNvSpPr/>
          <p:nvPr/>
        </p:nvSpPr>
        <p:spPr>
          <a:xfrm>
            <a:off x="3071175" y="3786775"/>
            <a:ext cx="3456000" cy="6333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39"/>
          <p:cNvSpPr/>
          <p:nvPr/>
        </p:nvSpPr>
        <p:spPr>
          <a:xfrm>
            <a:off x="2776025" y="961225"/>
            <a:ext cx="4034400" cy="4146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39"/>
          <p:cNvSpPr txBox="1"/>
          <p:nvPr/>
        </p:nvSpPr>
        <p:spPr>
          <a:xfrm>
            <a:off x="152275" y="430300"/>
            <a:ext cx="3971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Hipótesis de Diseño</a:t>
            </a:r>
            <a:endParaRPr b="1">
              <a:solidFill>
                <a:srgbClr val="000000"/>
              </a:solidFill>
              <a:latin typeface="Helvetica Neue"/>
              <a:ea typeface="Helvetica Neue"/>
              <a:cs typeface="Helvetica Neue"/>
              <a:sym typeface="Helvetica Neue"/>
            </a:endParaRPr>
          </a:p>
        </p:txBody>
      </p:sp>
      <p:pic>
        <p:nvPicPr>
          <p:cNvPr id="420" name="Google Shape;420;p39"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421" name="Google Shape;421;p39"/>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422" name="Google Shape;422;p39"/>
          <p:cNvSpPr txBox="1"/>
          <p:nvPr/>
        </p:nvSpPr>
        <p:spPr>
          <a:xfrm>
            <a:off x="2733800" y="961225"/>
            <a:ext cx="4115100" cy="771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0"/>
              </a:spcAft>
              <a:buNone/>
            </a:pPr>
            <a:r>
              <a:rPr lang="es" sz="700">
                <a:solidFill>
                  <a:schemeClr val="dk1"/>
                </a:solidFill>
              </a:rPr>
              <a:t>La capacidad de modificar y adaptar la máquina a las necesidades del usuario no son mutuamente excluyentes con la confiabilidad, simplicidad y automatización de sistemas cerrados.  </a:t>
            </a:r>
            <a:endParaRPr sz="700">
              <a:solidFill>
                <a:schemeClr val="dk1"/>
              </a:solidFill>
            </a:endParaRPr>
          </a:p>
          <a:p>
            <a:pPr indent="0" lvl="0" marL="0" rtl="0" algn="ctr">
              <a:lnSpc>
                <a:spcPct val="115000"/>
              </a:lnSpc>
              <a:spcBef>
                <a:spcPts val="1800"/>
              </a:spcBef>
              <a:spcAft>
                <a:spcPts val="400"/>
              </a:spcAft>
              <a:buNone/>
            </a:pPr>
            <a:r>
              <a:t/>
            </a:r>
            <a:endParaRPr sz="700">
              <a:solidFill>
                <a:schemeClr val="dk1"/>
              </a:solidFill>
            </a:endParaRPr>
          </a:p>
        </p:txBody>
      </p:sp>
      <p:sp>
        <p:nvSpPr>
          <p:cNvPr id="423" name="Google Shape;423;p39"/>
          <p:cNvSpPr txBox="1"/>
          <p:nvPr/>
        </p:nvSpPr>
        <p:spPr>
          <a:xfrm>
            <a:off x="3029600" y="3761025"/>
            <a:ext cx="3523500" cy="101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0"/>
              </a:spcAft>
              <a:buNone/>
            </a:pPr>
            <a:r>
              <a:rPr lang="es" sz="700">
                <a:solidFill>
                  <a:schemeClr val="dk1"/>
                </a:solidFill>
              </a:rPr>
              <a:t>¿Cómo puede una arquitectura phygital open source, que integre sensores y automatización inteligente, eliminar la fricción operativa de la fabricación multimaterial sin transferir la carga cognitiva al usuario ni sacrificar su capacidad de intervenir y modificar el sistema?</a:t>
            </a:r>
            <a:endParaRPr sz="700">
              <a:solidFill>
                <a:schemeClr val="dk1"/>
              </a:solidFill>
            </a:endParaRPr>
          </a:p>
          <a:p>
            <a:pPr indent="0" lvl="0" marL="0" rtl="0" algn="ctr">
              <a:lnSpc>
                <a:spcPct val="115000"/>
              </a:lnSpc>
              <a:spcBef>
                <a:spcPts val="1800"/>
              </a:spcBef>
              <a:spcAft>
                <a:spcPts val="400"/>
              </a:spcAft>
              <a:buNone/>
            </a:pPr>
            <a:r>
              <a:t/>
            </a:r>
            <a:endParaRPr sz="700">
              <a:solidFill>
                <a:schemeClr val="dk1"/>
              </a:solidFill>
            </a:endParaRPr>
          </a:p>
        </p:txBody>
      </p:sp>
      <p:sp>
        <p:nvSpPr>
          <p:cNvPr id="424" name="Google Shape;424;p39"/>
          <p:cNvSpPr txBox="1"/>
          <p:nvPr/>
        </p:nvSpPr>
        <p:spPr>
          <a:xfrm>
            <a:off x="1489100" y="2232575"/>
            <a:ext cx="6604500" cy="1028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s" sz="800">
                <a:solidFill>
                  <a:schemeClr val="dk1"/>
                </a:solidFill>
              </a:rPr>
              <a:t>Si una plataforma de fabricación aditiva open source integra una experiencia de usuario comparable a sistemas comerciales de alta gama, prevención inteligente de fallos predecibles y compatibilidad nativa con la gran mayoría de filamentos del mercado, puede democratizar capacidades de fabricación avanzada hoy reservadas a equipos de alto costo, devolviendo al prosumer la soberanía sobre su herramienta sin sacrificar confiabilidad operativa.</a:t>
            </a:r>
            <a:endParaRPr b="1" sz="800">
              <a:solidFill>
                <a:schemeClr val="dk1"/>
              </a:solidFill>
            </a:endParaRPr>
          </a:p>
          <a:p>
            <a:pPr indent="0" lvl="0" marL="0" rtl="0" algn="ctr">
              <a:lnSpc>
                <a:spcPct val="115000"/>
              </a:lnSpc>
              <a:spcBef>
                <a:spcPts val="1200"/>
              </a:spcBef>
              <a:spcAft>
                <a:spcPts val="1200"/>
              </a:spcAft>
              <a:buNone/>
            </a:pPr>
            <a:r>
              <a:t/>
            </a:r>
            <a:endParaRPr b="1" sz="800">
              <a:solidFill>
                <a:schemeClr val="dk1"/>
              </a:solidFill>
            </a:endParaRPr>
          </a:p>
        </p:txBody>
      </p:sp>
      <p:cxnSp>
        <p:nvCxnSpPr>
          <p:cNvPr id="425" name="Google Shape;425;p39"/>
          <p:cNvCxnSpPr/>
          <p:nvPr/>
        </p:nvCxnSpPr>
        <p:spPr>
          <a:xfrm>
            <a:off x="4791350" y="1431863"/>
            <a:ext cx="0" cy="360300"/>
          </a:xfrm>
          <a:prstGeom prst="straightConnector1">
            <a:avLst/>
          </a:prstGeom>
          <a:noFill/>
          <a:ln cap="flat" cmpd="sng" w="9525">
            <a:solidFill>
              <a:schemeClr val="dk2"/>
            </a:solidFill>
            <a:prstDash val="solid"/>
            <a:round/>
            <a:headEnd len="med" w="med" type="none"/>
            <a:tailEnd len="med" w="med" type="triangle"/>
          </a:ln>
        </p:spPr>
      </p:cxnSp>
      <p:cxnSp>
        <p:nvCxnSpPr>
          <p:cNvPr id="426" name="Google Shape;426;p39"/>
          <p:cNvCxnSpPr/>
          <p:nvPr/>
        </p:nvCxnSpPr>
        <p:spPr>
          <a:xfrm>
            <a:off x="4791350" y="3330688"/>
            <a:ext cx="0" cy="360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0" name="Shape 430"/>
        <p:cNvGrpSpPr/>
        <p:nvPr/>
      </p:nvGrpSpPr>
      <p:grpSpPr>
        <a:xfrm>
          <a:off x="0" y="0"/>
          <a:ext cx="0" cy="0"/>
          <a:chOff x="0" y="0"/>
          <a:chExt cx="0" cy="0"/>
        </a:xfrm>
      </p:grpSpPr>
      <p:sp>
        <p:nvSpPr>
          <p:cNvPr id="431" name="Google Shape;431;p40"/>
          <p:cNvSpPr/>
          <p:nvPr/>
        </p:nvSpPr>
        <p:spPr>
          <a:xfrm>
            <a:off x="1998325" y="1804000"/>
            <a:ext cx="2202600" cy="28899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40"/>
          <p:cNvSpPr/>
          <p:nvPr/>
        </p:nvSpPr>
        <p:spPr>
          <a:xfrm>
            <a:off x="4951325" y="1804000"/>
            <a:ext cx="2202600" cy="28899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40"/>
          <p:cNvSpPr txBox="1"/>
          <p:nvPr/>
        </p:nvSpPr>
        <p:spPr>
          <a:xfrm>
            <a:off x="152275" y="430300"/>
            <a:ext cx="20649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Pilares del proyecto</a:t>
            </a:r>
            <a:endParaRPr b="1">
              <a:solidFill>
                <a:srgbClr val="000000"/>
              </a:solidFill>
              <a:latin typeface="Helvetica Neue"/>
              <a:ea typeface="Helvetica Neue"/>
              <a:cs typeface="Helvetica Neue"/>
              <a:sym typeface="Helvetica Neue"/>
            </a:endParaRPr>
          </a:p>
        </p:txBody>
      </p:sp>
      <p:pic>
        <p:nvPicPr>
          <p:cNvPr id="434" name="Google Shape;434;p40"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435" name="Google Shape;435;p40"/>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436" name="Google Shape;436;p40"/>
          <p:cNvSpPr txBox="1"/>
          <p:nvPr/>
        </p:nvSpPr>
        <p:spPr>
          <a:xfrm>
            <a:off x="2542213" y="1371950"/>
            <a:ext cx="11148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Innovación abierta	</a:t>
            </a:r>
            <a:endParaRPr b="1" sz="800">
              <a:solidFill>
                <a:schemeClr val="dk1"/>
              </a:solidFill>
            </a:endParaRPr>
          </a:p>
        </p:txBody>
      </p:sp>
      <p:sp>
        <p:nvSpPr>
          <p:cNvPr id="437" name="Google Shape;437;p40"/>
          <p:cNvSpPr txBox="1"/>
          <p:nvPr/>
        </p:nvSpPr>
        <p:spPr>
          <a:xfrm>
            <a:off x="5208113" y="1371950"/>
            <a:ext cx="16890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Democratización colaborativa</a:t>
            </a:r>
            <a:endParaRPr/>
          </a:p>
        </p:txBody>
      </p:sp>
      <p:sp>
        <p:nvSpPr>
          <p:cNvPr id="438" name="Google Shape;438;p40"/>
          <p:cNvSpPr txBox="1"/>
          <p:nvPr/>
        </p:nvSpPr>
        <p:spPr>
          <a:xfrm>
            <a:off x="2103313" y="1957588"/>
            <a:ext cx="1992600" cy="283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 sz="700">
                <a:solidFill>
                  <a:schemeClr val="dk1"/>
                </a:solidFill>
              </a:rPr>
              <a:t>Ningún producto estandarizado soluciona todas las diversas necesidades de los usuarios (von Hippel, 2005). Sin embargo, al establecer una base fundacional sobre la cual la comunidad puede construir, la innovación se desata a través de una “recombinación creativa” (Chesbrough, 2003, p. 8)</a:t>
            </a:r>
            <a:endParaRPr sz="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700">
                <a:solidFill>
                  <a:schemeClr val="dk1"/>
                </a:solidFill>
              </a:rPr>
              <a:t>En este sentido, von Hippel (2005) argumenta que las comunidades de innovación incrementan la velocidad y efectividad con la que tanto usuarios como fabricantes desarrollan, prueban y difunden sus creaciones. Además, facilitan enormemente que los innovadores puedan construir sistemas mayores utilizando módulos interconectables que han sido creados por los propios participantes de la comunidad (p. 10).</a:t>
            </a:r>
            <a:endParaRPr sz="1300">
              <a:solidFill>
                <a:schemeClr val="dk1"/>
              </a:solidFill>
            </a:endParaRPr>
          </a:p>
          <a:p>
            <a:pPr indent="0" lvl="0" marL="0" rtl="0" algn="l">
              <a:lnSpc>
                <a:spcPct val="115000"/>
              </a:lnSpc>
              <a:spcBef>
                <a:spcPts val="1200"/>
              </a:spcBef>
              <a:spcAft>
                <a:spcPts val="1200"/>
              </a:spcAft>
              <a:buNone/>
            </a:pPr>
            <a:r>
              <a:t/>
            </a:r>
            <a:endParaRPr sz="700">
              <a:solidFill>
                <a:schemeClr val="dk1"/>
              </a:solidFill>
            </a:endParaRPr>
          </a:p>
        </p:txBody>
      </p:sp>
      <p:sp>
        <p:nvSpPr>
          <p:cNvPr id="439" name="Google Shape;439;p40"/>
          <p:cNvSpPr txBox="1"/>
          <p:nvPr/>
        </p:nvSpPr>
        <p:spPr>
          <a:xfrm>
            <a:off x="5056313" y="1957600"/>
            <a:ext cx="1992600" cy="258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 sz="700">
                <a:solidFill>
                  <a:schemeClr val="dk1"/>
                </a:solidFill>
              </a:rPr>
              <a:t>La reducción radical en los costos de los medios de producción permite que las herramientas de diseño y fabricación se difundan ampliamente en la población, lo que, como señala von Hippel (2005), democratiza la oportunidad de crear.</a:t>
            </a:r>
            <a:endParaRPr sz="700">
              <a:solidFill>
                <a:schemeClr val="dk1"/>
              </a:solidFill>
            </a:endParaRPr>
          </a:p>
          <a:p>
            <a:pPr indent="0" lvl="0" marL="0" rtl="0" algn="l">
              <a:lnSpc>
                <a:spcPct val="115000"/>
              </a:lnSpc>
              <a:spcBef>
                <a:spcPts val="1200"/>
              </a:spcBef>
              <a:spcAft>
                <a:spcPts val="0"/>
              </a:spcAft>
              <a:buNone/>
            </a:pPr>
            <a:r>
              <a:rPr lang="es" sz="700">
                <a:solidFill>
                  <a:schemeClr val="dk1"/>
                </a:solidFill>
              </a:rPr>
              <a:t>. Al eliminarse las barreras económicas del capital físico, 'la capacidad humana se convierte en el principal recurso escaso' (Benkler, 2006)</a:t>
            </a:r>
            <a:endParaRPr sz="700">
              <a:solidFill>
                <a:schemeClr val="dk1"/>
              </a:solidFill>
            </a:endParaRPr>
          </a:p>
          <a:p>
            <a:pPr indent="0" lvl="0" marL="0" rtl="0" algn="l">
              <a:lnSpc>
                <a:spcPct val="115000"/>
              </a:lnSpc>
              <a:spcBef>
                <a:spcPts val="1200"/>
              </a:spcBef>
              <a:spcAft>
                <a:spcPts val="1200"/>
              </a:spcAft>
              <a:buNone/>
            </a:pPr>
            <a:r>
              <a:rPr lang="es" sz="700">
                <a:solidFill>
                  <a:schemeClr val="dk1"/>
                </a:solidFill>
              </a:rPr>
              <a:t>. Este cambio tecnológico hace posible lo que Benkler denomina 'producción entre pares basada en el procomún', un modelo en el cual individuos distribuidos colaboran en proyectos descentralizados sin depender de señales de mercado ni mandatos jerárquicos corporativos.</a:t>
            </a:r>
            <a:endParaRPr sz="7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3" name="Shape 443"/>
        <p:cNvGrpSpPr/>
        <p:nvPr/>
      </p:nvGrpSpPr>
      <p:grpSpPr>
        <a:xfrm>
          <a:off x="0" y="0"/>
          <a:ext cx="0" cy="0"/>
          <a:chOff x="0" y="0"/>
          <a:chExt cx="0" cy="0"/>
        </a:xfrm>
      </p:grpSpPr>
      <p:sp>
        <p:nvSpPr>
          <p:cNvPr id="444" name="Google Shape;444;p41"/>
          <p:cNvSpPr/>
          <p:nvPr/>
        </p:nvSpPr>
        <p:spPr>
          <a:xfrm>
            <a:off x="584650" y="1416850"/>
            <a:ext cx="4436400" cy="1105200"/>
          </a:xfrm>
          <a:prstGeom prst="ellipse">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41"/>
          <p:cNvSpPr/>
          <p:nvPr/>
        </p:nvSpPr>
        <p:spPr>
          <a:xfrm>
            <a:off x="4082600" y="2524863"/>
            <a:ext cx="4245000" cy="8952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41"/>
          <p:cNvSpPr/>
          <p:nvPr/>
        </p:nvSpPr>
        <p:spPr>
          <a:xfrm>
            <a:off x="454475" y="3960375"/>
            <a:ext cx="6961800" cy="5403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41"/>
          <p:cNvSpPr txBox="1"/>
          <p:nvPr/>
        </p:nvSpPr>
        <p:spPr>
          <a:xfrm>
            <a:off x="152275" y="430300"/>
            <a:ext cx="27726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Reflexiones</a:t>
            </a:r>
            <a:endParaRPr b="1">
              <a:solidFill>
                <a:srgbClr val="000000"/>
              </a:solidFill>
              <a:latin typeface="Helvetica Neue"/>
              <a:ea typeface="Helvetica Neue"/>
              <a:cs typeface="Helvetica Neue"/>
              <a:sym typeface="Helvetica Neue"/>
            </a:endParaRPr>
          </a:p>
        </p:txBody>
      </p:sp>
      <p:pic>
        <p:nvPicPr>
          <p:cNvPr id="448" name="Google Shape;448;p41"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449" name="Google Shape;449;p41"/>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450" name="Google Shape;450;p41"/>
          <p:cNvSpPr txBox="1"/>
          <p:nvPr/>
        </p:nvSpPr>
        <p:spPr>
          <a:xfrm>
            <a:off x="724475" y="1623563"/>
            <a:ext cx="4082100" cy="73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El usuario prosumer estudiante que quiere imprimir objetos funcionales se enfrenta a un mercado que le ofrece herramientas cerradas con buena usabilidad, costo prohibitivo y sin modificabilidad, o ecosistemas abiertos que requieren considerable conocimiento y mantenimiento.</a:t>
            </a:r>
            <a:endParaRPr b="1" sz="800">
              <a:solidFill>
                <a:schemeClr val="dk1"/>
              </a:solidFill>
            </a:endParaRPr>
          </a:p>
        </p:txBody>
      </p:sp>
      <p:sp>
        <p:nvSpPr>
          <p:cNvPr id="451" name="Google Shape;451;p41"/>
          <p:cNvSpPr txBox="1"/>
          <p:nvPr/>
        </p:nvSpPr>
        <p:spPr>
          <a:xfrm>
            <a:off x="365700" y="1131763"/>
            <a:ext cx="1882200" cy="323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900">
                <a:solidFill>
                  <a:schemeClr val="dk1"/>
                </a:solidFill>
              </a:rPr>
              <a:t>Definición de problema</a:t>
            </a:r>
            <a:endParaRPr sz="1500"/>
          </a:p>
        </p:txBody>
      </p:sp>
      <p:sp>
        <p:nvSpPr>
          <p:cNvPr id="452" name="Google Shape;452;p41"/>
          <p:cNvSpPr txBox="1"/>
          <p:nvPr/>
        </p:nvSpPr>
        <p:spPr>
          <a:xfrm>
            <a:off x="6742225" y="2160538"/>
            <a:ext cx="1882200" cy="323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900">
                <a:solidFill>
                  <a:schemeClr val="dk1"/>
                </a:solidFill>
              </a:rPr>
              <a:t>Reflexión figital</a:t>
            </a:r>
            <a:endParaRPr sz="1500"/>
          </a:p>
        </p:txBody>
      </p:sp>
      <p:sp>
        <p:nvSpPr>
          <p:cNvPr id="453" name="Google Shape;453;p41"/>
          <p:cNvSpPr txBox="1"/>
          <p:nvPr/>
        </p:nvSpPr>
        <p:spPr>
          <a:xfrm>
            <a:off x="4177775" y="2591650"/>
            <a:ext cx="4082100" cy="110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s" sz="800">
                <a:solidFill>
                  <a:schemeClr val="dk1"/>
                </a:solidFill>
              </a:rPr>
              <a:t>La oportunidad está en traspasar la carga de lidiar con la calibración y errores desde el usuario al sistema. La integración de hardware cómo el Bowden Changer, loadcells y sensores varios con scripts y macros inteligentes crea una experiencia plug &amp; play en una plataforma abierta y modificable</a:t>
            </a:r>
            <a:endParaRPr b="1" sz="800">
              <a:solidFill>
                <a:schemeClr val="dk1"/>
              </a:solidFill>
            </a:endParaRPr>
          </a:p>
          <a:p>
            <a:pPr indent="0" lvl="0" marL="0" rtl="0" algn="ctr">
              <a:lnSpc>
                <a:spcPct val="115000"/>
              </a:lnSpc>
              <a:spcBef>
                <a:spcPts val="1800"/>
              </a:spcBef>
              <a:spcAft>
                <a:spcPts val="400"/>
              </a:spcAft>
              <a:buNone/>
            </a:pPr>
            <a:r>
              <a:t/>
            </a:r>
            <a:endParaRPr b="1" sz="800">
              <a:solidFill>
                <a:schemeClr val="dk1"/>
              </a:solidFill>
            </a:endParaRPr>
          </a:p>
        </p:txBody>
      </p:sp>
      <p:sp>
        <p:nvSpPr>
          <p:cNvPr id="454" name="Google Shape;454;p41"/>
          <p:cNvSpPr txBox="1"/>
          <p:nvPr/>
        </p:nvSpPr>
        <p:spPr>
          <a:xfrm>
            <a:off x="454475" y="3935025"/>
            <a:ext cx="6961800" cy="59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 sz="800">
                <a:solidFill>
                  <a:schemeClr val="dk1"/>
                </a:solidFill>
              </a:rPr>
              <a:t>Diseño y desarrollo de una plataforma de manufactura aditiva FDM Open Source, equipada con un sistema multimaterial original optimizado para filamentos flexibles. Su importancia radica en que democratiza capacidades de fabricación multimaterial avanzadas (16+ filamentos, tpu y materiales ingenieriles) al reducir las barreras económicas y técnicas que sufren los usuarios frente a las alternativas del mercado.</a:t>
            </a:r>
            <a:endParaRPr b="1" sz="800">
              <a:solidFill>
                <a:schemeClr val="dk1"/>
              </a:solidFill>
            </a:endParaRPr>
          </a:p>
        </p:txBody>
      </p:sp>
      <p:sp>
        <p:nvSpPr>
          <p:cNvPr id="455" name="Google Shape;455;p41"/>
          <p:cNvSpPr txBox="1"/>
          <p:nvPr/>
        </p:nvSpPr>
        <p:spPr>
          <a:xfrm>
            <a:off x="365700" y="3627213"/>
            <a:ext cx="1882200" cy="323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900">
                <a:solidFill>
                  <a:schemeClr val="dk1"/>
                </a:solidFill>
              </a:rPr>
              <a:t>Definición del tema</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9" name="Shape 459"/>
        <p:cNvGrpSpPr/>
        <p:nvPr/>
      </p:nvGrpSpPr>
      <p:grpSpPr>
        <a:xfrm>
          <a:off x="0" y="0"/>
          <a:ext cx="0" cy="0"/>
          <a:chOff x="0" y="0"/>
          <a:chExt cx="0" cy="0"/>
        </a:xfrm>
      </p:grpSpPr>
      <p:sp>
        <p:nvSpPr>
          <p:cNvPr id="460" name="Google Shape;460;p42"/>
          <p:cNvSpPr/>
          <p:nvPr/>
        </p:nvSpPr>
        <p:spPr>
          <a:xfrm>
            <a:off x="2300775" y="1760475"/>
            <a:ext cx="4573500" cy="1420500"/>
          </a:xfrm>
          <a:prstGeom prst="ellipse">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1" name="Google Shape;461;p42"/>
          <p:cNvSpPr/>
          <p:nvPr/>
        </p:nvSpPr>
        <p:spPr>
          <a:xfrm>
            <a:off x="1683350" y="4207625"/>
            <a:ext cx="6307800" cy="540300"/>
          </a:xfrm>
          <a:prstGeom prst="rect">
            <a:avLst/>
          </a:prstGeom>
          <a:solidFill>
            <a:srgbClr val="9ABAEE">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42"/>
          <p:cNvSpPr txBox="1"/>
          <p:nvPr/>
        </p:nvSpPr>
        <p:spPr>
          <a:xfrm>
            <a:off x="152275" y="430300"/>
            <a:ext cx="27726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Reflexiones</a:t>
            </a:r>
            <a:endParaRPr b="1">
              <a:solidFill>
                <a:srgbClr val="000000"/>
              </a:solidFill>
              <a:latin typeface="Helvetica Neue"/>
              <a:ea typeface="Helvetica Neue"/>
              <a:cs typeface="Helvetica Neue"/>
              <a:sym typeface="Helvetica Neue"/>
            </a:endParaRPr>
          </a:p>
        </p:txBody>
      </p:sp>
      <p:pic>
        <p:nvPicPr>
          <p:cNvPr id="463" name="Google Shape;463;p42"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464" name="Google Shape;464;p42"/>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465" name="Google Shape;465;p42"/>
          <p:cNvSpPr txBox="1"/>
          <p:nvPr/>
        </p:nvSpPr>
        <p:spPr>
          <a:xfrm>
            <a:off x="2530950" y="2067088"/>
            <a:ext cx="4082100" cy="874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¿Es posible diseñar una plataforma de impresión 3D FDM open source, con capacidad multimaterial compatible con filamentos flexibles, automatización inteligente y volumen de impresión superior al estándar prosumer actual, que sea funcionalmente competitiva con equipos comerciales de alta gama a un costo accesible para diseñadores y estudiantes técnicos?</a:t>
            </a:r>
            <a:endParaRPr/>
          </a:p>
        </p:txBody>
      </p:sp>
      <p:sp>
        <p:nvSpPr>
          <p:cNvPr id="466" name="Google Shape;466;p42"/>
          <p:cNvSpPr txBox="1"/>
          <p:nvPr/>
        </p:nvSpPr>
        <p:spPr>
          <a:xfrm>
            <a:off x="1577450" y="1340950"/>
            <a:ext cx="18822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Open Source Hardware</a:t>
            </a:r>
            <a:endParaRPr/>
          </a:p>
        </p:txBody>
      </p:sp>
      <p:sp>
        <p:nvSpPr>
          <p:cNvPr id="467" name="Google Shape;467;p42"/>
          <p:cNvSpPr txBox="1"/>
          <p:nvPr/>
        </p:nvSpPr>
        <p:spPr>
          <a:xfrm>
            <a:off x="1001825" y="3051850"/>
            <a:ext cx="18822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Extrusión FDM Multimaterial</a:t>
            </a:r>
            <a:endParaRPr/>
          </a:p>
        </p:txBody>
      </p:sp>
      <p:sp>
        <p:nvSpPr>
          <p:cNvPr id="468" name="Google Shape;468;p42"/>
          <p:cNvSpPr txBox="1"/>
          <p:nvPr/>
        </p:nvSpPr>
        <p:spPr>
          <a:xfrm>
            <a:off x="4788325" y="1127275"/>
            <a:ext cx="18822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Diseño Figital</a:t>
            </a:r>
            <a:endParaRPr/>
          </a:p>
        </p:txBody>
      </p:sp>
      <p:sp>
        <p:nvSpPr>
          <p:cNvPr id="469" name="Google Shape;469;p42"/>
          <p:cNvSpPr txBox="1"/>
          <p:nvPr/>
        </p:nvSpPr>
        <p:spPr>
          <a:xfrm>
            <a:off x="6874275" y="2229525"/>
            <a:ext cx="18822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Automatización Ciberfísica</a:t>
            </a:r>
            <a:endParaRPr/>
          </a:p>
        </p:txBody>
      </p:sp>
      <p:sp>
        <p:nvSpPr>
          <p:cNvPr id="470" name="Google Shape;470;p42"/>
          <p:cNvSpPr txBox="1"/>
          <p:nvPr/>
        </p:nvSpPr>
        <p:spPr>
          <a:xfrm>
            <a:off x="5371325" y="3359638"/>
            <a:ext cx="18822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800">
                <a:solidFill>
                  <a:schemeClr val="dk1"/>
                </a:solidFill>
              </a:rPr>
              <a:t>Fabricación Prosumer</a:t>
            </a:r>
            <a:endParaRPr/>
          </a:p>
        </p:txBody>
      </p:sp>
      <p:sp>
        <p:nvSpPr>
          <p:cNvPr id="471" name="Google Shape;471;p42"/>
          <p:cNvSpPr txBox="1"/>
          <p:nvPr/>
        </p:nvSpPr>
        <p:spPr>
          <a:xfrm>
            <a:off x="0" y="4283038"/>
            <a:ext cx="1882200" cy="323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s" sz="900">
                <a:solidFill>
                  <a:schemeClr val="dk1"/>
                </a:solidFill>
              </a:rPr>
              <a:t>Problemática central</a:t>
            </a:r>
            <a:endParaRPr sz="1500"/>
          </a:p>
        </p:txBody>
      </p:sp>
      <p:sp>
        <p:nvSpPr>
          <p:cNvPr id="472" name="Google Shape;472;p42"/>
          <p:cNvSpPr txBox="1"/>
          <p:nvPr/>
        </p:nvSpPr>
        <p:spPr>
          <a:xfrm>
            <a:off x="1683350" y="4200725"/>
            <a:ext cx="6307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t>Para imprimir polímeros flexibles de forma confiable, el mercado fuerza la elección de sistemas de múltiples cabezales, de alto costo o multiplexores de un solo cabezal, que fallan producto del filamento blando. No existe actualmente un mecanismo de alimentación open </a:t>
            </a:r>
            <a:r>
              <a:rPr lang="es" sz="800"/>
              <a:t>source y de bajo costo que resuelva la extrusión de filamentos flexibles.</a:t>
            </a:r>
            <a:endParaRPr sz="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6" name="Shape 476"/>
        <p:cNvGrpSpPr/>
        <p:nvPr/>
      </p:nvGrpSpPr>
      <p:grpSpPr>
        <a:xfrm>
          <a:off x="0" y="0"/>
          <a:ext cx="0" cy="0"/>
          <a:chOff x="0" y="0"/>
          <a:chExt cx="0" cy="0"/>
        </a:xfrm>
      </p:grpSpPr>
      <p:sp>
        <p:nvSpPr>
          <p:cNvPr id="477" name="Google Shape;477;p43"/>
          <p:cNvSpPr/>
          <p:nvPr/>
        </p:nvSpPr>
        <p:spPr>
          <a:xfrm>
            <a:off x="1820000" y="2898875"/>
            <a:ext cx="964800" cy="6405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43"/>
          <p:cNvSpPr/>
          <p:nvPr/>
        </p:nvSpPr>
        <p:spPr>
          <a:xfrm>
            <a:off x="1820000" y="2258000"/>
            <a:ext cx="964800" cy="640500"/>
          </a:xfrm>
          <a:prstGeom prst="rect">
            <a:avLst/>
          </a:prstGeom>
          <a:solidFill>
            <a:srgbClr val="F6B26B">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43"/>
          <p:cNvSpPr/>
          <p:nvPr/>
        </p:nvSpPr>
        <p:spPr>
          <a:xfrm>
            <a:off x="1819995" y="3539300"/>
            <a:ext cx="964800" cy="6405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43"/>
          <p:cNvSpPr/>
          <p:nvPr/>
        </p:nvSpPr>
        <p:spPr>
          <a:xfrm>
            <a:off x="2781475" y="2258000"/>
            <a:ext cx="806700" cy="19221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43"/>
          <p:cNvSpPr/>
          <p:nvPr/>
        </p:nvSpPr>
        <p:spPr>
          <a:xfrm>
            <a:off x="3594625" y="2258300"/>
            <a:ext cx="1352400" cy="19221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43"/>
          <p:cNvSpPr/>
          <p:nvPr/>
        </p:nvSpPr>
        <p:spPr>
          <a:xfrm>
            <a:off x="4947025" y="2258000"/>
            <a:ext cx="1317300" cy="640500"/>
          </a:xfrm>
          <a:prstGeom prst="rect">
            <a:avLst/>
          </a:prstGeom>
          <a:solidFill>
            <a:srgbClr val="F6B26B">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43"/>
          <p:cNvSpPr/>
          <p:nvPr/>
        </p:nvSpPr>
        <p:spPr>
          <a:xfrm>
            <a:off x="4947025" y="2898800"/>
            <a:ext cx="1317300" cy="6405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 name="Google Shape;484;p43"/>
          <p:cNvSpPr/>
          <p:nvPr/>
        </p:nvSpPr>
        <p:spPr>
          <a:xfrm>
            <a:off x="3591400" y="4180250"/>
            <a:ext cx="1352400" cy="441000"/>
          </a:xfrm>
          <a:prstGeom prst="rect">
            <a:avLst/>
          </a:prstGeom>
          <a:solidFill>
            <a:srgbClr val="F6B26B">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43"/>
          <p:cNvSpPr/>
          <p:nvPr/>
        </p:nvSpPr>
        <p:spPr>
          <a:xfrm>
            <a:off x="4939375" y="4180025"/>
            <a:ext cx="1317300" cy="4410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43"/>
          <p:cNvSpPr/>
          <p:nvPr/>
        </p:nvSpPr>
        <p:spPr>
          <a:xfrm>
            <a:off x="2784775" y="4180250"/>
            <a:ext cx="806700" cy="4410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43"/>
          <p:cNvSpPr/>
          <p:nvPr/>
        </p:nvSpPr>
        <p:spPr>
          <a:xfrm>
            <a:off x="1820000" y="4180175"/>
            <a:ext cx="964800" cy="4410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 name="Google Shape;488;p43"/>
          <p:cNvSpPr/>
          <p:nvPr/>
        </p:nvSpPr>
        <p:spPr>
          <a:xfrm>
            <a:off x="4947023" y="3539450"/>
            <a:ext cx="1317300" cy="6405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9" name="Google Shape;489;p43"/>
          <p:cNvSpPr/>
          <p:nvPr/>
        </p:nvSpPr>
        <p:spPr>
          <a:xfrm>
            <a:off x="3591400" y="1617500"/>
            <a:ext cx="1352400" cy="6405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0" name="Google Shape;490;p43"/>
          <p:cNvSpPr/>
          <p:nvPr/>
        </p:nvSpPr>
        <p:spPr>
          <a:xfrm>
            <a:off x="4943675" y="1617725"/>
            <a:ext cx="1317300" cy="6405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1" name="Google Shape;491;p43"/>
          <p:cNvSpPr/>
          <p:nvPr/>
        </p:nvSpPr>
        <p:spPr>
          <a:xfrm>
            <a:off x="6264325" y="4180250"/>
            <a:ext cx="1231800" cy="4410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2" name="Google Shape;492;p43"/>
          <p:cNvSpPr/>
          <p:nvPr/>
        </p:nvSpPr>
        <p:spPr>
          <a:xfrm>
            <a:off x="6258400" y="2898875"/>
            <a:ext cx="1231800" cy="6405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43"/>
          <p:cNvSpPr/>
          <p:nvPr/>
        </p:nvSpPr>
        <p:spPr>
          <a:xfrm>
            <a:off x="6258275" y="2258300"/>
            <a:ext cx="1231800" cy="640500"/>
          </a:xfrm>
          <a:prstGeom prst="rect">
            <a:avLst/>
          </a:prstGeom>
          <a:solidFill>
            <a:srgbClr val="F6B26B">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4" name="Google Shape;494;p43"/>
          <p:cNvSpPr/>
          <p:nvPr/>
        </p:nvSpPr>
        <p:spPr>
          <a:xfrm>
            <a:off x="6258275" y="3539450"/>
            <a:ext cx="1231800" cy="6405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43"/>
          <p:cNvSpPr/>
          <p:nvPr/>
        </p:nvSpPr>
        <p:spPr>
          <a:xfrm>
            <a:off x="6258300" y="1617725"/>
            <a:ext cx="1231800" cy="6405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43"/>
          <p:cNvSpPr/>
          <p:nvPr/>
        </p:nvSpPr>
        <p:spPr>
          <a:xfrm>
            <a:off x="7496075" y="4167800"/>
            <a:ext cx="824400" cy="4410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7" name="Google Shape;497;p43"/>
          <p:cNvSpPr/>
          <p:nvPr/>
        </p:nvSpPr>
        <p:spPr>
          <a:xfrm>
            <a:off x="7490075" y="2898875"/>
            <a:ext cx="824400" cy="1281300"/>
          </a:xfrm>
          <a:prstGeom prst="rect">
            <a:avLst/>
          </a:prstGeom>
          <a:solidFill>
            <a:srgbClr val="F6B26B">
              <a:alpha val="55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 name="Google Shape;498;p43"/>
          <p:cNvSpPr/>
          <p:nvPr/>
        </p:nvSpPr>
        <p:spPr>
          <a:xfrm>
            <a:off x="7496075" y="1617500"/>
            <a:ext cx="824400" cy="12813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9" name="Google Shape;499;p43"/>
          <p:cNvSpPr/>
          <p:nvPr/>
        </p:nvSpPr>
        <p:spPr>
          <a:xfrm>
            <a:off x="2784775" y="1617500"/>
            <a:ext cx="806700" cy="640500"/>
          </a:xfrm>
          <a:prstGeom prst="rect">
            <a:avLst/>
          </a:prstGeom>
          <a:solidFill>
            <a:srgbClr val="EA9999">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43"/>
          <p:cNvSpPr txBox="1"/>
          <p:nvPr/>
        </p:nvSpPr>
        <p:spPr>
          <a:xfrm>
            <a:off x="152275" y="430300"/>
            <a:ext cx="27726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Benchmarking</a:t>
            </a:r>
            <a:endParaRPr b="1">
              <a:solidFill>
                <a:srgbClr val="000000"/>
              </a:solidFill>
              <a:latin typeface="Helvetica Neue"/>
              <a:ea typeface="Helvetica Neue"/>
              <a:cs typeface="Helvetica Neue"/>
              <a:sym typeface="Helvetica Neue"/>
            </a:endParaRPr>
          </a:p>
        </p:txBody>
      </p:sp>
      <p:pic>
        <p:nvPicPr>
          <p:cNvPr id="501" name="Google Shape;501;p43"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502" name="Google Shape;502;p43"/>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503" name="Google Shape;503;p43"/>
          <p:cNvSpPr/>
          <p:nvPr/>
        </p:nvSpPr>
        <p:spPr>
          <a:xfrm>
            <a:off x="1820000" y="1617500"/>
            <a:ext cx="964800" cy="640500"/>
          </a:xfrm>
          <a:prstGeom prst="rect">
            <a:avLst/>
          </a:prstGeom>
          <a:solidFill>
            <a:srgbClr val="93C47D">
              <a:alpha val="5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504" name="Google Shape;504;p43"/>
          <p:cNvGraphicFramePr/>
          <p:nvPr/>
        </p:nvGraphicFramePr>
        <p:xfrm>
          <a:off x="823575" y="977150"/>
          <a:ext cx="3000000" cy="3000000"/>
        </p:xfrm>
        <a:graphic>
          <a:graphicData uri="http://schemas.openxmlformats.org/drawingml/2006/table">
            <a:tbl>
              <a:tblPr>
                <a:noFill/>
                <a:tableStyleId>{DA021A84-8BBD-486D-A789-BF6277C520F9}</a:tableStyleId>
              </a:tblPr>
              <a:tblGrid>
                <a:gridCol w="996425"/>
                <a:gridCol w="964775"/>
                <a:gridCol w="806625"/>
                <a:gridCol w="1352275"/>
                <a:gridCol w="1320650"/>
                <a:gridCol w="1225750"/>
                <a:gridCol w="830350"/>
              </a:tblGrid>
              <a:tr h="640575">
                <a:tc>
                  <a:txBody>
                    <a:bodyPr/>
                    <a:lstStyle/>
                    <a:p>
                      <a:pPr indent="0" lvl="0" marL="0" rtl="0" algn="l">
                        <a:lnSpc>
                          <a:spcPct val="115000"/>
                        </a:lnSpc>
                        <a:spcBef>
                          <a:spcPts val="0"/>
                        </a:spcBef>
                        <a:spcAft>
                          <a:spcPts val="0"/>
                        </a:spcAft>
                        <a:buNone/>
                      </a:pPr>
                      <a:r>
                        <a:rPr b="1" lang="es" sz="800">
                          <a:solidFill>
                            <a:srgbClr val="1F1F1F"/>
                          </a:solidFill>
                        </a:rPr>
                        <a:t>Sistema / Ecosistema</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Cantidad de Materiales</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Soporte TPU (&lt;95A)</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Arquitectura Mecánica</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Modificabilidad</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Automatización y UX</a:t>
                      </a:r>
                      <a:endParaRPr b="1" sz="8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800">
                          <a:solidFill>
                            <a:srgbClr val="1F1F1F"/>
                          </a:solidFill>
                        </a:rPr>
                        <a:t>Costo Total (CLP)</a:t>
                      </a:r>
                      <a:endParaRPr b="1" sz="8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640575">
                <a:tc>
                  <a:txBody>
                    <a:bodyPr/>
                    <a:lstStyle/>
                    <a:p>
                      <a:pPr indent="0" lvl="0" marL="0" rtl="0" algn="l">
                        <a:lnSpc>
                          <a:spcPct val="115000"/>
                        </a:lnSpc>
                        <a:spcBef>
                          <a:spcPts val="0"/>
                        </a:spcBef>
                        <a:spcAft>
                          <a:spcPts val="0"/>
                        </a:spcAft>
                        <a:buNone/>
                      </a:pPr>
                      <a:r>
                        <a:rPr b="1" lang="es" sz="700">
                          <a:solidFill>
                            <a:srgbClr val="1F1F1F"/>
                          </a:solidFill>
                        </a:rPr>
                        <a:t>Bambu H2C + AMS</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24</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Falla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Multiplexor de retracción</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Nula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Alta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~$3.290.000</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40575">
                <a:tc>
                  <a:txBody>
                    <a:bodyPr/>
                    <a:lstStyle/>
                    <a:p>
                      <a:pPr indent="0" lvl="0" marL="0" rtl="0" algn="l">
                        <a:lnSpc>
                          <a:spcPct val="115000"/>
                        </a:lnSpc>
                        <a:spcBef>
                          <a:spcPts val="0"/>
                        </a:spcBef>
                        <a:spcAft>
                          <a:spcPts val="0"/>
                        </a:spcAft>
                        <a:buNone/>
                      </a:pPr>
                      <a:r>
                        <a:rPr b="1" lang="es" sz="700">
                          <a:solidFill>
                            <a:srgbClr val="1F1F1F"/>
                          </a:solidFill>
                        </a:rPr>
                        <a:t>Prusa XL 5T</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5</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Toolchanger</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Limitada</a:t>
                      </a:r>
                      <a:r>
                        <a:rPr b="1" lang="es" sz="700">
                          <a:solidFill>
                            <a:srgbClr val="1F1F1F"/>
                          </a:solidFill>
                        </a:rPr>
                        <a:t> (Placa/SW propietario)</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Media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~$4.000.000</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40575">
                <a:tc>
                  <a:txBody>
                    <a:bodyPr/>
                    <a:lstStyle/>
                    <a:p>
                      <a:pPr indent="0" lvl="0" marL="0" rtl="0" algn="l">
                        <a:lnSpc>
                          <a:spcPct val="115000"/>
                        </a:lnSpc>
                        <a:spcBef>
                          <a:spcPts val="0"/>
                        </a:spcBef>
                        <a:spcAft>
                          <a:spcPts val="0"/>
                        </a:spcAft>
                        <a:buNone/>
                      </a:pPr>
                      <a:r>
                        <a:rPr b="1" lang="es" sz="700">
                          <a:solidFill>
                            <a:srgbClr val="1F1F1F"/>
                          </a:solidFill>
                        </a:rPr>
                        <a:t>Snapmaker U1</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4</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Toolchanger</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Nula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Alta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~$1.400.000</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40575">
                <a:tc>
                  <a:txBody>
                    <a:bodyPr/>
                    <a:lstStyle/>
                    <a:p>
                      <a:pPr indent="0" lvl="0" marL="0" rtl="0" algn="l">
                        <a:lnSpc>
                          <a:spcPct val="115000"/>
                        </a:lnSpc>
                        <a:spcBef>
                          <a:spcPts val="0"/>
                        </a:spcBef>
                        <a:spcAft>
                          <a:spcPts val="0"/>
                        </a:spcAft>
                        <a:buNone/>
                      </a:pPr>
                      <a:r>
                        <a:rPr b="1" lang="es" sz="700">
                          <a:solidFill>
                            <a:srgbClr val="1F1F1F"/>
                          </a:solidFill>
                        </a:rPr>
                        <a:t>Voron 2.4 + INDX</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8</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CoreXY + INDX (Módulos compactos)</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Total</a:t>
                      </a:r>
                      <a:r>
                        <a:rPr b="1" lang="es" sz="700">
                          <a:solidFill>
                            <a:srgbClr val="1F1F1F"/>
                          </a:solidFill>
                        </a:rPr>
                        <a:t> (Hardware y Software libre)</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Baja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~$1.600.000</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b="1" lang="es" sz="700">
                          <a:solidFill>
                            <a:srgbClr val="1F1F1F"/>
                          </a:solidFill>
                        </a:rPr>
                        <a:t>Proyecto</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16+</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Sí (&lt;95A)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Bowden Changer</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Total</a:t>
                      </a:r>
                      <a:r>
                        <a:rPr b="1" lang="es" sz="700">
                          <a:solidFill>
                            <a:srgbClr val="1F1F1F"/>
                          </a:solidFill>
                        </a:rPr>
                        <a:t> (Open Source 100%)</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Alta</a:t>
                      </a:r>
                      <a:endParaRPr b="1" sz="7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700">
                          <a:solidFill>
                            <a:srgbClr val="1F1F1F"/>
                          </a:solidFill>
                        </a:rPr>
                        <a:t>&lt;$600.000</a:t>
                      </a:r>
                      <a:endParaRPr b="1" sz="7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8" name="Shape 508"/>
        <p:cNvGrpSpPr/>
        <p:nvPr/>
      </p:nvGrpSpPr>
      <p:grpSpPr>
        <a:xfrm>
          <a:off x="0" y="0"/>
          <a:ext cx="0" cy="0"/>
          <a:chOff x="0" y="0"/>
          <a:chExt cx="0" cy="0"/>
        </a:xfrm>
      </p:grpSpPr>
      <p:pic>
        <p:nvPicPr>
          <p:cNvPr descr="crea una diapositiva mostrando un value proposition canvas con esta información:" id="509" name="Google Shape;509;p44"/>
          <p:cNvPicPr preferRelativeResize="0"/>
          <p:nvPr/>
        </p:nvPicPr>
        <p:blipFill>
          <a:blip r:embed="rId3">
            <a:alphaModFix/>
          </a:blip>
          <a:stretch>
            <a:fillRect/>
          </a:stretch>
        </p:blipFill>
        <p:spPr>
          <a:xfrm>
            <a:off x="-35700" y="0"/>
            <a:ext cx="9210675" cy="5143500"/>
          </a:xfrm>
          <a:prstGeom prst="rect">
            <a:avLst/>
          </a:prstGeom>
          <a:noFill/>
          <a:ln>
            <a:noFill/>
          </a:ln>
        </p:spPr>
      </p:pic>
      <p:pic>
        <p:nvPicPr>
          <p:cNvPr descr="crea un value proposition canvas con esta información: Perfil del cliente&#10;Usuario: Diseñador industrial / estudiante técnico avanzado que produce prototipos funcionales&#10;Jobs (qué intenta hacer)&#10;&#10;Fabricar prototipos funcionales con múltiples materiales incluyendo flexibles&#10;Producir piezas de calidad para clientes o proyectos reales&#10;Mantener una máquina que no interrumpa su flujo de trabajo&#10;Modificar y actualizar su equipo según sus necesidades específicas&#10;&#10;Pains (qué le frustra)&#10;&#10;Pierde más tiempo calibrando y reparando que imprimiendo&#10;No puede imprimir flexibles en multimaterial sin intervención manual constante&#10;Pierde piezas de clientes por fallos que no puede prevenir ni monitorear en sistemas cerrados&#10;El multimaterial con soporte real para flexibles cuesta $2.400 USD o más&#10;Las máquinas open source competitivas requieren conocimientos de ingeniería avanzados solo para funcionar&#10;&#10;Gains (qué desea obtener)&#10;&#10;Una máquina que funcione de forma confiable sin atención constante&#10;Libertad para modificar y mejorar el equipo a futuro&#10;Capacidad de imprimir cualquier material en combinación&#10;Volumen de impresión suficiente para prototipos reales&#10;Inversión accesible que no comprometa otros recursos&#10;&#10;&#10;Propuesta de valor&#10;Products &amp; Services&#10;&#10;Impresora FDM open source 310x310x380mm con cámara calefaccionada&#10;Sistema Bowden Changer para 16+ materiales incluyendo flexibles inferiores a 95A shore&#10;Firmware Klipper con macros inteligentes y sensores adaptativos&#10;Diseño modular actualizable&#10;Documentación completa y BOM publicado en GitHub&#10;&#10;Pain relievers&#10;&#10;Automatización de calibración elimina tiempo perdido en setup&#10;Sensores de posición de filamento y loadcell minimizan purga y errores de cambio&#10;Monitoreo de temperatura del heatsink previene heat creep antes de que arruine una pieza&#10;Costo total bajo $600 USD frente a $2.400+ USD de alternativas equivalentes&#10;UX plug &amp; play sobre hardware completamente abierto y documentado&#10;&#10;Gain creators&#10;&#10;Compatibilidad con flexibles en multimaterial sin modificaciones ni intervención manual&#10;Volumen de impresión superior al estándar prosumer actual&#10;Arquitectura modular que permite upgrades incrementales según necesidad y presupuesto&#10;Publicación open source que permite a la comunidad extender y mejorar la plataforma" id="510" name="Google Shape;510;p44"/>
          <p:cNvPicPr preferRelativeResize="0"/>
          <p:nvPr/>
        </p:nvPicPr>
        <p:blipFill>
          <a:blip r:embed="rId4">
            <a:alphaModFix/>
          </a:blip>
          <a:stretch>
            <a:fillRect/>
          </a:stretch>
        </p:blipFill>
        <p:spPr>
          <a:xfrm>
            <a:off x="70425" y="5143495"/>
            <a:ext cx="9104550" cy="506798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5"/>
          <p:cNvSpPr txBox="1"/>
          <p:nvPr/>
        </p:nvSpPr>
        <p:spPr>
          <a:xfrm>
            <a:off x="152275" y="511250"/>
            <a:ext cx="39714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latin typeface="Helvetica Neue"/>
                <a:ea typeface="Helvetica Neue"/>
                <a:cs typeface="Helvetica Neue"/>
                <a:sym typeface="Helvetica Neue"/>
              </a:rPr>
              <a:t>Bibliografía</a:t>
            </a:r>
            <a:endParaRPr b="1">
              <a:solidFill>
                <a:srgbClr val="000000"/>
              </a:solidFill>
              <a:latin typeface="Helvetica Neue"/>
              <a:ea typeface="Helvetica Neue"/>
              <a:cs typeface="Helvetica Neue"/>
              <a:sym typeface="Helvetica Neue"/>
            </a:endParaRPr>
          </a:p>
        </p:txBody>
      </p:sp>
      <p:pic>
        <p:nvPicPr>
          <p:cNvPr id="516" name="Google Shape;516;p45" title="faad_lockupsArtboard 1@2x.png"/>
          <p:cNvPicPr preferRelativeResize="0"/>
          <p:nvPr/>
        </p:nvPicPr>
        <p:blipFill>
          <a:blip r:embed="rId3">
            <a:alphaModFix/>
          </a:blip>
          <a:stretch>
            <a:fillRect/>
          </a:stretch>
        </p:blipFill>
        <p:spPr>
          <a:xfrm>
            <a:off x="7720079" y="217525"/>
            <a:ext cx="1003397" cy="348600"/>
          </a:xfrm>
          <a:prstGeom prst="rect">
            <a:avLst/>
          </a:prstGeom>
          <a:noFill/>
          <a:ln>
            <a:noFill/>
          </a:ln>
        </p:spPr>
      </p:pic>
      <p:sp>
        <p:nvSpPr>
          <p:cNvPr id="517" name="Google Shape;517;p45"/>
          <p:cNvSpPr txBox="1"/>
          <p:nvPr/>
        </p:nvSpPr>
        <p:spPr>
          <a:xfrm>
            <a:off x="309325" y="217525"/>
            <a:ext cx="16890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rgbClr val="000000"/>
                </a:solidFill>
                <a:latin typeface="Helvetica Neue Light"/>
                <a:ea typeface="Helvetica Neue Light"/>
                <a:cs typeface="Helvetica Neue Light"/>
                <a:sym typeface="Helvetica Neue Light"/>
              </a:rPr>
              <a:t>Seminario de Título</a:t>
            </a:r>
            <a:endParaRPr sz="900">
              <a:solidFill>
                <a:srgbClr val="000000"/>
              </a:solidFill>
              <a:latin typeface="Helvetica Neue Light"/>
              <a:ea typeface="Helvetica Neue Light"/>
              <a:cs typeface="Helvetica Neue Light"/>
              <a:sym typeface="Helvetica Neue Light"/>
            </a:endParaRPr>
          </a:p>
        </p:txBody>
      </p:sp>
      <p:sp>
        <p:nvSpPr>
          <p:cNvPr id="518" name="Google Shape;518;p45"/>
          <p:cNvSpPr txBox="1"/>
          <p:nvPr/>
        </p:nvSpPr>
        <p:spPr>
          <a:xfrm>
            <a:off x="212350" y="930150"/>
            <a:ext cx="29526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v</a:t>
            </a:r>
            <a:r>
              <a:rPr lang="es" sz="700">
                <a:solidFill>
                  <a:schemeClr val="dk1"/>
                </a:solidFill>
              </a:rPr>
              <a:t>on Hippel, E. (2005). Democratizing innovation. The MIT Press.</a:t>
            </a:r>
            <a:endParaRPr sz="1300"/>
          </a:p>
        </p:txBody>
      </p:sp>
      <p:sp>
        <p:nvSpPr>
          <p:cNvPr id="519" name="Google Shape;519;p45"/>
          <p:cNvSpPr txBox="1"/>
          <p:nvPr/>
        </p:nvSpPr>
        <p:spPr>
          <a:xfrm>
            <a:off x="212350" y="1113100"/>
            <a:ext cx="59961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Chesbrough, H. W. (2003). Open innovation: The new imperative for creating and profiting from technology. Harvard Business School Press.</a:t>
            </a:r>
            <a:endParaRPr sz="1300"/>
          </a:p>
        </p:txBody>
      </p:sp>
      <p:sp>
        <p:nvSpPr>
          <p:cNvPr id="520" name="Google Shape;520;p45"/>
          <p:cNvSpPr txBox="1"/>
          <p:nvPr/>
        </p:nvSpPr>
        <p:spPr>
          <a:xfrm>
            <a:off x="212350" y="1331688"/>
            <a:ext cx="59961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Benkler, Y. (2006). The wealth of networks: How social production transforms markets and freedom. Yale University Press.</a:t>
            </a:r>
            <a:endParaRPr sz="1300"/>
          </a:p>
        </p:txBody>
      </p:sp>
      <p:sp>
        <p:nvSpPr>
          <p:cNvPr id="521" name="Google Shape;521;p45"/>
          <p:cNvSpPr txBox="1"/>
          <p:nvPr/>
        </p:nvSpPr>
        <p:spPr>
          <a:xfrm>
            <a:off x="212350" y="1550400"/>
            <a:ext cx="80853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Prades Monreal, D. (2021). Diseño de extrusor multimaterial para impresora 3D [Trabajo Fin de Grado, Universidad de Zaragoza]. Zaguan: Archivo Institucional de la Universidad de Zaragoza.</a:t>
            </a:r>
            <a:endParaRPr sz="1300"/>
          </a:p>
        </p:txBody>
      </p:sp>
      <p:sp>
        <p:nvSpPr>
          <p:cNvPr id="522" name="Google Shape;522;p45"/>
          <p:cNvSpPr txBox="1"/>
          <p:nvPr/>
        </p:nvSpPr>
        <p:spPr>
          <a:xfrm>
            <a:off x="212350" y="1751425"/>
            <a:ext cx="80853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Bene, D., &amp; Rónai, L. (2024). Further development of a 3D printer for multi-material printing. Academic Journal of Manufacturing Engineering, 22(3), 62-69.</a:t>
            </a:r>
            <a:endParaRPr sz="1300"/>
          </a:p>
        </p:txBody>
      </p:sp>
      <p:sp>
        <p:nvSpPr>
          <p:cNvPr id="523" name="Google Shape;523;p45"/>
          <p:cNvSpPr txBox="1"/>
          <p:nvPr/>
        </p:nvSpPr>
        <p:spPr>
          <a:xfrm>
            <a:off x="212350" y="2681938"/>
            <a:ext cx="80853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Bambu Lab. (2026). Bambu Lab H2C: Impresión 3D multimaterial y multicolor sin compromisos. Bambu Lab. https://bambulab.com/es/h2c</a:t>
            </a:r>
            <a:endParaRPr sz="700">
              <a:solidFill>
                <a:schemeClr val="dk1"/>
              </a:solidFill>
            </a:endParaRPr>
          </a:p>
        </p:txBody>
      </p:sp>
      <p:sp>
        <p:nvSpPr>
          <p:cNvPr id="524" name="Google Shape;524;p45"/>
          <p:cNvSpPr txBox="1"/>
          <p:nvPr/>
        </p:nvSpPr>
        <p:spPr>
          <a:xfrm>
            <a:off x="212350" y="2899163"/>
            <a:ext cx="80853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Prusa Research. (2026). Impresora 3D Original Prusa XL de un solo cabezal. Prusa Research. https://www.prusa3d.com/es/producto/original-prusa-xl</a:t>
            </a:r>
            <a:endParaRPr sz="700">
              <a:solidFill>
                <a:schemeClr val="dk1"/>
              </a:solidFill>
            </a:endParaRPr>
          </a:p>
        </p:txBody>
      </p:sp>
      <p:sp>
        <p:nvSpPr>
          <p:cNvPr id="525" name="Google Shape;525;p45"/>
          <p:cNvSpPr txBox="1"/>
          <p:nvPr/>
        </p:nvSpPr>
        <p:spPr>
          <a:xfrm>
            <a:off x="212350" y="3132038"/>
            <a:ext cx="80853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AliExpress. (2026). Kit de impresora 3D Voron 2.4-SIBOOR V2.4 R2 [agosto, versión] CoreXY con extrusora Stealthburner DIY. AliExpress. https://es.aliexpress.com/item/1005005454409289.html</a:t>
            </a:r>
            <a:endParaRPr sz="700">
              <a:solidFill>
                <a:schemeClr val="dk1"/>
              </a:solidFill>
            </a:endParaRPr>
          </a:p>
        </p:txBody>
      </p:sp>
      <p:sp>
        <p:nvSpPr>
          <p:cNvPr id="526" name="Google Shape;526;p45"/>
          <p:cNvSpPr txBox="1"/>
          <p:nvPr/>
        </p:nvSpPr>
        <p:spPr>
          <a:xfrm>
            <a:off x="212350" y="3366900"/>
            <a:ext cx="8823300" cy="54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Reddit. (2026). I am happy! When I move you move... [Publicación en foro]. Reddit. https://www.reddit.com/r/prusa3d/comments/1rzoc59/i_am_happy_when_i_move_you_move/?share_id=8xwqNRZI2PQmO4LFRs9IG&amp;utm_content=1&amp;utm_medium=android_app&amp;utm_name=androidcss&amp;utm_source=share&amp;utm_term=3</a:t>
            </a:r>
            <a:endParaRPr sz="700">
              <a:solidFill>
                <a:schemeClr val="dk1"/>
              </a:solidFill>
            </a:endParaRPr>
          </a:p>
        </p:txBody>
      </p:sp>
      <p:sp>
        <p:nvSpPr>
          <p:cNvPr id="527" name="Google Shape;527;p45"/>
          <p:cNvSpPr txBox="1"/>
          <p:nvPr/>
        </p:nvSpPr>
        <p:spPr>
          <a:xfrm>
            <a:off x="212350" y="3813500"/>
            <a:ext cx="80853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700">
                <a:solidFill>
                  <a:schemeClr val="dk1"/>
                </a:solidFill>
              </a:rPr>
              <a:t>Bondtech. (2026). INDX by Bondtech: Tool-changer solution for multimaterial 3D printing. Bondtech. https://www.bondtech.se/indx-by-bondtech</a:t>
            </a:r>
            <a:endParaRPr sz="700">
              <a:solidFill>
                <a:schemeClr val="dk1"/>
              </a:solidFill>
            </a:endParaRPr>
          </a:p>
        </p:txBody>
      </p:sp>
      <p:sp>
        <p:nvSpPr>
          <p:cNvPr id="528" name="Google Shape;528;p45"/>
          <p:cNvSpPr txBox="1"/>
          <p:nvPr/>
        </p:nvSpPr>
        <p:spPr>
          <a:xfrm>
            <a:off x="212350" y="1953175"/>
            <a:ext cx="892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700"/>
              <a:t>Yildirim, N., McCann, J., &amp; Zimmerman, J. (2020). Digital fabrication tools at work: Probing professionals' current needs and desired futures. En Proceedings of the 2020 CHI Conference on Human Factors in Computing Systems (pp. 1-14). Association for Computing Machinery.</a:t>
            </a:r>
            <a:endParaRPr sz="700"/>
          </a:p>
        </p:txBody>
      </p:sp>
      <p:sp>
        <p:nvSpPr>
          <p:cNvPr id="529" name="Google Shape;529;p45"/>
          <p:cNvSpPr txBox="1"/>
          <p:nvPr/>
        </p:nvSpPr>
        <p:spPr>
          <a:xfrm>
            <a:off x="212350" y="2264025"/>
            <a:ext cx="66192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700"/>
              <a:t>Sweller, J. (1988). Cognitive load during problem solving: Effects on learning. Cognitive Science, 12(2), 257–285. https://doi.org/10.1207/s15516709cog1202_4</a:t>
            </a:r>
            <a:endParaRPr sz="700"/>
          </a:p>
        </p:txBody>
      </p:sp>
      <p:sp>
        <p:nvSpPr>
          <p:cNvPr id="530" name="Google Shape;530;p45"/>
          <p:cNvSpPr txBox="1"/>
          <p:nvPr/>
        </p:nvSpPr>
        <p:spPr>
          <a:xfrm>
            <a:off x="212350" y="2480025"/>
            <a:ext cx="90951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700"/>
              <a:t>3D Now. (2020, 3 de abril). The History of Consumer 3D Printing (ft. Adrian Bowyer and Sanjay Mortimer!) [Video]. YouTube. https://youtu.be/M7-n8ITHlFw?si=42lKDa6xokpaPqAv</a:t>
            </a:r>
            <a:endParaRPr sz="700"/>
          </a:p>
        </p:txBody>
      </p:sp>
      <p:sp>
        <p:nvSpPr>
          <p:cNvPr id="531" name="Google Shape;531;p45"/>
          <p:cNvSpPr txBox="1"/>
          <p:nvPr/>
        </p:nvSpPr>
        <p:spPr>
          <a:xfrm>
            <a:off x="212350" y="4046925"/>
            <a:ext cx="73839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700"/>
              <a:t>Anderson, C. (2006). La economía Long Tail: De los mercados de masas al triunfo de lo minoritario (F. Villegas Silva Lezama, Trad.). Tendencias Editores.</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