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1.png" ContentType="image/png"/>
  <Override PartName="/ppt/media/image6.png" ContentType="image/png"/>
  <Override PartName="/ppt/media/image9.jpeg" ContentType="image/jpeg"/>
  <Override PartName="/ppt/media/image7.png" ContentType="image/png"/>
  <Override PartName="/ppt/media/image5.jpeg" ContentType="image/jpeg"/>
  <Override PartName="/ppt/media/image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 descr=""/>
          <p:cNvPicPr/>
          <p:nvPr/>
        </p:nvPicPr>
        <p:blipFill>
          <a:blip r:embed="rId2"/>
          <a:srcRect l="4715" t="22288" r="3177" b="0"/>
          <a:stretch/>
        </p:blipFill>
        <p:spPr>
          <a:xfrm flipH="1" rot="10800000">
            <a:off x="-1800" y="0"/>
            <a:ext cx="91476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0" y="1927080"/>
            <a:ext cx="3856320" cy="185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" name="Google Shape;12;p2"/>
          <p:cNvCxnSpPr/>
          <p:nvPr/>
        </p:nvCxnSpPr>
        <p:spPr>
          <a:xfrm>
            <a:off x="0" y="4875840"/>
            <a:ext cx="9144000" cy="360"/>
          </a:xfrm>
          <a:prstGeom prst="straightConnector1">
            <a:avLst/>
          </a:prstGeom>
          <a:ln w="9525">
            <a:solidFill>
              <a:srgbClr val="f3f3f3"/>
            </a:solidFill>
            <a:round/>
          </a:ln>
        </p:spPr>
      </p:cxn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72;p14" descr=""/>
          <p:cNvPicPr/>
          <p:nvPr/>
        </p:nvPicPr>
        <p:blipFill>
          <a:blip r:embed="rId2"/>
          <a:srcRect l="2206" t="4919" r="26197" b="34676"/>
          <a:stretch/>
        </p:blipFill>
        <p:spPr>
          <a:xfrm flipH="1" rot="10800000">
            <a:off x="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5000" y="1611720"/>
            <a:ext cx="3087720" cy="176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06760" y="1215720"/>
            <a:ext cx="4997880" cy="271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Google Shape;75;p14"/>
          <p:cNvCxnSpPr/>
          <p:nvPr/>
        </p:nvCxnSpPr>
        <p:spPr>
          <a:xfrm>
            <a:off x="0" y="4875840"/>
            <a:ext cx="9144000" cy="360"/>
          </a:xfrm>
          <a:prstGeom prst="straightConnector1">
            <a:avLst/>
          </a:prstGeom>
          <a:ln w="9525">
            <a:solidFill>
              <a:srgbClr val="f3f3f3"/>
            </a:solidFill>
            <a:round/>
          </a:ln>
        </p:spPr>
      </p:cxn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2;p20" descr=""/>
          <p:cNvPicPr/>
          <p:nvPr/>
        </p:nvPicPr>
        <p:blipFill>
          <a:blip r:embed="rId2"/>
          <a:srcRect l="24602" t="22855" r="0" b="13538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13160" y="415080"/>
            <a:ext cx="3847320" cy="94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Google Shape;105;p20"/>
          <p:cNvSpPr/>
          <p:nvPr/>
        </p:nvSpPr>
        <p:spPr>
          <a:xfrm>
            <a:off x="713160" y="3263040"/>
            <a:ext cx="29689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CREDITS: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  <a:hlinkClick r:id="rId3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  <a:hlinkClick r:id="rId4"/>
              </a:rPr>
              <a:t>Freepik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3" name="Google Shape;106;p20"/>
          <p:cNvCxnSpPr/>
          <p:nvPr/>
        </p:nvCxnSpPr>
        <p:spPr>
          <a:xfrm>
            <a:off x="0" y="4875840"/>
            <a:ext cx="9144000" cy="360"/>
          </a:xfrm>
          <a:prstGeom prst="straightConnector1">
            <a:avLst/>
          </a:prstGeom>
          <a:ln w="9525">
            <a:solidFill>
              <a:srgbClr val="f3f3f3"/>
            </a:solidFill>
            <a:round/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9;p4" descr=""/>
          <p:cNvPicPr/>
          <p:nvPr/>
        </p:nvPicPr>
        <p:blipFill>
          <a:blip r:embed="rId2"/>
          <a:srcRect l="26964" t="38371" r="0" b="0"/>
          <a:stretch/>
        </p:blipFill>
        <p:spPr>
          <a:xfrm rot="10800000">
            <a:off x="360" y="-3600"/>
            <a:ext cx="914364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14960" y="534960"/>
            <a:ext cx="499788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14960" y="1175040"/>
            <a:ext cx="4997880" cy="313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17920" y="803160"/>
            <a:ext cx="2210760" cy="33163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" name="Google Shape;23;p4"/>
          <p:cNvCxnSpPr/>
          <p:nvPr/>
        </p:nvCxnSpPr>
        <p:spPr>
          <a:xfrm>
            <a:off x="0" y="4875840"/>
            <a:ext cx="9144000" cy="360"/>
          </a:xfrm>
          <a:prstGeom prst="straightConnector1">
            <a:avLst/>
          </a:prstGeom>
          <a:ln w="9525">
            <a:solidFill>
              <a:srgbClr val="f3f3f3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31;p6" descr=""/>
          <p:cNvPicPr/>
          <p:nvPr/>
        </p:nvPicPr>
        <p:blipFill>
          <a:blip r:embed="rId2"/>
          <a:srcRect l="2108" t="0" r="2116" b="19183"/>
          <a:stretch/>
        </p:blipFill>
        <p:spPr>
          <a:xfrm rot="10800000">
            <a:off x="-1800" y="-3600"/>
            <a:ext cx="9147600" cy="515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14960" y="534960"/>
            <a:ext cx="77137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1" name="Google Shape;33;p6"/>
          <p:cNvCxnSpPr/>
          <p:nvPr/>
        </p:nvCxnSpPr>
        <p:spPr>
          <a:xfrm>
            <a:off x="0" y="4875840"/>
            <a:ext cx="9144000" cy="360"/>
          </a:xfrm>
          <a:prstGeom prst="straightConnector1">
            <a:avLst/>
          </a:prstGeom>
          <a:ln w="9525">
            <a:solidFill>
              <a:srgbClr val="f3f3f3"/>
            </a:solidFill>
            <a:round/>
          </a:ln>
        </p:spPr>
      </p:cxn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0" y="1924200"/>
            <a:ext cx="3857400" cy="185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Patrones oscuros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4572000" y="1352520"/>
            <a:ext cx="3857400" cy="41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Diseño que manipula decisiones de usuario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14240" y="533520"/>
            <a:ext cx="500040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Introducción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714240" y="1171440"/>
            <a:ext cx="5000400" cy="313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276120" indent="-20952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Los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patrones oscuros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 son técnicas de diseño intencionales que guían o manipulan el comportamiento del usuario.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6120" indent="-20952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6120" indent="-20952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Esta presentación explica su alcance, tipos comunes y riesgos éticos, ofreciendo una visión corporativa para identificar y mitigar su uso.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Google Shape;186;p33" descr=""/>
          <p:cNvPicPr/>
          <p:nvPr/>
        </p:nvPicPr>
        <p:blipFill>
          <a:blip r:embed="rId1"/>
          <a:stretch/>
        </p:blipFill>
        <p:spPr>
          <a:xfrm>
            <a:off x="6217920" y="803160"/>
            <a:ext cx="2210760" cy="3316320"/>
          </a:xfrm>
          <a:prstGeom prst="rect">
            <a:avLst/>
          </a:prstGeom>
          <a:noFill/>
          <a:ln w="9525">
            <a:solidFill>
              <a:srgbClr val="f3f3f3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Patrones oscuros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0" name="image6a0398de455c9" descr="image6a0398de455cc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Definición y alcance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Un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patrón oscuro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 es una interfaz que prioriza objetivos del producto sobre el interés del usuario.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Abarca desde decisiones de negocio sutiles hasta prácticas que engañan; su identificación requiere revisión de flujos y métricas de experiencia.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Riesgo reputacional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 y cumplimiento regulatorio son impactos clave.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3" name="image6a0398de594da" descr="image6a0398de594dd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Tipos comunes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·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Confirmshaming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: presionar culpa para optar por algo.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·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Manejo de fricción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: complicar la salida o cancelación.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·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Opt-out oculto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: suscripciones y recolección de datos disfrazadas.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Detectar patrones exige auditorías de usabilidad y métricas de abandono.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4280" y="1609560"/>
            <a:ext cx="3085920" cy="17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Ejemplos reales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3505320" y="1219320"/>
            <a:ext cx="5000400" cy="27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Casos de e-commerce que ocultan costes durante el checkout y apps que usan notificaciones para aumentar uso diario.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Analizar flujos, capturas y métricas permite identificar prácticas como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confirmshaming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 o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opt-out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 oculto.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Impacto en conversión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 y confianza del usuario deben evaluarse.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Interfaces adictivas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0" name="image6a0398de63af8" descr="image6a0398de63afb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14240" y="533520"/>
            <a:ext cx="500040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Principios psicológicos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714240" y="1171440"/>
            <a:ext cx="5000400" cy="313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276120" indent="-20952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Modelos de refuerzo variable, FOMO y retención por microrecompensas impulsan comportamientos repetidos.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6120" indent="-20952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6120" indent="-20952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Comprender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gatillos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 y ciclos de recompensa es clave para evaluar si una interfaz promueve uso compulsivo.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Google Shape;186;p33" descr=""/>
          <p:cNvPicPr/>
          <p:nvPr/>
        </p:nvPicPr>
        <p:blipFill>
          <a:blip r:embed="rId1"/>
          <a:stretch/>
        </p:blipFill>
        <p:spPr>
          <a:xfrm>
            <a:off x="6217920" y="803160"/>
            <a:ext cx="2210760" cy="3316320"/>
          </a:xfrm>
          <a:prstGeom prst="rect">
            <a:avLst/>
          </a:prstGeom>
          <a:noFill/>
          <a:ln w="9525">
            <a:solidFill>
              <a:srgbClr val="f3f3f3"/>
            </a:solidFill>
            <a:round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Técnicas de diseño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Uso de notificaciones constantes, feeds infinitos y señales de progreso que fomentan la reentrada.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Diseños que priorizan tiempo en pantalla sobre valor para el usuario suelen emplear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personalización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</a:rPr>
              <a:t> para intensificar la adicción.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4280" y="1609560"/>
            <a:ext cx="3085920" cy="17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Mitigación y ética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505320" y="1219320"/>
            <a:ext cx="5000400" cy="27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Implementar límites de atención, controles de usuario claros y transparencia en recolección de datos.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Adoptar políticas de diseño responsable y auditorías regulares para reducir riesgo legal y preservar la confianza del cliente.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4280" y="1609560"/>
            <a:ext cx="3085920" cy="17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Conclusiones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505320" y="1219320"/>
            <a:ext cx="5000400" cy="271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El diseño responsable equilibra objetivos de negocio con el bienestar del usuario. 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Adoptar auditorías, métricas éticas y controles de transparencia minimiza riesgos reputacionales y regulatorios, y fomenta relaciones duraderas con clientes.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14240" y="-345960"/>
            <a:ext cx="3847680" cy="170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0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Thanks!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714240" y="1285920"/>
            <a:ext cx="2971440" cy="129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Do you have any questions?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youremail@freepik.com 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+91  620 421 838 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Atkinson Hyperlegible"/>
                <a:ea typeface="Atkinson Hyperlegible"/>
              </a:rPr>
              <a:t>yourwebsite.com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Google Shape;245;p38"/>
          <p:cNvSpPr/>
          <p:nvPr/>
        </p:nvSpPr>
        <p:spPr>
          <a:xfrm>
            <a:off x="714240" y="3924360"/>
            <a:ext cx="29714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595960" bIns="-259596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Google Shape;246;p38"/>
          <p:cNvSpPr/>
          <p:nvPr/>
        </p:nvSpPr>
        <p:spPr>
          <a:xfrm>
            <a:off x="789480" y="2797200"/>
            <a:ext cx="245520" cy="245880"/>
          </a:xfrm>
          <a:custGeom>
            <a:avLst/>
            <a:gdLst>
              <a:gd name="textAreaLeft" fmla="*/ 0 w 245520"/>
              <a:gd name="textAreaRight" fmla="*/ 245880 w 245520"/>
              <a:gd name="textAreaTop" fmla="*/ 0 h 245880"/>
              <a:gd name="textAreaBottom" fmla="*/ 246240 h 24588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4" name="Google Shape;247;p38"/>
          <p:cNvGrpSpPr/>
          <p:nvPr/>
        </p:nvGrpSpPr>
        <p:grpSpPr>
          <a:xfrm>
            <a:off x="1109160" y="2797200"/>
            <a:ext cx="245880" cy="245880"/>
            <a:chOff x="1109160" y="2797200"/>
            <a:chExt cx="245880" cy="245880"/>
          </a:xfrm>
        </p:grpSpPr>
        <p:sp>
          <p:nvSpPr>
            <p:cNvPr id="55" name="Google Shape;248;p38"/>
            <p:cNvSpPr/>
            <p:nvPr/>
          </p:nvSpPr>
          <p:spPr>
            <a:xfrm>
              <a:off x="1109160" y="2797200"/>
              <a:ext cx="245880" cy="245880"/>
            </a:xfrm>
            <a:custGeom>
              <a:avLst/>
              <a:gdLst>
                <a:gd name="textAreaLeft" fmla="*/ 0 w 245880"/>
                <a:gd name="textAreaRight" fmla="*/ 246240 w 245880"/>
                <a:gd name="textAreaTop" fmla="*/ 0 h 245880"/>
                <a:gd name="textAreaBottom" fmla="*/ 246240 h 24588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249;p38"/>
            <p:cNvSpPr/>
            <p:nvPr/>
          </p:nvSpPr>
          <p:spPr>
            <a:xfrm>
              <a:off x="1155240" y="2843640"/>
              <a:ext cx="153000" cy="153000"/>
            </a:xfrm>
            <a:custGeom>
              <a:avLst/>
              <a:gdLst>
                <a:gd name="textAreaLeft" fmla="*/ 0 w 153000"/>
                <a:gd name="textAreaRight" fmla="*/ 153360 w 153000"/>
                <a:gd name="textAreaTop" fmla="*/ 0 h 153000"/>
                <a:gd name="textAreaBottom" fmla="*/ 153360 h 15300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250;p38"/>
            <p:cNvSpPr/>
            <p:nvPr/>
          </p:nvSpPr>
          <p:spPr>
            <a:xfrm>
              <a:off x="1190880" y="2880000"/>
              <a:ext cx="81360" cy="7992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79920"/>
                <a:gd name="textAreaBottom" fmla="*/ 80280 h 7992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251;p38"/>
            <p:cNvSpPr/>
            <p:nvPr/>
          </p:nvSpPr>
          <p:spPr>
            <a:xfrm>
              <a:off x="1262880" y="2863440"/>
              <a:ext cx="20520" cy="2052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9" name="Google Shape;252;p38"/>
          <p:cNvGrpSpPr/>
          <p:nvPr/>
        </p:nvGrpSpPr>
        <p:grpSpPr>
          <a:xfrm>
            <a:off x="1429560" y="2797200"/>
            <a:ext cx="245880" cy="245880"/>
            <a:chOff x="1429560" y="2797200"/>
            <a:chExt cx="245880" cy="245880"/>
          </a:xfrm>
        </p:grpSpPr>
        <p:grpSp>
          <p:nvGrpSpPr>
            <p:cNvPr id="60" name="Google Shape;253;p38"/>
            <p:cNvGrpSpPr/>
            <p:nvPr/>
          </p:nvGrpSpPr>
          <p:grpSpPr>
            <a:xfrm>
              <a:off x="1479960" y="2837520"/>
              <a:ext cx="144720" cy="164880"/>
              <a:chOff x="1479960" y="2837520"/>
              <a:chExt cx="144720" cy="164880"/>
            </a:xfrm>
          </p:grpSpPr>
          <p:sp>
            <p:nvSpPr>
              <p:cNvPr id="61" name="Google Shape;254;p38"/>
              <p:cNvSpPr/>
              <p:nvPr/>
            </p:nvSpPr>
            <p:spPr>
              <a:xfrm>
                <a:off x="1479960" y="2915280"/>
                <a:ext cx="83880" cy="87120"/>
              </a:xfrm>
              <a:custGeom>
                <a:avLst/>
                <a:gdLst>
                  <a:gd name="textAreaLeft" fmla="*/ 0 w 83880"/>
                  <a:gd name="textAreaRight" fmla="*/ 84240 w 83880"/>
                  <a:gd name="textAreaTop" fmla="*/ 0 h 87120"/>
                  <a:gd name="textAreaBottom" fmla="*/ 87480 h 87120"/>
                </a:gdLst>
                <a:ahLst/>
                <a:cxnLst/>
                <a:rect l="textAreaLeft" t="textAreaTop" r="textAreaRight" b="textAreaBottom"/>
                <a:pathLst>
                  <a:path w="106179" h="110289">
                    <a:moveTo>
                      <a:pt x="19199" y="1"/>
                    </a:moveTo>
                    <a:cubicBezTo>
                      <a:pt x="18076" y="1"/>
                      <a:pt x="16954" y="466"/>
                      <a:pt x="16148" y="1404"/>
                    </a:cubicBezTo>
                    <a:cubicBezTo>
                      <a:pt x="5840" y="13310"/>
                      <a:pt x="1" y="28739"/>
                      <a:pt x="33" y="44494"/>
                    </a:cubicBezTo>
                    <a:cubicBezTo>
                      <a:pt x="33" y="62077"/>
                      <a:pt x="6916" y="78582"/>
                      <a:pt x="19442" y="91010"/>
                    </a:cubicBezTo>
                    <a:cubicBezTo>
                      <a:pt x="31968" y="103439"/>
                      <a:pt x="48572" y="110289"/>
                      <a:pt x="66252" y="110289"/>
                    </a:cubicBezTo>
                    <a:cubicBezTo>
                      <a:pt x="69546" y="110289"/>
                      <a:pt x="72939" y="110060"/>
                      <a:pt x="76201" y="109571"/>
                    </a:cubicBezTo>
                    <a:cubicBezTo>
                      <a:pt x="86248" y="108071"/>
                      <a:pt x="95675" y="104352"/>
                      <a:pt x="103895" y="98643"/>
                    </a:cubicBezTo>
                    <a:cubicBezTo>
                      <a:pt x="105983" y="97208"/>
                      <a:pt x="106179" y="94272"/>
                      <a:pt x="104417" y="92478"/>
                    </a:cubicBezTo>
                    <a:cubicBezTo>
                      <a:pt x="104384" y="92348"/>
                      <a:pt x="104384" y="92315"/>
                      <a:pt x="104352" y="92315"/>
                    </a:cubicBezTo>
                    <a:cubicBezTo>
                      <a:pt x="103555" y="91537"/>
                      <a:pt x="102517" y="91128"/>
                      <a:pt x="101470" y="91128"/>
                    </a:cubicBezTo>
                    <a:cubicBezTo>
                      <a:pt x="100673" y="91128"/>
                      <a:pt x="99870" y="91365"/>
                      <a:pt x="99165" y="91859"/>
                    </a:cubicBezTo>
                    <a:cubicBezTo>
                      <a:pt x="91956" y="96849"/>
                      <a:pt x="83769" y="100111"/>
                      <a:pt x="74994" y="101416"/>
                    </a:cubicBezTo>
                    <a:cubicBezTo>
                      <a:pt x="72091" y="101808"/>
                      <a:pt x="69155" y="102069"/>
                      <a:pt x="66252" y="102069"/>
                    </a:cubicBezTo>
                    <a:cubicBezTo>
                      <a:pt x="50757" y="102069"/>
                      <a:pt x="36176" y="96066"/>
                      <a:pt x="25216" y="85171"/>
                    </a:cubicBezTo>
                    <a:cubicBezTo>
                      <a:pt x="14256" y="74309"/>
                      <a:pt x="8221" y="59826"/>
                      <a:pt x="8188" y="44462"/>
                    </a:cubicBezTo>
                    <a:cubicBezTo>
                      <a:pt x="8188" y="30664"/>
                      <a:pt x="13277" y="17126"/>
                      <a:pt x="22313" y="6721"/>
                    </a:cubicBezTo>
                    <a:cubicBezTo>
                      <a:pt x="23650" y="5188"/>
                      <a:pt x="23650" y="2904"/>
                      <a:pt x="22248" y="1404"/>
                    </a:cubicBezTo>
                    <a:lnTo>
                      <a:pt x="22215" y="1338"/>
                    </a:lnTo>
                    <a:cubicBezTo>
                      <a:pt x="21407" y="449"/>
                      <a:pt x="20302" y="1"/>
                      <a:pt x="191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560" bIns="435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255;p38"/>
              <p:cNvSpPr/>
              <p:nvPr/>
            </p:nvSpPr>
            <p:spPr>
              <a:xfrm>
                <a:off x="1505520" y="2837520"/>
                <a:ext cx="119160" cy="138960"/>
              </a:xfrm>
              <a:custGeom>
                <a:avLst/>
                <a:gdLst>
                  <a:gd name="textAreaLeft" fmla="*/ 0 w 119160"/>
                  <a:gd name="textAreaRight" fmla="*/ 119520 w 119160"/>
                  <a:gd name="textAreaTop" fmla="*/ 0 h 138960"/>
                  <a:gd name="textAreaBottom" fmla="*/ 139320 h 138960"/>
                </a:gdLst>
                <a:ahLst/>
                <a:cxnLst/>
                <a:rect l="textAreaLeft" t="textAreaTop" r="textAreaRight" b="textAreaBottom"/>
                <a:pathLst>
                  <a:path w="150412" h="175609">
                    <a:moveTo>
                      <a:pt x="63610" y="0"/>
                    </a:moveTo>
                    <a:cubicBezTo>
                      <a:pt x="61359" y="0"/>
                      <a:pt x="59532" y="1827"/>
                      <a:pt x="59532" y="4078"/>
                    </a:cubicBezTo>
                    <a:lnTo>
                      <a:pt x="59532" y="93228"/>
                    </a:lnTo>
                    <a:lnTo>
                      <a:pt x="59467" y="142060"/>
                    </a:lnTo>
                    <a:cubicBezTo>
                      <a:pt x="59467" y="153020"/>
                      <a:pt x="52421" y="162741"/>
                      <a:pt x="41950" y="166199"/>
                    </a:cubicBezTo>
                    <a:cubicBezTo>
                      <a:pt x="39320" y="167047"/>
                      <a:pt x="36616" y="167503"/>
                      <a:pt x="33881" y="167503"/>
                    </a:cubicBezTo>
                    <a:cubicBezTo>
                      <a:pt x="33462" y="167503"/>
                      <a:pt x="33042" y="167493"/>
                      <a:pt x="32621" y="167471"/>
                    </a:cubicBezTo>
                    <a:cubicBezTo>
                      <a:pt x="19181" y="166818"/>
                      <a:pt x="8515" y="155793"/>
                      <a:pt x="8319" y="142419"/>
                    </a:cubicBezTo>
                    <a:cubicBezTo>
                      <a:pt x="8221" y="135569"/>
                      <a:pt x="10798" y="129143"/>
                      <a:pt x="15593" y="124250"/>
                    </a:cubicBezTo>
                    <a:cubicBezTo>
                      <a:pt x="20454" y="119291"/>
                      <a:pt x="26978" y="116584"/>
                      <a:pt x="33926" y="116584"/>
                    </a:cubicBezTo>
                    <a:cubicBezTo>
                      <a:pt x="36633" y="116584"/>
                      <a:pt x="39373" y="117041"/>
                      <a:pt x="41983" y="117889"/>
                    </a:cubicBezTo>
                    <a:cubicBezTo>
                      <a:pt x="42399" y="118019"/>
                      <a:pt x="42825" y="118082"/>
                      <a:pt x="43246" y="118082"/>
                    </a:cubicBezTo>
                    <a:cubicBezTo>
                      <a:pt x="44409" y="118082"/>
                      <a:pt x="45540" y="117600"/>
                      <a:pt x="46354" y="116714"/>
                    </a:cubicBezTo>
                    <a:cubicBezTo>
                      <a:pt x="47006" y="115931"/>
                      <a:pt x="47332" y="114920"/>
                      <a:pt x="47332" y="113909"/>
                    </a:cubicBezTo>
                    <a:lnTo>
                      <a:pt x="47332" y="81028"/>
                    </a:lnTo>
                    <a:cubicBezTo>
                      <a:pt x="47332" y="79038"/>
                      <a:pt x="45865" y="77277"/>
                      <a:pt x="43875" y="76983"/>
                    </a:cubicBezTo>
                    <a:cubicBezTo>
                      <a:pt x="40547" y="76494"/>
                      <a:pt x="37220" y="76233"/>
                      <a:pt x="33926" y="76233"/>
                    </a:cubicBezTo>
                    <a:cubicBezTo>
                      <a:pt x="26651" y="76233"/>
                      <a:pt x="19638" y="77407"/>
                      <a:pt x="12984" y="79593"/>
                    </a:cubicBezTo>
                    <a:cubicBezTo>
                      <a:pt x="10831" y="80311"/>
                      <a:pt x="9820" y="82724"/>
                      <a:pt x="10831" y="84780"/>
                    </a:cubicBezTo>
                    <a:lnTo>
                      <a:pt x="10831" y="84812"/>
                    </a:lnTo>
                    <a:cubicBezTo>
                      <a:pt x="10961" y="85008"/>
                      <a:pt x="11092" y="85269"/>
                      <a:pt x="11157" y="85465"/>
                    </a:cubicBezTo>
                    <a:cubicBezTo>
                      <a:pt x="11790" y="86730"/>
                      <a:pt x="13091" y="87485"/>
                      <a:pt x="14435" y="87485"/>
                    </a:cubicBezTo>
                    <a:cubicBezTo>
                      <a:pt x="14823" y="87485"/>
                      <a:pt x="15214" y="87423"/>
                      <a:pt x="15593" y="87291"/>
                    </a:cubicBezTo>
                    <a:cubicBezTo>
                      <a:pt x="21400" y="85367"/>
                      <a:pt x="27565" y="84388"/>
                      <a:pt x="33860" y="84388"/>
                    </a:cubicBezTo>
                    <a:cubicBezTo>
                      <a:pt x="35622" y="84388"/>
                      <a:pt x="37383" y="84486"/>
                      <a:pt x="39145" y="84649"/>
                    </a:cubicBezTo>
                    <a:lnTo>
                      <a:pt x="39145" y="108853"/>
                    </a:lnTo>
                    <a:cubicBezTo>
                      <a:pt x="37383" y="108592"/>
                      <a:pt x="35622" y="108462"/>
                      <a:pt x="33860" y="108462"/>
                    </a:cubicBezTo>
                    <a:cubicBezTo>
                      <a:pt x="24727" y="108462"/>
                      <a:pt x="16180" y="112050"/>
                      <a:pt x="9787" y="118541"/>
                    </a:cubicBezTo>
                    <a:cubicBezTo>
                      <a:pt x="3426" y="124967"/>
                      <a:pt x="1" y="133481"/>
                      <a:pt x="99" y="142549"/>
                    </a:cubicBezTo>
                    <a:cubicBezTo>
                      <a:pt x="360" y="160197"/>
                      <a:pt x="14452" y="174712"/>
                      <a:pt x="32164" y="175561"/>
                    </a:cubicBezTo>
                    <a:cubicBezTo>
                      <a:pt x="32758" y="175593"/>
                      <a:pt x="33351" y="175609"/>
                      <a:pt x="33941" y="175609"/>
                    </a:cubicBezTo>
                    <a:cubicBezTo>
                      <a:pt x="37530" y="175609"/>
                      <a:pt x="41044" y="175018"/>
                      <a:pt x="44462" y="173897"/>
                    </a:cubicBezTo>
                    <a:cubicBezTo>
                      <a:pt x="58325" y="169330"/>
                      <a:pt x="67622" y="156543"/>
                      <a:pt x="67622" y="142027"/>
                    </a:cubicBezTo>
                    <a:lnTo>
                      <a:pt x="67687" y="93163"/>
                    </a:lnTo>
                    <a:lnTo>
                      <a:pt x="67687" y="8155"/>
                    </a:lnTo>
                    <a:lnTo>
                      <a:pt x="78321" y="8155"/>
                    </a:lnTo>
                    <a:cubicBezTo>
                      <a:pt x="81697" y="8133"/>
                      <a:pt x="85305" y="8095"/>
                      <a:pt x="88344" y="8095"/>
                    </a:cubicBezTo>
                    <a:cubicBezTo>
                      <a:pt x="89709" y="8095"/>
                      <a:pt x="90960" y="8103"/>
                      <a:pt x="92022" y="8123"/>
                    </a:cubicBezTo>
                    <a:cubicBezTo>
                      <a:pt x="93098" y="21073"/>
                      <a:pt x="98643" y="33110"/>
                      <a:pt x="107973" y="42374"/>
                    </a:cubicBezTo>
                    <a:cubicBezTo>
                      <a:pt x="117269" y="51573"/>
                      <a:pt x="129339" y="57053"/>
                      <a:pt x="142256" y="58031"/>
                    </a:cubicBezTo>
                    <a:cubicBezTo>
                      <a:pt x="142256" y="64131"/>
                      <a:pt x="142289" y="76005"/>
                      <a:pt x="142354" y="82333"/>
                    </a:cubicBezTo>
                    <a:cubicBezTo>
                      <a:pt x="133155" y="81876"/>
                      <a:pt x="124250" y="79821"/>
                      <a:pt x="115769" y="76233"/>
                    </a:cubicBezTo>
                    <a:cubicBezTo>
                      <a:pt x="109506" y="73624"/>
                      <a:pt x="103700" y="70198"/>
                      <a:pt x="98350" y="66088"/>
                    </a:cubicBezTo>
                    <a:cubicBezTo>
                      <a:pt x="97610" y="65524"/>
                      <a:pt x="96719" y="65238"/>
                      <a:pt x="95830" y="65238"/>
                    </a:cubicBezTo>
                    <a:cubicBezTo>
                      <a:pt x="95229" y="65238"/>
                      <a:pt x="94629" y="65369"/>
                      <a:pt x="94077" y="65632"/>
                    </a:cubicBezTo>
                    <a:cubicBezTo>
                      <a:pt x="92674" y="66284"/>
                      <a:pt x="91793" y="67752"/>
                      <a:pt x="91793" y="69318"/>
                    </a:cubicBezTo>
                    <a:lnTo>
                      <a:pt x="91956" y="142354"/>
                    </a:lnTo>
                    <a:cubicBezTo>
                      <a:pt x="91891" y="150443"/>
                      <a:pt x="90195" y="158272"/>
                      <a:pt x="86966" y="165514"/>
                    </a:cubicBezTo>
                    <a:cubicBezTo>
                      <a:pt x="86150" y="167308"/>
                      <a:pt x="86802" y="169428"/>
                      <a:pt x="88433" y="170472"/>
                    </a:cubicBezTo>
                    <a:cubicBezTo>
                      <a:pt x="88466" y="170472"/>
                      <a:pt x="88466" y="170505"/>
                      <a:pt x="88531" y="170505"/>
                    </a:cubicBezTo>
                    <a:cubicBezTo>
                      <a:pt x="89214" y="170960"/>
                      <a:pt x="89984" y="171174"/>
                      <a:pt x="90744" y="171174"/>
                    </a:cubicBezTo>
                    <a:cubicBezTo>
                      <a:pt x="92271" y="171174"/>
                      <a:pt x="93760" y="170311"/>
                      <a:pt x="94436" y="168808"/>
                    </a:cubicBezTo>
                    <a:cubicBezTo>
                      <a:pt x="98089" y="160555"/>
                      <a:pt x="100046" y="151650"/>
                      <a:pt x="100111" y="142354"/>
                    </a:cubicBezTo>
                    <a:lnTo>
                      <a:pt x="99850" y="77049"/>
                    </a:lnTo>
                    <a:lnTo>
                      <a:pt x="99850" y="77049"/>
                    </a:lnTo>
                    <a:cubicBezTo>
                      <a:pt x="103895" y="79593"/>
                      <a:pt x="108071" y="81844"/>
                      <a:pt x="112474" y="83670"/>
                    </a:cubicBezTo>
                    <a:cubicBezTo>
                      <a:pt x="123206" y="88205"/>
                      <a:pt x="134591" y="90521"/>
                      <a:pt x="146301" y="90521"/>
                    </a:cubicBezTo>
                    <a:cubicBezTo>
                      <a:pt x="147410" y="90521"/>
                      <a:pt x="148454" y="90097"/>
                      <a:pt x="149237" y="89346"/>
                    </a:cubicBezTo>
                    <a:cubicBezTo>
                      <a:pt x="149987" y="88563"/>
                      <a:pt x="150411" y="87552"/>
                      <a:pt x="150411" y="86443"/>
                    </a:cubicBezTo>
                    <a:lnTo>
                      <a:pt x="150379" y="70231"/>
                    </a:lnTo>
                    <a:lnTo>
                      <a:pt x="150313" y="54345"/>
                    </a:lnTo>
                    <a:cubicBezTo>
                      <a:pt x="150281" y="49974"/>
                      <a:pt x="146301" y="49942"/>
                      <a:pt x="146236" y="49942"/>
                    </a:cubicBezTo>
                    <a:cubicBezTo>
                      <a:pt x="120955" y="49942"/>
                      <a:pt x="100177" y="29358"/>
                      <a:pt x="99981" y="4045"/>
                    </a:cubicBezTo>
                    <a:cubicBezTo>
                      <a:pt x="99981" y="2121"/>
                      <a:pt x="98546" y="131"/>
                      <a:pt x="959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480" bIns="69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3" name="Google Shape;256;p38"/>
            <p:cNvSpPr/>
            <p:nvPr/>
          </p:nvSpPr>
          <p:spPr>
            <a:xfrm>
              <a:off x="1429560" y="2797200"/>
              <a:ext cx="245880" cy="245880"/>
            </a:xfrm>
            <a:custGeom>
              <a:avLst/>
              <a:gdLst>
                <a:gd name="textAreaLeft" fmla="*/ 0 w 245880"/>
                <a:gd name="textAreaRight" fmla="*/ 246240 w 245880"/>
                <a:gd name="textAreaTop" fmla="*/ 0 h 245880"/>
                <a:gd name="textAreaBottom" fmla="*/ 246240 h 24588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eep Gradient Layers - Business Basic Template by Slidesgo">
  <a:themeElements>
    <a:clrScheme name="Simple Light">
      <a:dk1>
        <a:srgbClr val="f3f3f3"/>
      </a:dk1>
      <a:lt1>
        <a:srgbClr val="f5d851"/>
      </a:lt1>
      <a:dk2>
        <a:srgbClr val="4eddcc"/>
      </a:dk2>
      <a:lt2>
        <a:srgbClr val="f4938c"/>
      </a:lt2>
      <a:accent1>
        <a:srgbClr val="3c7be0"/>
      </a:accent1>
      <a:accent2>
        <a:srgbClr val="0e0e0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3f3f3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2026-05-12T21:17:17Z</dcterms:created>
  <dc:creator>Unknown Creator</dc:creator>
  <dc:description/>
  <dc:language>en-US</dc:language>
  <cp:lastModifiedBy>Unknown Creator</cp:lastModifiedBy>
  <dcterms:modified xsi:type="dcterms:W3CDTF">2026-05-12T21:17:17Z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